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2.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2.png"/><Relationship Id="rId5" Type="http://schemas.openxmlformats.org/officeDocument/2006/relationships/image" Target="../media/image-7-5.png"/><Relationship Id="rId6" Type="http://schemas.openxmlformats.org/officeDocument/2006/relationships/image" Target="../media/image-7-2.png"/><Relationship Id="rId7" Type="http://schemas.openxmlformats.org/officeDocument/2006/relationships/image" Target="../media/image-7-7.png"/><Relationship Id="rId8" Type="http://schemas.openxmlformats.org/officeDocument/2006/relationships/image" Target="../media/image-7-2.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2.png"/><Relationship Id="rId5" Type="http://schemas.openxmlformats.org/officeDocument/2006/relationships/image" Target="../media/image-8-5.png"/><Relationship Id="rId6" Type="http://schemas.openxmlformats.org/officeDocument/2006/relationships/image" Target="../media/image-8-2.png"/><Relationship Id="rId7" Type="http://schemas.openxmlformats.org/officeDocument/2006/relationships/image" Target="../media/image-8-7.png"/><Relationship Id="rId8" Type="http://schemas.openxmlformats.org/officeDocument/2006/relationships/image" Target="../media/image-8-2.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1.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8897112" y="-1463040"/>
            <a:ext cx="4754880" cy="4754880"/>
          </a:xfrm>
          <a:prstGeom prst="ellipse">
            <a:avLst/>
          </a:prstGeom>
          <a:solidFill>
            <a:srgbClr val="162940"/>
          </a:solidFill>
          <a:ln/>
        </p:spPr>
      </p:sp>
      <p:sp>
        <p:nvSpPr>
          <p:cNvPr id="3" name="Shape 1"/>
          <p:cNvSpPr/>
          <p:nvPr/>
        </p:nvSpPr>
        <p:spPr>
          <a:xfrm>
            <a:off x="10360152" y="4480560"/>
            <a:ext cx="3108960" cy="3108960"/>
          </a:xfrm>
          <a:prstGeom prst="ellipse">
            <a:avLst/>
          </a:prstGeom>
          <a:solidFill>
            <a:srgbClr val="284868"/>
          </a:solidFill>
          <a:ln/>
        </p:spPr>
      </p:sp>
      <p:sp>
        <p:nvSpPr>
          <p:cNvPr id="4" name="Text 2"/>
          <p:cNvSpPr/>
          <p:nvPr/>
        </p:nvSpPr>
        <p:spPr>
          <a:xfrm>
            <a:off x="548640" y="1417320"/>
            <a:ext cx="7315200" cy="365760"/>
          </a:xfrm>
          <a:prstGeom prst="rect">
            <a:avLst/>
          </a:prstGeom>
          <a:noFill/>
          <a:ln/>
        </p:spPr>
        <p:txBody>
          <a:bodyPr wrap="square" lIns="0" tIns="0" rIns="0" bIns="0" rtlCol="0" anchor="ctr"/>
          <a:lstStyle/>
          <a:p>
            <a:pPr indent="0" marL="0">
              <a:buNone/>
            </a:pPr>
            <a:r>
              <a:rPr lang="en-US" sz="1400" b="1" spc="300" kern="0" dirty="0">
                <a:solidFill>
                  <a:srgbClr val="8FB3D6"/>
                </a:solidFill>
                <a:latin typeface="Calibri" pitchFamily="34" charset="0"/>
                <a:ea typeface="Calibri" pitchFamily="34" charset="-122"/>
                <a:cs typeface="Calibri" pitchFamily="34" charset="-120"/>
              </a:rPr>
              <a:t>ĐỒ ÁN TỐT NGHIỆP</a:t>
            </a:r>
            <a:endParaRPr lang="en-US" sz="1400" dirty="0"/>
          </a:p>
        </p:txBody>
      </p:sp>
      <p:sp>
        <p:nvSpPr>
          <p:cNvPr id="5" name="Text 3"/>
          <p:cNvSpPr/>
          <p:nvPr/>
        </p:nvSpPr>
        <p:spPr>
          <a:xfrm>
            <a:off x="548640" y="1828800"/>
            <a:ext cx="8686800" cy="118872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InsightAI</a:t>
            </a:r>
            <a:endParaRPr lang="en-US" sz="6400" dirty="0"/>
          </a:p>
        </p:txBody>
      </p:sp>
      <p:sp>
        <p:nvSpPr>
          <p:cNvPr id="6" name="Text 4"/>
          <p:cNvSpPr/>
          <p:nvPr/>
        </p:nvSpPr>
        <p:spPr>
          <a:xfrm>
            <a:off x="548640" y="2971800"/>
            <a:ext cx="8778240" cy="914400"/>
          </a:xfrm>
          <a:prstGeom prst="rect">
            <a:avLst/>
          </a:prstGeom>
          <a:noFill/>
          <a:ln/>
        </p:spPr>
        <p:txBody>
          <a:bodyPr wrap="square" lIns="0" tIns="0" rIns="0" bIns="0" rtlCol="0" anchor="ctr"/>
          <a:lstStyle/>
          <a:p>
            <a:pPr indent="0" marL="0">
              <a:lnSpc>
                <a:spcPct val="120000"/>
              </a:lnSpc>
              <a:buNone/>
            </a:pPr>
            <a:r>
              <a:rPr lang="en-US" sz="1900" dirty="0">
                <a:solidFill>
                  <a:srgbClr val="D7E4EE"/>
                </a:solidFill>
                <a:latin typeface="Calibri" pitchFamily="34" charset="0"/>
                <a:ea typeface="Calibri" pitchFamily="34" charset="-122"/>
                <a:cs typeface="Calibri" pitchFamily="34" charset="-120"/>
              </a:rPr>
              <a:t>Hệ thống Chatbot RAG lai (Hybrid RAG)</a:t>
            </a:r>
            <a:endParaRPr lang="en-US" sz="1900" dirty="0"/>
          </a:p>
          <a:p>
            <a:pPr indent="0" marL="0">
              <a:lnSpc>
                <a:spcPct val="120000"/>
              </a:lnSpc>
              <a:buNone/>
            </a:pPr>
            <a:r>
              <a:rPr lang="en-US" sz="1900" dirty="0">
                <a:solidFill>
                  <a:srgbClr val="D7E4EE"/>
                </a:solidFill>
                <a:latin typeface="Calibri" pitchFamily="34" charset="0"/>
                <a:ea typeface="Calibri" pitchFamily="34" charset="-122"/>
                <a:cs typeface="Calibri" pitchFamily="34" charset="-120"/>
              </a:rPr>
              <a:t>cho phân tích tài liệu chuyên sâu</a:t>
            </a:r>
            <a:endParaRPr lang="en-US" sz="1900" dirty="0"/>
          </a:p>
        </p:txBody>
      </p:sp>
      <p:sp>
        <p:nvSpPr>
          <p:cNvPr id="7" name="Shape 5"/>
          <p:cNvSpPr/>
          <p:nvPr/>
        </p:nvSpPr>
        <p:spPr>
          <a:xfrm>
            <a:off x="548640" y="4160520"/>
            <a:ext cx="2011680" cy="0"/>
          </a:xfrm>
          <a:prstGeom prst="line">
            <a:avLst/>
          </a:prstGeom>
          <a:noFill/>
          <a:ln w="19050">
            <a:solidFill>
              <a:srgbClr val="4A6E90"/>
            </a:solidFill>
            <a:prstDash val="solid"/>
          </a:ln>
        </p:spPr>
      </p:sp>
      <p:sp>
        <p:nvSpPr>
          <p:cNvPr id="8" name="Text 6"/>
          <p:cNvSpPr/>
          <p:nvPr/>
        </p:nvSpPr>
        <p:spPr>
          <a:xfrm>
            <a:off x="548640" y="4434840"/>
            <a:ext cx="7315200" cy="822960"/>
          </a:xfrm>
          <a:prstGeom prst="rect">
            <a:avLst/>
          </a:prstGeom>
          <a:noFill/>
          <a:ln/>
        </p:spPr>
        <p:txBody>
          <a:bodyPr wrap="square" lIns="0" tIns="0" rIns="0" bIns="0" rtlCol="0" anchor="ctr"/>
          <a:lstStyle/>
          <a:p>
            <a:pPr indent="0" marL="0">
              <a:lnSpc>
                <a:spcPct val="130000"/>
              </a:lnSpc>
              <a:buNone/>
            </a:pPr>
            <a:r>
              <a:rPr lang="en-US" sz="1500" b="1" dirty="0">
                <a:solidFill>
                  <a:srgbClr val="FFFFFF"/>
                </a:solidFill>
                <a:latin typeface="Calibri" pitchFamily="34" charset="0"/>
                <a:ea typeface="Calibri" pitchFamily="34" charset="-122"/>
                <a:cs typeface="Calibri" pitchFamily="34" charset="-120"/>
              </a:rPr>
              <a:t>Trần Chí Vũ</a:t>
            </a:r>
            <a:endParaRPr lang="en-US" sz="1500" dirty="0"/>
          </a:p>
          <a:p>
            <a:pPr indent="0" marL="0">
              <a:lnSpc>
                <a:spcPct val="130000"/>
              </a:lnSpc>
              <a:buNone/>
            </a:pPr>
            <a:r>
              <a:rPr lang="en-US" sz="1500" dirty="0">
                <a:solidFill>
                  <a:srgbClr val="B9CCDD"/>
                </a:solidFill>
                <a:latin typeface="Calibri" pitchFamily="34" charset="0"/>
                <a:ea typeface="Calibri" pitchFamily="34" charset="-122"/>
                <a:cs typeface="Calibri" pitchFamily="34" charset="-120"/>
              </a:rPr>
              <a:t>MSSV: 20236060   ·   CNTT Việt–Pháp K68</a:t>
            </a:r>
            <a:endParaRPr lang="en-US" sz="1500" dirty="0"/>
          </a:p>
        </p:txBody>
      </p:sp>
      <p:sp>
        <p:nvSpPr>
          <p:cNvPr id="9" name="Text 7"/>
          <p:cNvSpPr/>
          <p:nvPr/>
        </p:nvSpPr>
        <p:spPr>
          <a:xfrm>
            <a:off x="548640" y="5349240"/>
            <a:ext cx="7315200" cy="731520"/>
          </a:xfrm>
          <a:prstGeom prst="rect">
            <a:avLst/>
          </a:prstGeom>
          <a:noFill/>
          <a:ln/>
        </p:spPr>
        <p:txBody>
          <a:bodyPr wrap="square" lIns="0" tIns="0" rIns="0" bIns="0" rtlCol="0" anchor="ctr"/>
          <a:lstStyle/>
          <a:p>
            <a:pPr indent="0" marL="0">
              <a:lnSpc>
                <a:spcPct val="130000"/>
              </a:lnSpc>
              <a:buNone/>
            </a:pPr>
            <a:r>
              <a:rPr lang="en-US" sz="1300" dirty="0">
                <a:solidFill>
                  <a:srgbClr val="9FB7CC"/>
                </a:solidFill>
                <a:latin typeface="Calibri" pitchFamily="34" charset="0"/>
                <a:ea typeface="Calibri" pitchFamily="34" charset="-122"/>
                <a:cs typeface="Calibri" pitchFamily="34" charset="-120"/>
              </a:rPr>
              <a:t>Giảng viên hướng dẫn: ........................................</a:t>
            </a:r>
            <a:endParaRPr lang="en-US" sz="1300" dirty="0"/>
          </a:p>
          <a:p>
            <a:pPr indent="0" marL="0">
              <a:lnSpc>
                <a:spcPct val="130000"/>
              </a:lnSpc>
              <a:buNone/>
            </a:pPr>
            <a:r>
              <a:rPr lang="en-US" sz="1300" dirty="0">
                <a:solidFill>
                  <a:srgbClr val="9FB7CC"/>
                </a:solidFill>
                <a:latin typeface="Calibri" pitchFamily="34" charset="0"/>
                <a:ea typeface="Calibri" pitchFamily="34" charset="-122"/>
                <a:cs typeface="Calibri" pitchFamily="34" charset="-120"/>
              </a:rPr>
              <a:t>Trường Đại học Bách khoa Hà Nội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2E6F95"/>
                </a:solidFill>
                <a:latin typeface="Calibri" pitchFamily="34" charset="0"/>
                <a:ea typeface="Calibri" pitchFamily="34" charset="-122"/>
                <a:cs typeface="Calibri" pitchFamily="34" charset="-120"/>
              </a:rPr>
              <a:t>01 — VẤN ĐỀ</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Giới hạn của các mô hình LLM hiện nay</a:t>
            </a:r>
            <a:endParaRPr lang="en-US" sz="3200" dirty="0"/>
          </a:p>
        </p:txBody>
      </p:sp>
      <p:sp>
        <p:nvSpPr>
          <p:cNvPr id="4" name="Text 2"/>
          <p:cNvSpPr/>
          <p:nvPr/>
        </p:nvSpPr>
        <p:spPr>
          <a:xfrm>
            <a:off x="548640" y="1371600"/>
            <a:ext cx="10515600" cy="365760"/>
          </a:xfrm>
          <a:prstGeom prst="rect">
            <a:avLst/>
          </a:prstGeom>
          <a:noFill/>
          <a:ln/>
        </p:spPr>
        <p:txBody>
          <a:bodyPr wrap="square" lIns="0" tIns="0" rIns="0" bIns="0" rtlCol="0" anchor="ctr"/>
          <a:lstStyle/>
          <a:p>
            <a:pPr indent="0" marL="0">
              <a:buNone/>
            </a:pPr>
            <a:r>
              <a:rPr lang="en-US" sz="1400" dirty="0">
                <a:solidFill>
                  <a:srgbClr val="5B6B7C"/>
                </a:solidFill>
                <a:latin typeface="Calibri" pitchFamily="34" charset="0"/>
                <a:ea typeface="Calibri" pitchFamily="34" charset="-122"/>
                <a:cs typeface="Calibri" pitchFamily="34" charset="-120"/>
              </a:rPr>
              <a:t>Dù mạnh mẽ, LLM thuần (ChatGPT, Gemini...) gặp 3 hạn chế lớn khi cần độ tin cậy cao</a:t>
            </a:r>
            <a:endParaRPr lang="en-US" sz="1400" dirty="0"/>
          </a:p>
        </p:txBody>
      </p:sp>
      <p:sp>
        <p:nvSpPr>
          <p:cNvPr id="5" name="Shape 3"/>
          <p:cNvSpPr/>
          <p:nvPr/>
        </p:nvSpPr>
        <p:spPr>
          <a:xfrm>
            <a:off x="548640" y="2057400"/>
            <a:ext cx="3337560" cy="3794760"/>
          </a:xfrm>
          <a:prstGeom prst="roundRect">
            <a:avLst>
              <a:gd name="adj" fmla="val 2192"/>
            </a:avLst>
          </a:prstGeom>
          <a:solidFill>
            <a:srgbClr val="EAF0F5"/>
          </a:solidFill>
          <a:ln/>
          <a:effectLst>
            <a:outerShdw sx="100000" sy="100000" kx="0" ky="0" algn="bl" rotWithShape="0" blurRad="88900" dist="25400" dir="5400000">
              <a:srgbClr val="1F3A5F">
                <a:alpha val="10000"/>
              </a:srgbClr>
            </a:outerShdw>
          </a:effectLst>
        </p:spPr>
      </p:sp>
      <p:sp>
        <p:nvSpPr>
          <p:cNvPr id="6" name="Shape 4"/>
          <p:cNvSpPr/>
          <p:nvPr/>
        </p:nvSpPr>
        <p:spPr>
          <a:xfrm>
            <a:off x="914400" y="2423160"/>
            <a:ext cx="777240" cy="777240"/>
          </a:xfrm>
          <a:prstGeom prst="ellipse">
            <a:avLst/>
          </a:prstGeom>
          <a:solidFill>
            <a:srgbClr val="FFFFFF"/>
          </a:solidFill>
          <a:ln/>
        </p:spPr>
      </p:sp>
      <p:pic>
        <p:nvPicPr>
          <p:cNvPr id="7" name="Image 0" descr="/home/claude/insightai/assets/brain_primary.png">    </p:cNvPr>
          <p:cNvPicPr>
            <a:picLocks noChangeAspect="1"/>
          </p:cNvPicPr>
          <p:nvPr/>
        </p:nvPicPr>
        <p:blipFill>
          <a:blip r:embed="rId1"/>
          <a:stretch>
            <a:fillRect/>
          </a:stretch>
        </p:blipFill>
        <p:spPr>
          <a:xfrm>
            <a:off x="1038758" y="2547518"/>
            <a:ext cx="528523" cy="528523"/>
          </a:xfrm>
          <a:prstGeom prst="rect">
            <a:avLst/>
          </a:prstGeom>
        </p:spPr>
      </p:pic>
      <p:sp>
        <p:nvSpPr>
          <p:cNvPr id="8" name="Text 5"/>
          <p:cNvSpPr/>
          <p:nvPr/>
        </p:nvSpPr>
        <p:spPr>
          <a:xfrm>
            <a:off x="914400" y="3429000"/>
            <a:ext cx="2606040" cy="457200"/>
          </a:xfrm>
          <a:prstGeom prst="rect">
            <a:avLst/>
          </a:prstGeom>
          <a:noFill/>
          <a:ln/>
        </p:spPr>
        <p:txBody>
          <a:bodyPr wrap="square" lIns="0" tIns="0" rIns="0" bIns="0" rtlCol="0" anchor="ctr"/>
          <a:lstStyle/>
          <a:p>
            <a:pPr indent="0" marL="0">
              <a:buNone/>
            </a:pPr>
            <a:r>
              <a:rPr lang="en-US" sz="1800" b="1" dirty="0">
                <a:solidFill>
                  <a:srgbClr val="1F3A5F"/>
                </a:solidFill>
                <a:latin typeface="Cambria" pitchFamily="34" charset="0"/>
                <a:ea typeface="Cambria" pitchFamily="34" charset="-122"/>
                <a:cs typeface="Cambria" pitchFamily="34" charset="-120"/>
              </a:rPr>
              <a:t>Hallucination</a:t>
            </a:r>
            <a:endParaRPr lang="en-US" sz="1800" dirty="0"/>
          </a:p>
        </p:txBody>
      </p:sp>
      <p:sp>
        <p:nvSpPr>
          <p:cNvPr id="9" name="Text 6"/>
          <p:cNvSpPr/>
          <p:nvPr/>
        </p:nvSpPr>
        <p:spPr>
          <a:xfrm>
            <a:off x="914400" y="3931920"/>
            <a:ext cx="2606040" cy="1691640"/>
          </a:xfrm>
          <a:prstGeom prst="rect">
            <a:avLst/>
          </a:prstGeom>
          <a:noFill/>
          <a:ln/>
        </p:spPr>
        <p:txBody>
          <a:bodyPr wrap="square" lIns="0" tIns="0" rIns="0" bIns="0" rtlCol="0" anchor="ctr"/>
          <a:lstStyle/>
          <a:p>
            <a:pPr indent="0" marL="0">
              <a:lnSpc>
                <a:spcPct val="125000"/>
              </a:lnSpc>
              <a:buNone/>
            </a:pPr>
            <a:r>
              <a:rPr lang="en-US" sz="1300" dirty="0">
                <a:solidFill>
                  <a:srgbClr val="1C2530"/>
                </a:solidFill>
                <a:latin typeface="Calibri" pitchFamily="34" charset="0"/>
                <a:ea typeface="Calibri" pitchFamily="34" charset="-122"/>
                <a:cs typeface="Calibri" pitchFamily="34" charset="-120"/>
              </a:rPr>
              <a:t>Mô hình "bịa" thông tin nghe có vẻ hợp lý nhưng sai sự thật, không kiểm chứng được nguồn.</a:t>
            </a:r>
            <a:endParaRPr lang="en-US" sz="1300" dirty="0"/>
          </a:p>
        </p:txBody>
      </p:sp>
      <p:sp>
        <p:nvSpPr>
          <p:cNvPr id="10" name="Shape 7"/>
          <p:cNvSpPr/>
          <p:nvPr/>
        </p:nvSpPr>
        <p:spPr>
          <a:xfrm>
            <a:off x="4206240" y="2057400"/>
            <a:ext cx="3337560" cy="3794760"/>
          </a:xfrm>
          <a:prstGeom prst="roundRect">
            <a:avLst>
              <a:gd name="adj" fmla="val 2192"/>
            </a:avLst>
          </a:prstGeom>
          <a:solidFill>
            <a:srgbClr val="EAF0F5"/>
          </a:solidFill>
          <a:ln/>
          <a:effectLst>
            <a:outerShdw sx="100000" sy="100000" kx="0" ky="0" algn="bl" rotWithShape="0" blurRad="88900" dist="25400" dir="5400000">
              <a:srgbClr val="1F3A5F">
                <a:alpha val="10000"/>
              </a:srgbClr>
            </a:outerShdw>
          </a:effectLst>
        </p:spPr>
      </p:sp>
      <p:sp>
        <p:nvSpPr>
          <p:cNvPr id="11" name="Shape 8"/>
          <p:cNvSpPr/>
          <p:nvPr/>
        </p:nvSpPr>
        <p:spPr>
          <a:xfrm>
            <a:off x="4572000" y="2423160"/>
            <a:ext cx="777240" cy="777240"/>
          </a:xfrm>
          <a:prstGeom prst="ellipse">
            <a:avLst/>
          </a:prstGeom>
          <a:solidFill>
            <a:srgbClr val="FFFFFF"/>
          </a:solidFill>
          <a:ln/>
        </p:spPr>
      </p:sp>
      <p:pic>
        <p:nvPicPr>
          <p:cNvPr id="12" name="Image 1" descr="/home/claude/insightai/assets/snowflake_primary.png">    </p:cNvPr>
          <p:cNvPicPr>
            <a:picLocks noChangeAspect="1"/>
          </p:cNvPicPr>
          <p:nvPr/>
        </p:nvPicPr>
        <p:blipFill>
          <a:blip r:embed="rId2"/>
          <a:stretch>
            <a:fillRect/>
          </a:stretch>
        </p:blipFill>
        <p:spPr>
          <a:xfrm>
            <a:off x="4696358" y="2547518"/>
            <a:ext cx="528523" cy="528523"/>
          </a:xfrm>
          <a:prstGeom prst="rect">
            <a:avLst/>
          </a:prstGeom>
        </p:spPr>
      </p:pic>
      <p:sp>
        <p:nvSpPr>
          <p:cNvPr id="13" name="Text 9"/>
          <p:cNvSpPr/>
          <p:nvPr/>
        </p:nvSpPr>
        <p:spPr>
          <a:xfrm>
            <a:off x="4572000" y="3429000"/>
            <a:ext cx="2606040" cy="457200"/>
          </a:xfrm>
          <a:prstGeom prst="rect">
            <a:avLst/>
          </a:prstGeom>
          <a:noFill/>
          <a:ln/>
        </p:spPr>
        <p:txBody>
          <a:bodyPr wrap="square" lIns="0" tIns="0" rIns="0" bIns="0" rtlCol="0" anchor="ctr"/>
          <a:lstStyle/>
          <a:p>
            <a:pPr indent="0" marL="0">
              <a:buNone/>
            </a:pPr>
            <a:r>
              <a:rPr lang="en-US" sz="1800" b="1" dirty="0">
                <a:solidFill>
                  <a:srgbClr val="1F3A5F"/>
                </a:solidFill>
                <a:latin typeface="Cambria" pitchFamily="34" charset="0"/>
                <a:ea typeface="Cambria" pitchFamily="34" charset="-122"/>
                <a:cs typeface="Cambria" pitchFamily="34" charset="-120"/>
              </a:rPr>
              <a:t>Kiến thức đóng băng</a:t>
            </a:r>
            <a:endParaRPr lang="en-US" sz="1800" dirty="0"/>
          </a:p>
        </p:txBody>
      </p:sp>
      <p:sp>
        <p:nvSpPr>
          <p:cNvPr id="14" name="Text 10"/>
          <p:cNvSpPr/>
          <p:nvPr/>
        </p:nvSpPr>
        <p:spPr>
          <a:xfrm>
            <a:off x="4572000" y="3931920"/>
            <a:ext cx="2606040" cy="1691640"/>
          </a:xfrm>
          <a:prstGeom prst="rect">
            <a:avLst/>
          </a:prstGeom>
          <a:noFill/>
          <a:ln/>
        </p:spPr>
        <p:txBody>
          <a:bodyPr wrap="square" lIns="0" tIns="0" rIns="0" bIns="0" rtlCol="0" anchor="ctr"/>
          <a:lstStyle/>
          <a:p>
            <a:pPr indent="0" marL="0">
              <a:lnSpc>
                <a:spcPct val="125000"/>
              </a:lnSpc>
              <a:buNone/>
            </a:pPr>
            <a:r>
              <a:rPr lang="en-US" sz="1300" dirty="0">
                <a:solidFill>
                  <a:srgbClr val="1C2530"/>
                </a:solidFill>
                <a:latin typeface="Calibri" pitchFamily="34" charset="0"/>
                <a:ea typeface="Calibri" pitchFamily="34" charset="-122"/>
                <a:cs typeface="Calibri" pitchFamily="34" charset="-120"/>
              </a:rPr>
              <a:t>Chỉ biết những gì học lúc huấn luyện — không có dữ liệu, tài liệu riêng của người dùng.</a:t>
            </a:r>
            <a:endParaRPr lang="en-US" sz="1300" dirty="0"/>
          </a:p>
        </p:txBody>
      </p:sp>
      <p:sp>
        <p:nvSpPr>
          <p:cNvPr id="15" name="Shape 11"/>
          <p:cNvSpPr/>
          <p:nvPr/>
        </p:nvSpPr>
        <p:spPr>
          <a:xfrm>
            <a:off x="7863840" y="2057400"/>
            <a:ext cx="3337560" cy="3794760"/>
          </a:xfrm>
          <a:prstGeom prst="roundRect">
            <a:avLst>
              <a:gd name="adj" fmla="val 2192"/>
            </a:avLst>
          </a:prstGeom>
          <a:solidFill>
            <a:srgbClr val="EAF0F5"/>
          </a:solidFill>
          <a:ln/>
          <a:effectLst>
            <a:outerShdw sx="100000" sy="100000" kx="0" ky="0" algn="bl" rotWithShape="0" blurRad="88900" dist="25400" dir="5400000">
              <a:srgbClr val="1F3A5F">
                <a:alpha val="10000"/>
              </a:srgbClr>
            </a:outerShdw>
          </a:effectLst>
        </p:spPr>
      </p:sp>
      <p:sp>
        <p:nvSpPr>
          <p:cNvPr id="16" name="Shape 12"/>
          <p:cNvSpPr/>
          <p:nvPr/>
        </p:nvSpPr>
        <p:spPr>
          <a:xfrm>
            <a:off x="8229600" y="2423160"/>
            <a:ext cx="777240" cy="777240"/>
          </a:xfrm>
          <a:prstGeom prst="ellipse">
            <a:avLst/>
          </a:prstGeom>
          <a:solidFill>
            <a:srgbClr val="FFFFFF"/>
          </a:solidFill>
          <a:ln/>
        </p:spPr>
      </p:sp>
      <p:pic>
        <p:nvPicPr>
          <p:cNvPr id="17" name="Image 2" descr="/home/claude/insightai/assets/window_primary.png">    </p:cNvPr>
          <p:cNvPicPr>
            <a:picLocks noChangeAspect="1"/>
          </p:cNvPicPr>
          <p:nvPr/>
        </p:nvPicPr>
        <p:blipFill>
          <a:blip r:embed="rId3"/>
          <a:stretch>
            <a:fillRect/>
          </a:stretch>
        </p:blipFill>
        <p:spPr>
          <a:xfrm>
            <a:off x="8353958" y="2547518"/>
            <a:ext cx="528523" cy="528523"/>
          </a:xfrm>
          <a:prstGeom prst="rect">
            <a:avLst/>
          </a:prstGeom>
        </p:spPr>
      </p:pic>
      <p:sp>
        <p:nvSpPr>
          <p:cNvPr id="18" name="Text 13"/>
          <p:cNvSpPr/>
          <p:nvPr/>
        </p:nvSpPr>
        <p:spPr>
          <a:xfrm>
            <a:off x="8229600" y="3429000"/>
            <a:ext cx="2606040" cy="457200"/>
          </a:xfrm>
          <a:prstGeom prst="rect">
            <a:avLst/>
          </a:prstGeom>
          <a:noFill/>
          <a:ln/>
        </p:spPr>
        <p:txBody>
          <a:bodyPr wrap="square" lIns="0" tIns="0" rIns="0" bIns="0" rtlCol="0" anchor="ctr"/>
          <a:lstStyle/>
          <a:p>
            <a:pPr indent="0" marL="0">
              <a:buNone/>
            </a:pPr>
            <a:r>
              <a:rPr lang="en-US" sz="1800" b="1" dirty="0">
                <a:solidFill>
                  <a:srgbClr val="1F3A5F"/>
                </a:solidFill>
                <a:latin typeface="Cambria" pitchFamily="34" charset="0"/>
                <a:ea typeface="Cambria" pitchFamily="34" charset="-122"/>
                <a:cs typeface="Cambria" pitchFamily="34" charset="-120"/>
              </a:rPr>
              <a:t>Giới hạn context window</a:t>
            </a:r>
            <a:endParaRPr lang="en-US" sz="1800" dirty="0"/>
          </a:p>
        </p:txBody>
      </p:sp>
      <p:sp>
        <p:nvSpPr>
          <p:cNvPr id="19" name="Text 14"/>
          <p:cNvSpPr/>
          <p:nvPr/>
        </p:nvSpPr>
        <p:spPr>
          <a:xfrm>
            <a:off x="8229600" y="3931920"/>
            <a:ext cx="2606040" cy="1691640"/>
          </a:xfrm>
          <a:prstGeom prst="rect">
            <a:avLst/>
          </a:prstGeom>
          <a:noFill/>
          <a:ln/>
        </p:spPr>
        <p:txBody>
          <a:bodyPr wrap="square" lIns="0" tIns="0" rIns="0" bIns="0" rtlCol="0" anchor="ctr"/>
          <a:lstStyle/>
          <a:p>
            <a:pPr indent="0" marL="0">
              <a:lnSpc>
                <a:spcPct val="125000"/>
              </a:lnSpc>
              <a:buNone/>
            </a:pPr>
            <a:r>
              <a:rPr lang="en-US" sz="1300" dirty="0">
                <a:solidFill>
                  <a:srgbClr val="1C2530"/>
                </a:solidFill>
                <a:latin typeface="Calibri" pitchFamily="34" charset="0"/>
                <a:ea typeface="Calibri" pitchFamily="34" charset="-122"/>
                <a:cs typeface="Calibri" pitchFamily="34" charset="-120"/>
              </a:rPr>
              <a:t>Không thể nhồi toàn bộ tài liệu dài (hàng trăm trang) vào một lần hỏi đáp.</a:t>
            </a:r>
            <a:endParaRPr lang="en-US" sz="1300" dirty="0"/>
          </a:p>
        </p:txBody>
      </p:sp>
      <p:sp>
        <p:nvSpPr>
          <p:cNvPr id="20" name="Text 15"/>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02</a:t>
            </a:r>
            <a:endParaRPr lang="en-US" sz="1000" dirty="0"/>
          </a:p>
        </p:txBody>
      </p:sp>
      <p:sp>
        <p:nvSpPr>
          <p:cNvPr id="21" name="Text 16"/>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InsightAI</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2E6F95"/>
                </a:solidFill>
                <a:latin typeface="Calibri" pitchFamily="34" charset="0"/>
                <a:ea typeface="Calibri" pitchFamily="34" charset="-122"/>
                <a:cs typeface="Calibri" pitchFamily="34" charset="-120"/>
              </a:rPr>
              <a:t>02 — GIẢI PHÁP</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RAG: nền tảng giải quyết các hạn chế trên</a:t>
            </a:r>
            <a:endParaRPr lang="en-US" sz="3200" dirty="0"/>
          </a:p>
        </p:txBody>
      </p:sp>
      <p:sp>
        <p:nvSpPr>
          <p:cNvPr id="4" name="Shape 2"/>
          <p:cNvSpPr/>
          <p:nvPr/>
        </p:nvSpPr>
        <p:spPr>
          <a:xfrm>
            <a:off x="548640" y="1554480"/>
            <a:ext cx="5212080" cy="4206240"/>
          </a:xfrm>
          <a:prstGeom prst="roundRect">
            <a:avLst>
              <a:gd name="adj" fmla="val 1739"/>
            </a:avLst>
          </a:prstGeom>
          <a:solidFill>
            <a:srgbClr val="EAF0F5"/>
          </a:solidFill>
          <a:ln/>
          <a:effectLst>
            <a:outerShdw sx="100000" sy="100000" kx="0" ky="0" algn="bl" rotWithShape="0" blurRad="88900" dist="25400" dir="5400000">
              <a:srgbClr val="1F3A5F">
                <a:alpha val="10000"/>
              </a:srgbClr>
            </a:outerShdw>
          </a:effectLst>
        </p:spPr>
      </p:sp>
      <p:sp>
        <p:nvSpPr>
          <p:cNvPr id="5" name="Shape 3"/>
          <p:cNvSpPr/>
          <p:nvPr/>
        </p:nvSpPr>
        <p:spPr>
          <a:xfrm>
            <a:off x="914400" y="1920240"/>
            <a:ext cx="640080" cy="640080"/>
          </a:xfrm>
          <a:prstGeom prst="ellipse">
            <a:avLst/>
          </a:prstGeom>
          <a:solidFill>
            <a:srgbClr val="FFFFFF"/>
          </a:solidFill>
          <a:ln/>
        </p:spPr>
      </p:sp>
      <p:pic>
        <p:nvPicPr>
          <p:cNvPr id="6" name="Image 0" descr="/home/claude/insightai/assets/book_primary.png">    </p:cNvPr>
          <p:cNvPicPr>
            <a:picLocks noChangeAspect="1"/>
          </p:cNvPicPr>
          <p:nvPr/>
        </p:nvPicPr>
        <p:blipFill>
          <a:blip r:embed="rId1"/>
          <a:stretch>
            <a:fillRect/>
          </a:stretch>
        </p:blipFill>
        <p:spPr>
          <a:xfrm>
            <a:off x="1016813" y="2022653"/>
            <a:ext cx="435254" cy="435254"/>
          </a:xfrm>
          <a:prstGeom prst="rect">
            <a:avLst/>
          </a:prstGeom>
        </p:spPr>
      </p:pic>
      <p:sp>
        <p:nvSpPr>
          <p:cNvPr id="7" name="Text 4"/>
          <p:cNvSpPr/>
          <p:nvPr/>
        </p:nvSpPr>
        <p:spPr>
          <a:xfrm>
            <a:off x="1737360" y="1965960"/>
            <a:ext cx="3749040" cy="502920"/>
          </a:xfrm>
          <a:prstGeom prst="rect">
            <a:avLst/>
          </a:prstGeom>
          <a:noFill/>
          <a:ln/>
        </p:spPr>
        <p:txBody>
          <a:bodyPr wrap="square" lIns="0" tIns="0" rIns="0" bIns="0" rtlCol="0" anchor="ctr"/>
          <a:lstStyle/>
          <a:p>
            <a:pPr indent="0" marL="0">
              <a:buNone/>
            </a:pPr>
            <a:r>
              <a:rPr lang="en-US" sz="1900" b="1" dirty="0">
                <a:solidFill>
                  <a:srgbClr val="1F3A5F"/>
                </a:solidFill>
                <a:latin typeface="Cambria" pitchFamily="34" charset="0"/>
                <a:ea typeface="Cambria" pitchFamily="34" charset="-122"/>
                <a:cs typeface="Cambria" pitchFamily="34" charset="-120"/>
              </a:rPr>
              <a:t>RAG là gì?</a:t>
            </a:r>
            <a:endParaRPr lang="en-US" sz="1900" dirty="0"/>
          </a:p>
        </p:txBody>
      </p:sp>
      <p:sp>
        <p:nvSpPr>
          <p:cNvPr id="8" name="Text 5"/>
          <p:cNvSpPr/>
          <p:nvPr/>
        </p:nvSpPr>
        <p:spPr>
          <a:xfrm>
            <a:off x="914400" y="2743200"/>
            <a:ext cx="4480560" cy="1371600"/>
          </a:xfrm>
          <a:prstGeom prst="rect">
            <a:avLst/>
          </a:prstGeom>
          <a:noFill/>
          <a:ln/>
        </p:spPr>
        <p:txBody>
          <a:bodyPr wrap="square" lIns="0" tIns="0" rIns="0" bIns="0" rtlCol="0" anchor="ctr"/>
          <a:lstStyle/>
          <a:p>
            <a:pPr indent="0" marL="0">
              <a:lnSpc>
                <a:spcPct val="130000"/>
              </a:lnSpc>
              <a:buNone/>
            </a:pPr>
            <a:r>
              <a:rPr lang="en-US" sz="1400" dirty="0">
                <a:solidFill>
                  <a:srgbClr val="1C2530"/>
                </a:solidFill>
                <a:latin typeface="Calibri" pitchFamily="34" charset="0"/>
                <a:ea typeface="Calibri" pitchFamily="34" charset="-122"/>
                <a:cs typeface="Calibri" pitchFamily="34" charset="-120"/>
              </a:rPr>
              <a:t>Retrieval-Augmented Generation: trước khi LLM trả lời, hệ thống truy xuất các đoạn văn bản liên quan nhất từ nguồn tài liệu đáng tin cậy, rồi đưa vào prompt làm căn cứ trả lời.</a:t>
            </a:r>
            <a:endParaRPr lang="en-US" sz="1400" dirty="0"/>
          </a:p>
        </p:txBody>
      </p:sp>
      <p:sp>
        <p:nvSpPr>
          <p:cNvPr id="9" name="Shape 6"/>
          <p:cNvSpPr/>
          <p:nvPr/>
        </p:nvSpPr>
        <p:spPr>
          <a:xfrm>
            <a:off x="914400" y="4160520"/>
            <a:ext cx="274320" cy="274320"/>
          </a:xfrm>
          <a:prstGeom prst="ellipse">
            <a:avLst/>
          </a:prstGeom>
          <a:solidFill>
            <a:srgbClr val="2E6F95"/>
          </a:solidFill>
          <a:ln/>
        </p:spPr>
      </p:sp>
      <p:sp>
        <p:nvSpPr>
          <p:cNvPr id="10" name="Text 7"/>
          <p:cNvSpPr/>
          <p:nvPr/>
        </p:nvSpPr>
        <p:spPr>
          <a:xfrm>
            <a:off x="914400" y="41605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1325880" y="4114800"/>
            <a:ext cx="4023360" cy="365760"/>
          </a:xfrm>
          <a:prstGeom prst="rect">
            <a:avLst/>
          </a:prstGeom>
          <a:noFill/>
          <a:ln/>
        </p:spPr>
        <p:txBody>
          <a:bodyPr wrap="square" lIns="0" tIns="0" rIns="0" bIns="0" rtlCol="0" anchor="ctr"/>
          <a:lstStyle/>
          <a:p>
            <a:pPr indent="0" marL="0">
              <a:buNone/>
            </a:pPr>
            <a:r>
              <a:rPr lang="en-US" sz="1300" dirty="0">
                <a:solidFill>
                  <a:srgbClr val="1C2530"/>
                </a:solidFill>
                <a:latin typeface="Calibri" pitchFamily="34" charset="0"/>
                <a:ea typeface="Calibri" pitchFamily="34" charset="-122"/>
                <a:cs typeface="Calibri" pitchFamily="34" charset="-120"/>
              </a:rPr>
              <a:t>Tài liệu → chia nhỏ &amp; lập chỉ mục</a:t>
            </a:r>
            <a:endParaRPr lang="en-US" sz="1300" dirty="0"/>
          </a:p>
        </p:txBody>
      </p:sp>
      <p:sp>
        <p:nvSpPr>
          <p:cNvPr id="12" name="Shape 9"/>
          <p:cNvSpPr/>
          <p:nvPr/>
        </p:nvSpPr>
        <p:spPr>
          <a:xfrm>
            <a:off x="914400" y="4617720"/>
            <a:ext cx="274320" cy="274320"/>
          </a:xfrm>
          <a:prstGeom prst="ellipse">
            <a:avLst/>
          </a:prstGeom>
          <a:solidFill>
            <a:srgbClr val="2E6F95"/>
          </a:solidFill>
          <a:ln/>
        </p:spPr>
      </p:sp>
      <p:sp>
        <p:nvSpPr>
          <p:cNvPr id="13" name="Text 10"/>
          <p:cNvSpPr/>
          <p:nvPr/>
        </p:nvSpPr>
        <p:spPr>
          <a:xfrm>
            <a:off x="914400" y="46177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p:nvPr/>
        </p:nvSpPr>
        <p:spPr>
          <a:xfrm>
            <a:off x="1325880" y="4572000"/>
            <a:ext cx="4023360" cy="365760"/>
          </a:xfrm>
          <a:prstGeom prst="rect">
            <a:avLst/>
          </a:prstGeom>
          <a:noFill/>
          <a:ln/>
        </p:spPr>
        <p:txBody>
          <a:bodyPr wrap="square" lIns="0" tIns="0" rIns="0" bIns="0" rtlCol="0" anchor="ctr"/>
          <a:lstStyle/>
          <a:p>
            <a:pPr indent="0" marL="0">
              <a:buNone/>
            </a:pPr>
            <a:r>
              <a:rPr lang="en-US" sz="1300" dirty="0">
                <a:solidFill>
                  <a:srgbClr val="1C2530"/>
                </a:solidFill>
                <a:latin typeface="Calibri" pitchFamily="34" charset="0"/>
                <a:ea typeface="Calibri" pitchFamily="34" charset="-122"/>
                <a:cs typeface="Calibri" pitchFamily="34" charset="-120"/>
              </a:rPr>
              <a:t>Câu hỏi → tìm đoạn liên quan</a:t>
            </a:r>
            <a:endParaRPr lang="en-US" sz="1300" dirty="0"/>
          </a:p>
        </p:txBody>
      </p:sp>
      <p:sp>
        <p:nvSpPr>
          <p:cNvPr id="15" name="Shape 12"/>
          <p:cNvSpPr/>
          <p:nvPr/>
        </p:nvSpPr>
        <p:spPr>
          <a:xfrm>
            <a:off x="914400" y="5074920"/>
            <a:ext cx="274320" cy="274320"/>
          </a:xfrm>
          <a:prstGeom prst="ellipse">
            <a:avLst/>
          </a:prstGeom>
          <a:solidFill>
            <a:srgbClr val="2E6F95"/>
          </a:solidFill>
          <a:ln/>
        </p:spPr>
      </p:sp>
      <p:sp>
        <p:nvSpPr>
          <p:cNvPr id="16" name="Text 13"/>
          <p:cNvSpPr/>
          <p:nvPr/>
        </p:nvSpPr>
        <p:spPr>
          <a:xfrm>
            <a:off x="914400" y="50749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1325880" y="5029200"/>
            <a:ext cx="4023360" cy="365760"/>
          </a:xfrm>
          <a:prstGeom prst="rect">
            <a:avLst/>
          </a:prstGeom>
          <a:noFill/>
          <a:ln/>
        </p:spPr>
        <p:txBody>
          <a:bodyPr wrap="square" lIns="0" tIns="0" rIns="0" bIns="0" rtlCol="0" anchor="ctr"/>
          <a:lstStyle/>
          <a:p>
            <a:pPr indent="0" marL="0">
              <a:buNone/>
            </a:pPr>
            <a:r>
              <a:rPr lang="en-US" sz="1300" dirty="0">
                <a:solidFill>
                  <a:srgbClr val="1C2530"/>
                </a:solidFill>
                <a:latin typeface="Calibri" pitchFamily="34" charset="0"/>
                <a:ea typeface="Calibri" pitchFamily="34" charset="-122"/>
                <a:cs typeface="Calibri" pitchFamily="34" charset="-120"/>
              </a:rPr>
              <a:t>LLM trả lời có căn cứ + trích dẫn</a:t>
            </a:r>
            <a:endParaRPr lang="en-US" sz="1300" dirty="0"/>
          </a:p>
        </p:txBody>
      </p:sp>
      <p:sp>
        <p:nvSpPr>
          <p:cNvPr id="18" name="Shape 15"/>
          <p:cNvSpPr/>
          <p:nvPr/>
        </p:nvSpPr>
        <p:spPr>
          <a:xfrm>
            <a:off x="6126480" y="1554480"/>
            <a:ext cx="5513832" cy="4206240"/>
          </a:xfrm>
          <a:prstGeom prst="roundRect">
            <a:avLst>
              <a:gd name="adj" fmla="val 1739"/>
            </a:avLst>
          </a:prstGeom>
          <a:solidFill>
            <a:srgbClr val="1F3A5F"/>
          </a:solidFill>
          <a:ln/>
          <a:effectLst>
            <a:outerShdw sx="100000" sy="100000" kx="0" ky="0" algn="bl" rotWithShape="0" blurRad="88900" dist="25400" dir="5400000">
              <a:srgbClr val="1F3A5F">
                <a:alpha val="10000"/>
              </a:srgbClr>
            </a:outerShdw>
          </a:effectLst>
        </p:spPr>
      </p:sp>
      <p:sp>
        <p:nvSpPr>
          <p:cNvPr id="19" name="Text 16"/>
          <p:cNvSpPr/>
          <p:nvPr/>
        </p:nvSpPr>
        <p:spPr>
          <a:xfrm>
            <a:off x="6492240" y="1874520"/>
            <a:ext cx="4782312"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InsightAI giải quyết gì?</a:t>
            </a:r>
            <a:endParaRPr lang="en-US" sz="1900" dirty="0"/>
          </a:p>
        </p:txBody>
      </p:sp>
      <p:sp>
        <p:nvSpPr>
          <p:cNvPr id="20" name="Shape 17"/>
          <p:cNvSpPr/>
          <p:nvPr/>
        </p:nvSpPr>
        <p:spPr>
          <a:xfrm>
            <a:off x="6492240" y="2560320"/>
            <a:ext cx="457200" cy="457200"/>
          </a:xfrm>
          <a:prstGeom prst="ellipse">
            <a:avLst/>
          </a:prstGeom>
          <a:solidFill>
            <a:srgbClr val="33567B"/>
          </a:solidFill>
          <a:ln/>
        </p:spPr>
      </p:sp>
      <p:pic>
        <p:nvPicPr>
          <p:cNvPr id="21" name="Image 1" descr="/home/claude/insightai/assets/file_white.png">    </p:cNvPr>
          <p:cNvPicPr>
            <a:picLocks noChangeAspect="1"/>
          </p:cNvPicPr>
          <p:nvPr/>
        </p:nvPicPr>
        <p:blipFill>
          <a:blip r:embed="rId2"/>
          <a:stretch>
            <a:fillRect/>
          </a:stretch>
        </p:blipFill>
        <p:spPr>
          <a:xfrm>
            <a:off x="6556248" y="2624328"/>
            <a:ext cx="329184" cy="329184"/>
          </a:xfrm>
          <a:prstGeom prst="rect">
            <a:avLst/>
          </a:prstGeom>
        </p:spPr>
      </p:pic>
      <p:sp>
        <p:nvSpPr>
          <p:cNvPr id="22" name="Text 18"/>
          <p:cNvSpPr/>
          <p:nvPr/>
        </p:nvSpPr>
        <p:spPr>
          <a:xfrm>
            <a:off x="7132320" y="2523744"/>
            <a:ext cx="4142232"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Tải lên đa định dạng</a:t>
            </a:r>
            <a:endParaRPr lang="en-US" sz="1350" dirty="0"/>
          </a:p>
        </p:txBody>
      </p:sp>
      <p:sp>
        <p:nvSpPr>
          <p:cNvPr id="23" name="Text 19"/>
          <p:cNvSpPr/>
          <p:nvPr/>
        </p:nvSpPr>
        <p:spPr>
          <a:xfrm>
            <a:off x="7132320" y="2807208"/>
            <a:ext cx="4142232" cy="411480"/>
          </a:xfrm>
          <a:prstGeom prst="rect">
            <a:avLst/>
          </a:prstGeom>
          <a:noFill/>
          <a:ln/>
        </p:spPr>
        <p:txBody>
          <a:bodyPr wrap="square" lIns="0" tIns="0" rIns="0" bIns="0" rtlCol="0" anchor="ctr"/>
          <a:lstStyle/>
          <a:p>
            <a:pPr indent="0" marL="0">
              <a:buNone/>
            </a:pPr>
            <a:r>
              <a:rPr lang="en-US" sz="1150" dirty="0">
                <a:solidFill>
                  <a:srgbClr val="B9CCDD"/>
                </a:solidFill>
                <a:latin typeface="Calibri" pitchFamily="34" charset="0"/>
                <a:ea typeface="Calibri" pitchFamily="34" charset="-122"/>
                <a:cs typeface="Calibri" pitchFamily="34" charset="-120"/>
              </a:rPr>
              <a:t>PDF, DOCX, CSV, TXT — tự nhận diện loại tài liệu</a:t>
            </a:r>
            <a:endParaRPr lang="en-US" sz="1150" dirty="0"/>
          </a:p>
        </p:txBody>
      </p:sp>
      <p:sp>
        <p:nvSpPr>
          <p:cNvPr id="24" name="Shape 20"/>
          <p:cNvSpPr/>
          <p:nvPr/>
        </p:nvSpPr>
        <p:spPr>
          <a:xfrm>
            <a:off x="6492240" y="3337560"/>
            <a:ext cx="457200" cy="457200"/>
          </a:xfrm>
          <a:prstGeom prst="ellipse">
            <a:avLst/>
          </a:prstGeom>
          <a:solidFill>
            <a:srgbClr val="33567B"/>
          </a:solidFill>
          <a:ln/>
        </p:spPr>
      </p:sp>
      <p:pic>
        <p:nvPicPr>
          <p:cNvPr id="25" name="Image 2" descr="/home/claude/insightai/assets/search_white.png">    </p:cNvPr>
          <p:cNvPicPr>
            <a:picLocks noChangeAspect="1"/>
          </p:cNvPicPr>
          <p:nvPr/>
        </p:nvPicPr>
        <p:blipFill>
          <a:blip r:embed="rId3"/>
          <a:stretch>
            <a:fillRect/>
          </a:stretch>
        </p:blipFill>
        <p:spPr>
          <a:xfrm>
            <a:off x="6556248" y="3401568"/>
            <a:ext cx="329184" cy="329184"/>
          </a:xfrm>
          <a:prstGeom prst="rect">
            <a:avLst/>
          </a:prstGeom>
        </p:spPr>
      </p:pic>
      <p:sp>
        <p:nvSpPr>
          <p:cNvPr id="26" name="Text 21"/>
          <p:cNvSpPr/>
          <p:nvPr/>
        </p:nvSpPr>
        <p:spPr>
          <a:xfrm>
            <a:off x="7132320" y="3300984"/>
            <a:ext cx="4142232"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Hybrid Retrieval</a:t>
            </a:r>
            <a:endParaRPr lang="en-US" sz="1350" dirty="0"/>
          </a:p>
        </p:txBody>
      </p:sp>
      <p:sp>
        <p:nvSpPr>
          <p:cNvPr id="27" name="Text 22"/>
          <p:cNvSpPr/>
          <p:nvPr/>
        </p:nvSpPr>
        <p:spPr>
          <a:xfrm>
            <a:off x="7132320" y="3584448"/>
            <a:ext cx="4142232" cy="411480"/>
          </a:xfrm>
          <a:prstGeom prst="rect">
            <a:avLst/>
          </a:prstGeom>
          <a:noFill/>
          <a:ln/>
        </p:spPr>
        <p:txBody>
          <a:bodyPr wrap="square" lIns="0" tIns="0" rIns="0" bIns="0" rtlCol="0" anchor="ctr"/>
          <a:lstStyle/>
          <a:p>
            <a:pPr indent="0" marL="0">
              <a:buNone/>
            </a:pPr>
            <a:r>
              <a:rPr lang="en-US" sz="1150" dirty="0">
                <a:solidFill>
                  <a:srgbClr val="B9CCDD"/>
                </a:solidFill>
                <a:latin typeface="Calibri" pitchFamily="34" charset="0"/>
                <a:ea typeface="Calibri" pitchFamily="34" charset="-122"/>
                <a:cs typeface="Calibri" pitchFamily="34" charset="-120"/>
              </a:rPr>
              <a:t>Kết hợp tìm kiếm ngữ nghĩa (FAISS) + từ khoá (BM25)</a:t>
            </a:r>
            <a:endParaRPr lang="en-US" sz="1150" dirty="0"/>
          </a:p>
        </p:txBody>
      </p:sp>
      <p:sp>
        <p:nvSpPr>
          <p:cNvPr id="28" name="Shape 23"/>
          <p:cNvSpPr/>
          <p:nvPr/>
        </p:nvSpPr>
        <p:spPr>
          <a:xfrm>
            <a:off x="6492240" y="4114800"/>
            <a:ext cx="457200" cy="457200"/>
          </a:xfrm>
          <a:prstGeom prst="ellipse">
            <a:avLst/>
          </a:prstGeom>
          <a:solidFill>
            <a:srgbClr val="33567B"/>
          </a:solidFill>
          <a:ln/>
        </p:spPr>
      </p:sp>
      <p:pic>
        <p:nvPicPr>
          <p:cNvPr id="29" name="Image 3" descr="/home/claude/insightai/assets/route_white.png">    </p:cNvPr>
          <p:cNvPicPr>
            <a:picLocks noChangeAspect="1"/>
          </p:cNvPicPr>
          <p:nvPr/>
        </p:nvPicPr>
        <p:blipFill>
          <a:blip r:embed="rId4"/>
          <a:stretch>
            <a:fillRect/>
          </a:stretch>
        </p:blipFill>
        <p:spPr>
          <a:xfrm>
            <a:off x="6556248" y="4178808"/>
            <a:ext cx="329184" cy="329184"/>
          </a:xfrm>
          <a:prstGeom prst="rect">
            <a:avLst/>
          </a:prstGeom>
        </p:spPr>
      </p:pic>
      <p:sp>
        <p:nvSpPr>
          <p:cNvPr id="30" name="Text 24"/>
          <p:cNvSpPr/>
          <p:nvPr/>
        </p:nvSpPr>
        <p:spPr>
          <a:xfrm>
            <a:off x="7132320" y="4078224"/>
            <a:ext cx="4142232"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Định tuyến thông minh</a:t>
            </a:r>
            <a:endParaRPr lang="en-US" sz="1350" dirty="0"/>
          </a:p>
        </p:txBody>
      </p:sp>
      <p:sp>
        <p:nvSpPr>
          <p:cNvPr id="31" name="Text 25"/>
          <p:cNvSpPr/>
          <p:nvPr/>
        </p:nvSpPr>
        <p:spPr>
          <a:xfrm>
            <a:off x="7132320" y="4361688"/>
            <a:ext cx="4142232" cy="411480"/>
          </a:xfrm>
          <a:prstGeom prst="rect">
            <a:avLst/>
          </a:prstGeom>
          <a:noFill/>
          <a:ln/>
        </p:spPr>
        <p:txBody>
          <a:bodyPr wrap="square" lIns="0" tIns="0" rIns="0" bIns="0" rtlCol="0" anchor="ctr"/>
          <a:lstStyle/>
          <a:p>
            <a:pPr indent="0" marL="0">
              <a:buNone/>
            </a:pPr>
            <a:r>
              <a:rPr lang="en-US" sz="1150" dirty="0">
                <a:solidFill>
                  <a:srgbClr val="B9CCDD"/>
                </a:solidFill>
                <a:latin typeface="Calibri" pitchFamily="34" charset="0"/>
                <a:ea typeface="Calibri" pitchFamily="34" charset="-122"/>
                <a:cs typeface="Calibri" pitchFamily="34" charset="-120"/>
              </a:rPr>
              <a:t>Tự phân loại câu hỏi fact / summary để chọn pipeline tối ưu</a:t>
            </a:r>
            <a:endParaRPr lang="en-US" sz="1150" dirty="0"/>
          </a:p>
        </p:txBody>
      </p:sp>
      <p:sp>
        <p:nvSpPr>
          <p:cNvPr id="32" name="Shape 26"/>
          <p:cNvSpPr/>
          <p:nvPr/>
        </p:nvSpPr>
        <p:spPr>
          <a:xfrm>
            <a:off x="6492240" y="4892040"/>
            <a:ext cx="457200" cy="457200"/>
          </a:xfrm>
          <a:prstGeom prst="ellipse">
            <a:avLst/>
          </a:prstGeom>
          <a:solidFill>
            <a:srgbClr val="33567B"/>
          </a:solidFill>
          <a:ln/>
        </p:spPr>
      </p:sp>
      <p:pic>
        <p:nvPicPr>
          <p:cNvPr id="33" name="Image 4" descr="/home/claude/insightai/assets/quote_white.png">    </p:cNvPr>
          <p:cNvPicPr>
            <a:picLocks noChangeAspect="1"/>
          </p:cNvPicPr>
          <p:nvPr/>
        </p:nvPicPr>
        <p:blipFill>
          <a:blip r:embed="rId5"/>
          <a:stretch>
            <a:fillRect/>
          </a:stretch>
        </p:blipFill>
        <p:spPr>
          <a:xfrm>
            <a:off x="6556248" y="4956048"/>
            <a:ext cx="329184" cy="329184"/>
          </a:xfrm>
          <a:prstGeom prst="rect">
            <a:avLst/>
          </a:prstGeom>
        </p:spPr>
      </p:pic>
      <p:sp>
        <p:nvSpPr>
          <p:cNvPr id="34" name="Text 27"/>
          <p:cNvSpPr/>
          <p:nvPr/>
        </p:nvSpPr>
        <p:spPr>
          <a:xfrm>
            <a:off x="7132320" y="4855464"/>
            <a:ext cx="4142232"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Trả lời có trích dẫn</a:t>
            </a:r>
            <a:endParaRPr lang="en-US" sz="1350" dirty="0"/>
          </a:p>
        </p:txBody>
      </p:sp>
      <p:sp>
        <p:nvSpPr>
          <p:cNvPr id="35" name="Text 28"/>
          <p:cNvSpPr/>
          <p:nvPr/>
        </p:nvSpPr>
        <p:spPr>
          <a:xfrm>
            <a:off x="7132320" y="5138928"/>
            <a:ext cx="4142232" cy="411480"/>
          </a:xfrm>
          <a:prstGeom prst="rect">
            <a:avLst/>
          </a:prstGeom>
          <a:noFill/>
          <a:ln/>
        </p:spPr>
        <p:txBody>
          <a:bodyPr wrap="square" lIns="0" tIns="0" rIns="0" bIns="0" rtlCol="0" anchor="ctr"/>
          <a:lstStyle/>
          <a:p>
            <a:pPr indent="0" marL="0">
              <a:buNone/>
            </a:pPr>
            <a:r>
              <a:rPr lang="en-US" sz="1150" dirty="0">
                <a:solidFill>
                  <a:srgbClr val="B9CCDD"/>
                </a:solidFill>
                <a:latin typeface="Calibri" pitchFamily="34" charset="0"/>
                <a:ea typeface="Calibri" pitchFamily="34" charset="-122"/>
                <a:cs typeface="Calibri" pitchFamily="34" charset="-120"/>
              </a:rPr>
              <a:t>Mọi câu trả lời tiếng Việt đều kèm nguồn gốc rõ ràng</a:t>
            </a:r>
            <a:endParaRPr lang="en-US" sz="1150" dirty="0"/>
          </a:p>
        </p:txBody>
      </p:sp>
      <p:sp>
        <p:nvSpPr>
          <p:cNvPr id="36" name="Text 29"/>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03</a:t>
            </a:r>
            <a:endParaRPr lang="en-US" sz="1000" dirty="0"/>
          </a:p>
        </p:txBody>
      </p:sp>
      <p:sp>
        <p:nvSpPr>
          <p:cNvPr id="37" name="Text 3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InsightAI</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2E6F95"/>
                </a:solidFill>
                <a:latin typeface="Calibri" pitchFamily="34" charset="0"/>
                <a:ea typeface="Calibri" pitchFamily="34" charset="-122"/>
                <a:cs typeface="Calibri" pitchFamily="34" charset="-120"/>
              </a:rPr>
              <a:t>03 — KIẾN TRÚC</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Kiến trúc tổng quan hệ thống</a:t>
            </a:r>
            <a:endParaRPr lang="en-US" sz="3200" dirty="0"/>
          </a:p>
        </p:txBody>
      </p:sp>
      <p:sp>
        <p:nvSpPr>
          <p:cNvPr id="4" name="Shape 2"/>
          <p:cNvSpPr/>
          <p:nvPr/>
        </p:nvSpPr>
        <p:spPr>
          <a:xfrm>
            <a:off x="548640" y="1691640"/>
            <a:ext cx="2743200" cy="868680"/>
          </a:xfrm>
          <a:prstGeom prst="roundRect">
            <a:avLst>
              <a:gd name="adj" fmla="val 8421"/>
            </a:avLst>
          </a:prstGeom>
          <a:solidFill>
            <a:srgbClr val="EAF0F5"/>
          </a:solidFill>
          <a:ln/>
          <a:effectLst>
            <a:outerShdw sx="100000" sy="100000" kx="0" ky="0" algn="bl" rotWithShape="0" blurRad="88900" dist="25400" dir="5400000">
              <a:srgbClr val="1F3A5F">
                <a:alpha val="10000"/>
              </a:srgbClr>
            </a:outerShdw>
          </a:effectLst>
        </p:spPr>
      </p:sp>
      <p:sp>
        <p:nvSpPr>
          <p:cNvPr id="5" name="Shape 3"/>
          <p:cNvSpPr/>
          <p:nvPr/>
        </p:nvSpPr>
        <p:spPr>
          <a:xfrm>
            <a:off x="777240" y="1892808"/>
            <a:ext cx="457200" cy="457200"/>
          </a:xfrm>
          <a:prstGeom prst="ellipse">
            <a:avLst/>
          </a:prstGeom>
          <a:solidFill>
            <a:srgbClr val="FFFFFF"/>
          </a:solidFill>
          <a:ln/>
        </p:spPr>
      </p:sp>
      <p:pic>
        <p:nvPicPr>
          <p:cNvPr id="6" name="Image 0" descr="/home/claude/insightai/assets/react_primary.png">    </p:cNvPr>
          <p:cNvPicPr>
            <a:picLocks noChangeAspect="1"/>
          </p:cNvPicPr>
          <p:nvPr/>
        </p:nvPicPr>
        <p:blipFill>
          <a:blip r:embed="rId1"/>
          <a:stretch>
            <a:fillRect/>
          </a:stretch>
        </p:blipFill>
        <p:spPr>
          <a:xfrm>
            <a:off x="836676" y="1952244"/>
            <a:ext cx="338328" cy="338328"/>
          </a:xfrm>
          <a:prstGeom prst="rect">
            <a:avLst/>
          </a:prstGeom>
        </p:spPr>
      </p:pic>
      <p:sp>
        <p:nvSpPr>
          <p:cNvPr id="7" name="Text 4"/>
          <p:cNvSpPr/>
          <p:nvPr/>
        </p:nvSpPr>
        <p:spPr>
          <a:xfrm>
            <a:off x="1371600" y="1783080"/>
            <a:ext cx="1737360" cy="685800"/>
          </a:xfrm>
          <a:prstGeom prst="rect">
            <a:avLst/>
          </a:prstGeom>
          <a:noFill/>
          <a:ln/>
        </p:spPr>
        <p:txBody>
          <a:bodyPr wrap="square" lIns="0" tIns="0" rIns="0" bIns="0" rtlCol="0" anchor="ctr"/>
          <a:lstStyle/>
          <a:p>
            <a:pPr indent="0" marL="0">
              <a:lnSpc>
                <a:spcPct val="120000"/>
              </a:lnSpc>
              <a:buNone/>
            </a:pPr>
            <a:r>
              <a:rPr lang="en-US" sz="1200" b="1" dirty="0">
                <a:solidFill>
                  <a:srgbClr val="1F3A5F"/>
                </a:solidFill>
                <a:latin typeface="Calibri" pitchFamily="34" charset="0"/>
                <a:ea typeface="Calibri" pitchFamily="34" charset="-122"/>
                <a:cs typeface="Calibri" pitchFamily="34" charset="-120"/>
              </a:rPr>
              <a:t>Frontend</a:t>
            </a:r>
            <a:endParaRPr lang="en-US" sz="1200" dirty="0"/>
          </a:p>
          <a:p>
            <a:pPr indent="0" marL="0">
              <a:lnSpc>
                <a:spcPct val="120000"/>
              </a:lnSpc>
              <a:buNone/>
            </a:pPr>
            <a:r>
              <a:rPr lang="en-US" sz="1200" dirty="0">
                <a:solidFill>
                  <a:srgbClr val="5B6B7C"/>
                </a:solidFill>
                <a:latin typeface="Calibri" pitchFamily="34" charset="0"/>
                <a:ea typeface="Calibri" pitchFamily="34" charset="-122"/>
                <a:cs typeface="Calibri" pitchFamily="34" charset="-120"/>
              </a:rPr>
              <a:t>React · TS · Vite · Tailwind</a:t>
            </a:r>
            <a:endParaRPr lang="en-US" sz="1200" dirty="0"/>
          </a:p>
        </p:txBody>
      </p:sp>
      <p:sp>
        <p:nvSpPr>
          <p:cNvPr id="8" name="Shape 5"/>
          <p:cNvSpPr/>
          <p:nvPr/>
        </p:nvSpPr>
        <p:spPr>
          <a:xfrm>
            <a:off x="3337560" y="2125980"/>
            <a:ext cx="502920" cy="0"/>
          </a:xfrm>
          <a:prstGeom prst="line">
            <a:avLst/>
          </a:prstGeom>
          <a:noFill/>
          <a:ln w="25400">
            <a:solidFill>
              <a:srgbClr val="2E6F95"/>
            </a:solidFill>
            <a:prstDash val="solid"/>
          </a:ln>
        </p:spPr>
      </p:sp>
      <p:pic>
        <p:nvPicPr>
          <p:cNvPr id="9" name="Image 1" descr="/home/claude/insightai/assets/arrow_primary.png">    </p:cNvPr>
          <p:cNvPicPr>
            <a:picLocks noChangeAspect="1"/>
          </p:cNvPicPr>
          <p:nvPr/>
        </p:nvPicPr>
        <p:blipFill>
          <a:blip r:embed="rId2"/>
          <a:stretch>
            <a:fillRect/>
          </a:stretch>
        </p:blipFill>
        <p:spPr>
          <a:xfrm>
            <a:off x="3703320" y="2007108"/>
            <a:ext cx="237744" cy="237744"/>
          </a:xfrm>
          <a:prstGeom prst="rect">
            <a:avLst/>
          </a:prstGeom>
        </p:spPr>
      </p:pic>
      <p:sp>
        <p:nvSpPr>
          <p:cNvPr id="10" name="Shape 6"/>
          <p:cNvSpPr/>
          <p:nvPr/>
        </p:nvSpPr>
        <p:spPr>
          <a:xfrm>
            <a:off x="4069080" y="1691640"/>
            <a:ext cx="2743200" cy="868680"/>
          </a:xfrm>
          <a:prstGeom prst="roundRect">
            <a:avLst>
              <a:gd name="adj" fmla="val 8421"/>
            </a:avLst>
          </a:prstGeom>
          <a:solidFill>
            <a:srgbClr val="EAF0F5"/>
          </a:solidFill>
          <a:ln/>
          <a:effectLst>
            <a:outerShdw sx="100000" sy="100000" kx="0" ky="0" algn="bl" rotWithShape="0" blurRad="88900" dist="25400" dir="5400000">
              <a:srgbClr val="1F3A5F">
                <a:alpha val="10000"/>
              </a:srgbClr>
            </a:outerShdw>
          </a:effectLst>
        </p:spPr>
      </p:sp>
      <p:sp>
        <p:nvSpPr>
          <p:cNvPr id="11" name="Shape 7"/>
          <p:cNvSpPr/>
          <p:nvPr/>
        </p:nvSpPr>
        <p:spPr>
          <a:xfrm>
            <a:off x="4297680" y="1892808"/>
            <a:ext cx="457200" cy="457200"/>
          </a:xfrm>
          <a:prstGeom prst="ellipse">
            <a:avLst/>
          </a:prstGeom>
          <a:solidFill>
            <a:srgbClr val="FFFFFF"/>
          </a:solidFill>
          <a:ln/>
        </p:spPr>
      </p:sp>
      <p:pic>
        <p:nvPicPr>
          <p:cNvPr id="12" name="Image 2" descr="/home/claude/insightai/assets/server_primary.png">    </p:cNvPr>
          <p:cNvPicPr>
            <a:picLocks noChangeAspect="1"/>
          </p:cNvPicPr>
          <p:nvPr/>
        </p:nvPicPr>
        <p:blipFill>
          <a:blip r:embed="rId3"/>
          <a:stretch>
            <a:fillRect/>
          </a:stretch>
        </p:blipFill>
        <p:spPr>
          <a:xfrm>
            <a:off x="4357116" y="1952244"/>
            <a:ext cx="338328" cy="338328"/>
          </a:xfrm>
          <a:prstGeom prst="rect">
            <a:avLst/>
          </a:prstGeom>
        </p:spPr>
      </p:pic>
      <p:sp>
        <p:nvSpPr>
          <p:cNvPr id="13" name="Text 8"/>
          <p:cNvSpPr/>
          <p:nvPr/>
        </p:nvSpPr>
        <p:spPr>
          <a:xfrm>
            <a:off x="4892040" y="1783080"/>
            <a:ext cx="1737360" cy="685800"/>
          </a:xfrm>
          <a:prstGeom prst="rect">
            <a:avLst/>
          </a:prstGeom>
          <a:noFill/>
          <a:ln/>
        </p:spPr>
        <p:txBody>
          <a:bodyPr wrap="square" lIns="0" tIns="0" rIns="0" bIns="0" rtlCol="0" anchor="ctr"/>
          <a:lstStyle/>
          <a:p>
            <a:pPr indent="0" marL="0">
              <a:lnSpc>
                <a:spcPct val="120000"/>
              </a:lnSpc>
              <a:buNone/>
            </a:pPr>
            <a:r>
              <a:rPr lang="en-US" sz="1200" b="1" dirty="0">
                <a:solidFill>
                  <a:srgbClr val="1F3A5F"/>
                </a:solidFill>
                <a:latin typeface="Calibri" pitchFamily="34" charset="0"/>
                <a:ea typeface="Calibri" pitchFamily="34" charset="-122"/>
                <a:cs typeface="Calibri" pitchFamily="34" charset="-120"/>
              </a:rPr>
              <a:t>Backend API</a:t>
            </a:r>
            <a:endParaRPr lang="en-US" sz="1200" dirty="0"/>
          </a:p>
          <a:p>
            <a:pPr indent="0" marL="0">
              <a:lnSpc>
                <a:spcPct val="120000"/>
              </a:lnSpc>
              <a:buNone/>
            </a:pPr>
            <a:r>
              <a:rPr lang="en-US" sz="1200" dirty="0">
                <a:solidFill>
                  <a:srgbClr val="5B6B7C"/>
                </a:solidFill>
                <a:latin typeface="Calibri" pitchFamily="34" charset="0"/>
                <a:ea typeface="Calibri" pitchFamily="34" charset="-122"/>
                <a:cs typeface="Calibri" pitchFamily="34" charset="-120"/>
              </a:rPr>
              <a:t>FastAPI (async) · Uvicorn</a:t>
            </a:r>
            <a:endParaRPr lang="en-US" sz="1200" dirty="0"/>
          </a:p>
        </p:txBody>
      </p:sp>
      <p:sp>
        <p:nvSpPr>
          <p:cNvPr id="14" name="Shape 9"/>
          <p:cNvSpPr/>
          <p:nvPr/>
        </p:nvSpPr>
        <p:spPr>
          <a:xfrm>
            <a:off x="6858000" y="2125980"/>
            <a:ext cx="502920" cy="0"/>
          </a:xfrm>
          <a:prstGeom prst="line">
            <a:avLst/>
          </a:prstGeom>
          <a:noFill/>
          <a:ln w="25400">
            <a:solidFill>
              <a:srgbClr val="2E6F95"/>
            </a:solidFill>
            <a:prstDash val="solid"/>
          </a:ln>
        </p:spPr>
      </p:sp>
      <p:pic>
        <p:nvPicPr>
          <p:cNvPr id="15" name="Image 3" descr="/home/claude/insightai/assets/arrow_primary.png">    </p:cNvPr>
          <p:cNvPicPr>
            <a:picLocks noChangeAspect="1"/>
          </p:cNvPicPr>
          <p:nvPr/>
        </p:nvPicPr>
        <p:blipFill>
          <a:blip r:embed="rId4"/>
          <a:stretch>
            <a:fillRect/>
          </a:stretch>
        </p:blipFill>
        <p:spPr>
          <a:xfrm>
            <a:off x="7223760" y="2007108"/>
            <a:ext cx="237744" cy="237744"/>
          </a:xfrm>
          <a:prstGeom prst="rect">
            <a:avLst/>
          </a:prstGeom>
        </p:spPr>
      </p:pic>
      <p:sp>
        <p:nvSpPr>
          <p:cNvPr id="16" name="Shape 10"/>
          <p:cNvSpPr/>
          <p:nvPr/>
        </p:nvSpPr>
        <p:spPr>
          <a:xfrm>
            <a:off x="7589520" y="1691640"/>
            <a:ext cx="4050792" cy="868680"/>
          </a:xfrm>
          <a:prstGeom prst="roundRect">
            <a:avLst>
              <a:gd name="adj" fmla="val 8421"/>
            </a:avLst>
          </a:prstGeom>
          <a:solidFill>
            <a:srgbClr val="1F3A5F"/>
          </a:solidFill>
          <a:ln/>
          <a:effectLst>
            <a:outerShdw sx="100000" sy="100000" kx="0" ky="0" algn="bl" rotWithShape="0" blurRad="88900" dist="25400" dir="5400000">
              <a:srgbClr val="1F3A5F">
                <a:alpha val="10000"/>
              </a:srgbClr>
            </a:outerShdw>
          </a:effectLst>
        </p:spPr>
      </p:sp>
      <p:sp>
        <p:nvSpPr>
          <p:cNvPr id="17" name="Shape 11"/>
          <p:cNvSpPr/>
          <p:nvPr/>
        </p:nvSpPr>
        <p:spPr>
          <a:xfrm>
            <a:off x="7818120" y="1892808"/>
            <a:ext cx="457200" cy="457200"/>
          </a:xfrm>
          <a:prstGeom prst="ellipse">
            <a:avLst/>
          </a:prstGeom>
          <a:solidFill>
            <a:srgbClr val="33567B"/>
          </a:solidFill>
          <a:ln/>
        </p:spPr>
      </p:sp>
      <p:pic>
        <p:nvPicPr>
          <p:cNvPr id="18" name="Image 4" descr="/home/claude/insightai/assets/bolt_white.png">    </p:cNvPr>
          <p:cNvPicPr>
            <a:picLocks noChangeAspect="1"/>
          </p:cNvPicPr>
          <p:nvPr/>
        </p:nvPicPr>
        <p:blipFill>
          <a:blip r:embed="rId5"/>
          <a:stretch>
            <a:fillRect/>
          </a:stretch>
        </p:blipFill>
        <p:spPr>
          <a:xfrm>
            <a:off x="7877556" y="1952244"/>
            <a:ext cx="338328" cy="338328"/>
          </a:xfrm>
          <a:prstGeom prst="rect">
            <a:avLst/>
          </a:prstGeom>
        </p:spPr>
      </p:pic>
      <p:sp>
        <p:nvSpPr>
          <p:cNvPr id="19" name="Text 12"/>
          <p:cNvSpPr/>
          <p:nvPr/>
        </p:nvSpPr>
        <p:spPr>
          <a:xfrm>
            <a:off x="8412480" y="1783080"/>
            <a:ext cx="3044952" cy="685800"/>
          </a:xfrm>
          <a:prstGeom prst="rect">
            <a:avLst/>
          </a:prstGeom>
          <a:noFill/>
          <a:ln/>
        </p:spPr>
        <p:txBody>
          <a:bodyPr wrap="square" lIns="0" tIns="0" rIns="0" bIns="0"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Nhà cung cấp LLM</a:t>
            </a:r>
            <a:endParaRPr lang="en-US" sz="1200" dirty="0"/>
          </a:p>
          <a:p>
            <a:pPr indent="0" marL="0">
              <a:lnSpc>
                <a:spcPct val="120000"/>
              </a:lnSpc>
              <a:buNone/>
            </a:pPr>
            <a:r>
              <a:rPr lang="en-US" sz="1200" dirty="0">
                <a:solidFill>
                  <a:srgbClr val="C7D9E8"/>
                </a:solidFill>
                <a:latin typeface="Calibri" pitchFamily="34" charset="0"/>
                <a:ea typeface="Calibri" pitchFamily="34" charset="-122"/>
                <a:cs typeface="Calibri" pitchFamily="34" charset="-120"/>
              </a:rPr>
              <a:t>OpenRouter · LM Studio · Gemini</a:t>
            </a:r>
            <a:endParaRPr lang="en-US" sz="1200" dirty="0"/>
          </a:p>
        </p:txBody>
      </p:sp>
      <p:sp>
        <p:nvSpPr>
          <p:cNvPr id="20" name="Shape 13"/>
          <p:cNvSpPr/>
          <p:nvPr/>
        </p:nvSpPr>
        <p:spPr>
          <a:xfrm>
            <a:off x="548640" y="3063240"/>
            <a:ext cx="11091672" cy="3291840"/>
          </a:xfrm>
          <a:prstGeom prst="roundRect">
            <a:avLst>
              <a:gd name="adj" fmla="val 2222"/>
            </a:avLst>
          </a:prstGeom>
          <a:solidFill>
            <a:srgbClr val="F4F7FA"/>
          </a:solidFill>
          <a:ln/>
          <a:effectLst>
            <a:outerShdw sx="100000" sy="100000" kx="0" ky="0" algn="bl" rotWithShape="0" blurRad="88900" dist="25400" dir="5400000">
              <a:srgbClr val="1F3A5F">
                <a:alpha val="10000"/>
              </a:srgbClr>
            </a:outerShdw>
          </a:effectLst>
        </p:spPr>
      </p:sp>
      <p:sp>
        <p:nvSpPr>
          <p:cNvPr id="21" name="Text 14"/>
          <p:cNvSpPr/>
          <p:nvPr/>
        </p:nvSpPr>
        <p:spPr>
          <a:xfrm>
            <a:off x="914400" y="3291840"/>
            <a:ext cx="5486400" cy="365760"/>
          </a:xfrm>
          <a:prstGeom prst="rect">
            <a:avLst/>
          </a:prstGeom>
          <a:noFill/>
          <a:ln/>
        </p:spPr>
        <p:txBody>
          <a:bodyPr wrap="square" lIns="0" tIns="0" rIns="0" bIns="0" rtlCol="0" anchor="ctr"/>
          <a:lstStyle/>
          <a:p>
            <a:pPr indent="0" marL="0">
              <a:buNone/>
            </a:pPr>
            <a:r>
              <a:rPr lang="en-US" sz="1600" b="1" dirty="0">
                <a:solidFill>
                  <a:srgbClr val="1F3A5F"/>
                </a:solidFill>
                <a:latin typeface="Cambria" pitchFamily="34" charset="0"/>
                <a:ea typeface="Cambria" pitchFamily="34" charset="-122"/>
                <a:cs typeface="Cambria" pitchFamily="34" charset="-120"/>
              </a:rPr>
              <a:t>RAG Core — các module xử lý</a:t>
            </a:r>
            <a:endParaRPr lang="en-US" sz="1600" dirty="0"/>
          </a:p>
        </p:txBody>
      </p:sp>
      <p:sp>
        <p:nvSpPr>
          <p:cNvPr id="22" name="Shape 15"/>
          <p:cNvSpPr/>
          <p:nvPr/>
        </p:nvSpPr>
        <p:spPr>
          <a:xfrm>
            <a:off x="914400" y="3840480"/>
            <a:ext cx="1513332" cy="2286000"/>
          </a:xfrm>
          <a:prstGeom prst="roundRect">
            <a:avLst>
              <a:gd name="adj" fmla="val 4230"/>
            </a:avLst>
          </a:prstGeom>
          <a:solidFill>
            <a:srgbClr val="FFFFFF"/>
          </a:solidFill>
          <a:ln w="12700">
            <a:solidFill>
              <a:srgbClr val="C9D6E0"/>
            </a:solidFill>
            <a:prstDash val="solid"/>
          </a:ln>
        </p:spPr>
      </p:sp>
      <p:sp>
        <p:nvSpPr>
          <p:cNvPr id="23" name="Shape 16"/>
          <p:cNvSpPr/>
          <p:nvPr/>
        </p:nvSpPr>
        <p:spPr>
          <a:xfrm>
            <a:off x="1396746" y="4096512"/>
            <a:ext cx="548640" cy="548640"/>
          </a:xfrm>
          <a:prstGeom prst="ellipse">
            <a:avLst/>
          </a:prstGeom>
          <a:solidFill>
            <a:srgbClr val="EAF0F5"/>
          </a:solidFill>
          <a:ln/>
        </p:spPr>
      </p:sp>
      <p:pic>
        <p:nvPicPr>
          <p:cNvPr id="24" name="Image 5" descr="/home/claude/insightai/assets/file_primary.png">    </p:cNvPr>
          <p:cNvPicPr>
            <a:picLocks noChangeAspect="1"/>
          </p:cNvPicPr>
          <p:nvPr/>
        </p:nvPicPr>
        <p:blipFill>
          <a:blip r:embed="rId6"/>
          <a:stretch>
            <a:fillRect/>
          </a:stretch>
        </p:blipFill>
        <p:spPr>
          <a:xfrm>
            <a:off x="1479042" y="4178808"/>
            <a:ext cx="384048" cy="384048"/>
          </a:xfrm>
          <a:prstGeom prst="rect">
            <a:avLst/>
          </a:prstGeom>
        </p:spPr>
      </p:pic>
      <p:sp>
        <p:nvSpPr>
          <p:cNvPr id="25" name="Text 17"/>
          <p:cNvSpPr/>
          <p:nvPr/>
        </p:nvSpPr>
        <p:spPr>
          <a:xfrm>
            <a:off x="987552" y="4800600"/>
            <a:ext cx="1367028" cy="594360"/>
          </a:xfrm>
          <a:prstGeom prst="rect">
            <a:avLst/>
          </a:prstGeom>
          <a:noFill/>
          <a:ln/>
        </p:spPr>
        <p:txBody>
          <a:bodyPr wrap="square" lIns="0" tIns="0" rIns="0" bIns="0" rtlCol="0" anchor="ctr"/>
          <a:lstStyle/>
          <a:p>
            <a:pPr algn="ctr" indent="0" marL="0">
              <a:lnSpc>
                <a:spcPct val="105000"/>
              </a:lnSpc>
              <a:buNone/>
            </a:pPr>
            <a:r>
              <a:rPr lang="en-US" sz="1150" b="1" dirty="0">
                <a:solidFill>
                  <a:srgbClr val="1F3A5F"/>
                </a:solidFill>
                <a:latin typeface="Calibri" pitchFamily="34" charset="0"/>
                <a:ea typeface="Calibri" pitchFamily="34" charset="-122"/>
                <a:cs typeface="Calibri" pitchFamily="34" charset="-120"/>
              </a:rPr>
              <a:t>Document</a:t>
            </a:r>
            <a:endParaRPr lang="en-US" sz="1150" dirty="0"/>
          </a:p>
          <a:p>
            <a:pPr algn="ctr" indent="0" marL="0">
              <a:lnSpc>
                <a:spcPct val="105000"/>
              </a:lnSpc>
              <a:buNone/>
            </a:pPr>
            <a:r>
              <a:rPr lang="en-US" sz="1150" b="1" dirty="0">
                <a:solidFill>
                  <a:srgbClr val="1F3A5F"/>
                </a:solidFill>
                <a:latin typeface="Calibri" pitchFamily="34" charset="0"/>
                <a:ea typeface="Calibri" pitchFamily="34" charset="-122"/>
                <a:cs typeface="Calibri" pitchFamily="34" charset="-120"/>
              </a:rPr>
              <a:t>Processor</a:t>
            </a:r>
            <a:endParaRPr lang="en-US" sz="1150" dirty="0"/>
          </a:p>
        </p:txBody>
      </p:sp>
      <p:sp>
        <p:nvSpPr>
          <p:cNvPr id="26" name="Text 18"/>
          <p:cNvSpPr/>
          <p:nvPr/>
        </p:nvSpPr>
        <p:spPr>
          <a:xfrm>
            <a:off x="987552" y="5440680"/>
            <a:ext cx="1367028" cy="640080"/>
          </a:xfrm>
          <a:prstGeom prst="rect">
            <a:avLst/>
          </a:prstGeom>
          <a:noFill/>
          <a:ln/>
        </p:spPr>
        <p:txBody>
          <a:bodyPr wrap="square" lIns="0" tIns="0" rIns="0" bIns="0" rtlCol="0" anchor="ctr"/>
          <a:lstStyle/>
          <a:p>
            <a:pPr algn="ctr" indent="0" marL="0">
              <a:lnSpc>
                <a:spcPct val="110000"/>
              </a:lnSpc>
              <a:buNone/>
            </a:pPr>
            <a:r>
              <a:rPr lang="en-US" sz="1000" dirty="0">
                <a:solidFill>
                  <a:srgbClr val="5B6B7C"/>
                </a:solidFill>
                <a:latin typeface="Calibri" pitchFamily="34" charset="0"/>
                <a:ea typeface="Calibri" pitchFamily="34" charset="-122"/>
                <a:cs typeface="Calibri" pitchFamily="34" charset="-120"/>
              </a:rPr>
              <a:t>Trích xuất &amp; phân loại</a:t>
            </a:r>
            <a:endParaRPr lang="en-US" sz="1000" dirty="0"/>
          </a:p>
        </p:txBody>
      </p:sp>
      <p:sp>
        <p:nvSpPr>
          <p:cNvPr id="27" name="Shape 19"/>
          <p:cNvSpPr/>
          <p:nvPr/>
        </p:nvSpPr>
        <p:spPr>
          <a:xfrm>
            <a:off x="2683764" y="3840480"/>
            <a:ext cx="1513332" cy="2286000"/>
          </a:xfrm>
          <a:prstGeom prst="roundRect">
            <a:avLst>
              <a:gd name="adj" fmla="val 4230"/>
            </a:avLst>
          </a:prstGeom>
          <a:solidFill>
            <a:srgbClr val="FFFFFF"/>
          </a:solidFill>
          <a:ln w="12700">
            <a:solidFill>
              <a:srgbClr val="C9D6E0"/>
            </a:solidFill>
            <a:prstDash val="solid"/>
          </a:ln>
        </p:spPr>
      </p:sp>
      <p:sp>
        <p:nvSpPr>
          <p:cNvPr id="28" name="Shape 20"/>
          <p:cNvSpPr/>
          <p:nvPr/>
        </p:nvSpPr>
        <p:spPr>
          <a:xfrm>
            <a:off x="3166110" y="4096512"/>
            <a:ext cx="548640" cy="548640"/>
          </a:xfrm>
          <a:prstGeom prst="ellipse">
            <a:avLst/>
          </a:prstGeom>
          <a:solidFill>
            <a:srgbClr val="EAF0F5"/>
          </a:solidFill>
          <a:ln/>
        </p:spPr>
      </p:sp>
      <p:pic>
        <p:nvPicPr>
          <p:cNvPr id="29" name="Image 6" descr="/home/claude/insightai/assets/layers_primary.png">    </p:cNvPr>
          <p:cNvPicPr>
            <a:picLocks noChangeAspect="1"/>
          </p:cNvPicPr>
          <p:nvPr/>
        </p:nvPicPr>
        <p:blipFill>
          <a:blip r:embed="rId7"/>
          <a:stretch>
            <a:fillRect/>
          </a:stretch>
        </p:blipFill>
        <p:spPr>
          <a:xfrm>
            <a:off x="3248406" y="4178808"/>
            <a:ext cx="384048" cy="384048"/>
          </a:xfrm>
          <a:prstGeom prst="rect">
            <a:avLst/>
          </a:prstGeom>
        </p:spPr>
      </p:pic>
      <p:sp>
        <p:nvSpPr>
          <p:cNvPr id="30" name="Text 21"/>
          <p:cNvSpPr/>
          <p:nvPr/>
        </p:nvSpPr>
        <p:spPr>
          <a:xfrm>
            <a:off x="2756916" y="4800600"/>
            <a:ext cx="1367028" cy="594360"/>
          </a:xfrm>
          <a:prstGeom prst="rect">
            <a:avLst/>
          </a:prstGeom>
          <a:noFill/>
          <a:ln/>
        </p:spPr>
        <p:txBody>
          <a:bodyPr wrap="square" lIns="0" tIns="0" rIns="0" bIns="0" rtlCol="0" anchor="ctr"/>
          <a:lstStyle/>
          <a:p>
            <a:pPr algn="ctr" indent="0" marL="0">
              <a:lnSpc>
                <a:spcPct val="105000"/>
              </a:lnSpc>
              <a:buNone/>
            </a:pPr>
            <a:r>
              <a:rPr lang="en-US" sz="1150" b="1" dirty="0">
                <a:solidFill>
                  <a:srgbClr val="1F3A5F"/>
                </a:solidFill>
                <a:latin typeface="Calibri" pitchFamily="34" charset="0"/>
                <a:ea typeface="Calibri" pitchFamily="34" charset="-122"/>
                <a:cs typeface="Calibri" pitchFamily="34" charset="-120"/>
              </a:rPr>
              <a:t>Adaptive</a:t>
            </a:r>
            <a:endParaRPr lang="en-US" sz="1150" dirty="0"/>
          </a:p>
          <a:p>
            <a:pPr algn="ctr" indent="0" marL="0">
              <a:lnSpc>
                <a:spcPct val="105000"/>
              </a:lnSpc>
              <a:buNone/>
            </a:pPr>
            <a:r>
              <a:rPr lang="en-US" sz="1150" b="1" dirty="0">
                <a:solidFill>
                  <a:srgbClr val="1F3A5F"/>
                </a:solidFill>
                <a:latin typeface="Calibri" pitchFamily="34" charset="0"/>
                <a:ea typeface="Calibri" pitchFamily="34" charset="-122"/>
                <a:cs typeface="Calibri" pitchFamily="34" charset="-120"/>
              </a:rPr>
              <a:t>Chunking</a:t>
            </a:r>
            <a:endParaRPr lang="en-US" sz="1150" dirty="0"/>
          </a:p>
        </p:txBody>
      </p:sp>
      <p:sp>
        <p:nvSpPr>
          <p:cNvPr id="31" name="Text 22"/>
          <p:cNvSpPr/>
          <p:nvPr/>
        </p:nvSpPr>
        <p:spPr>
          <a:xfrm>
            <a:off x="2756916" y="5440680"/>
            <a:ext cx="1367028" cy="640080"/>
          </a:xfrm>
          <a:prstGeom prst="rect">
            <a:avLst/>
          </a:prstGeom>
          <a:noFill/>
          <a:ln/>
        </p:spPr>
        <p:txBody>
          <a:bodyPr wrap="square" lIns="0" tIns="0" rIns="0" bIns="0" rtlCol="0" anchor="ctr"/>
          <a:lstStyle/>
          <a:p>
            <a:pPr algn="ctr" indent="0" marL="0">
              <a:lnSpc>
                <a:spcPct val="110000"/>
              </a:lnSpc>
              <a:buNone/>
            </a:pPr>
            <a:r>
              <a:rPr lang="en-US" sz="1000" dirty="0">
                <a:solidFill>
                  <a:srgbClr val="5B6B7C"/>
                </a:solidFill>
                <a:latin typeface="Calibri" pitchFamily="34" charset="0"/>
                <a:ea typeface="Calibri" pitchFamily="34" charset="-122"/>
                <a:cs typeface="Calibri" pitchFamily="34" charset="-120"/>
              </a:rPr>
              <a:t>Section / semantic / fixed</a:t>
            </a:r>
            <a:endParaRPr lang="en-US" sz="1000" dirty="0"/>
          </a:p>
        </p:txBody>
      </p:sp>
      <p:sp>
        <p:nvSpPr>
          <p:cNvPr id="32" name="Shape 23"/>
          <p:cNvSpPr/>
          <p:nvPr/>
        </p:nvSpPr>
        <p:spPr>
          <a:xfrm>
            <a:off x="4453128" y="3840480"/>
            <a:ext cx="1513332" cy="2286000"/>
          </a:xfrm>
          <a:prstGeom prst="roundRect">
            <a:avLst>
              <a:gd name="adj" fmla="val 4230"/>
            </a:avLst>
          </a:prstGeom>
          <a:solidFill>
            <a:srgbClr val="FFFFFF"/>
          </a:solidFill>
          <a:ln w="12700">
            <a:solidFill>
              <a:srgbClr val="C9D6E0"/>
            </a:solidFill>
            <a:prstDash val="solid"/>
          </a:ln>
        </p:spPr>
      </p:sp>
      <p:sp>
        <p:nvSpPr>
          <p:cNvPr id="33" name="Shape 24"/>
          <p:cNvSpPr/>
          <p:nvPr/>
        </p:nvSpPr>
        <p:spPr>
          <a:xfrm>
            <a:off x="4935474" y="4096512"/>
            <a:ext cx="548640" cy="548640"/>
          </a:xfrm>
          <a:prstGeom prst="ellipse">
            <a:avLst/>
          </a:prstGeom>
          <a:solidFill>
            <a:srgbClr val="EAF0F5"/>
          </a:solidFill>
          <a:ln/>
        </p:spPr>
      </p:sp>
      <p:pic>
        <p:nvPicPr>
          <p:cNvPr id="34" name="Image 7" descr="/home/claude/insightai/assets/database_primary.png">    </p:cNvPr>
          <p:cNvPicPr>
            <a:picLocks noChangeAspect="1"/>
          </p:cNvPicPr>
          <p:nvPr/>
        </p:nvPicPr>
        <p:blipFill>
          <a:blip r:embed="rId8"/>
          <a:stretch>
            <a:fillRect/>
          </a:stretch>
        </p:blipFill>
        <p:spPr>
          <a:xfrm>
            <a:off x="5017770" y="4178808"/>
            <a:ext cx="384048" cy="384048"/>
          </a:xfrm>
          <a:prstGeom prst="rect">
            <a:avLst/>
          </a:prstGeom>
        </p:spPr>
      </p:pic>
      <p:sp>
        <p:nvSpPr>
          <p:cNvPr id="35" name="Text 25"/>
          <p:cNvSpPr/>
          <p:nvPr/>
        </p:nvSpPr>
        <p:spPr>
          <a:xfrm>
            <a:off x="4526280" y="4800600"/>
            <a:ext cx="1367028" cy="594360"/>
          </a:xfrm>
          <a:prstGeom prst="rect">
            <a:avLst/>
          </a:prstGeom>
          <a:noFill/>
          <a:ln/>
        </p:spPr>
        <p:txBody>
          <a:bodyPr wrap="square" lIns="0" tIns="0" rIns="0" bIns="0" rtlCol="0" anchor="ctr"/>
          <a:lstStyle/>
          <a:p>
            <a:pPr algn="ctr" indent="0" marL="0">
              <a:lnSpc>
                <a:spcPct val="105000"/>
              </a:lnSpc>
              <a:buNone/>
            </a:pPr>
            <a:r>
              <a:rPr lang="en-US" sz="1150" b="1" dirty="0">
                <a:solidFill>
                  <a:srgbClr val="1F3A5F"/>
                </a:solidFill>
                <a:latin typeface="Calibri" pitchFamily="34" charset="0"/>
                <a:ea typeface="Calibri" pitchFamily="34" charset="-122"/>
                <a:cs typeface="Calibri" pitchFamily="34" charset="-120"/>
              </a:rPr>
              <a:t>Index Builder</a:t>
            </a:r>
            <a:endParaRPr lang="en-US" sz="1150" dirty="0"/>
          </a:p>
        </p:txBody>
      </p:sp>
      <p:sp>
        <p:nvSpPr>
          <p:cNvPr id="36" name="Text 26"/>
          <p:cNvSpPr/>
          <p:nvPr/>
        </p:nvSpPr>
        <p:spPr>
          <a:xfrm>
            <a:off x="4526280" y="5440680"/>
            <a:ext cx="1367028" cy="640080"/>
          </a:xfrm>
          <a:prstGeom prst="rect">
            <a:avLst/>
          </a:prstGeom>
          <a:noFill/>
          <a:ln/>
        </p:spPr>
        <p:txBody>
          <a:bodyPr wrap="square" lIns="0" tIns="0" rIns="0" bIns="0" rtlCol="0" anchor="ctr"/>
          <a:lstStyle/>
          <a:p>
            <a:pPr algn="ctr" indent="0" marL="0">
              <a:lnSpc>
                <a:spcPct val="110000"/>
              </a:lnSpc>
              <a:buNone/>
            </a:pPr>
            <a:r>
              <a:rPr lang="en-US" sz="1000" dirty="0">
                <a:solidFill>
                  <a:srgbClr val="5B6B7C"/>
                </a:solidFill>
                <a:latin typeface="Calibri" pitchFamily="34" charset="0"/>
                <a:ea typeface="Calibri" pitchFamily="34" charset="-122"/>
                <a:cs typeface="Calibri" pitchFamily="34" charset="-120"/>
              </a:rPr>
              <a:t>FAISS + BM25 + block lớn</a:t>
            </a:r>
            <a:endParaRPr lang="en-US" sz="1000" dirty="0"/>
          </a:p>
        </p:txBody>
      </p:sp>
      <p:sp>
        <p:nvSpPr>
          <p:cNvPr id="37" name="Shape 27"/>
          <p:cNvSpPr/>
          <p:nvPr/>
        </p:nvSpPr>
        <p:spPr>
          <a:xfrm>
            <a:off x="6222492" y="3840480"/>
            <a:ext cx="1513332" cy="2286000"/>
          </a:xfrm>
          <a:prstGeom prst="roundRect">
            <a:avLst>
              <a:gd name="adj" fmla="val 4230"/>
            </a:avLst>
          </a:prstGeom>
          <a:solidFill>
            <a:srgbClr val="FFFFFF"/>
          </a:solidFill>
          <a:ln w="12700">
            <a:solidFill>
              <a:srgbClr val="C9D6E0"/>
            </a:solidFill>
            <a:prstDash val="solid"/>
          </a:ln>
        </p:spPr>
      </p:sp>
      <p:sp>
        <p:nvSpPr>
          <p:cNvPr id="38" name="Shape 28"/>
          <p:cNvSpPr/>
          <p:nvPr/>
        </p:nvSpPr>
        <p:spPr>
          <a:xfrm>
            <a:off x="6704838" y="4096512"/>
            <a:ext cx="548640" cy="548640"/>
          </a:xfrm>
          <a:prstGeom prst="ellipse">
            <a:avLst/>
          </a:prstGeom>
          <a:solidFill>
            <a:srgbClr val="EAF0F5"/>
          </a:solidFill>
          <a:ln/>
        </p:spPr>
      </p:sp>
      <p:pic>
        <p:nvPicPr>
          <p:cNvPr id="39" name="Image 8" descr="/home/claude/insightai/assets/route_primary.png">    </p:cNvPr>
          <p:cNvPicPr>
            <a:picLocks noChangeAspect="1"/>
          </p:cNvPicPr>
          <p:nvPr/>
        </p:nvPicPr>
        <p:blipFill>
          <a:blip r:embed="rId9"/>
          <a:stretch>
            <a:fillRect/>
          </a:stretch>
        </p:blipFill>
        <p:spPr>
          <a:xfrm>
            <a:off x="6787134" y="4178808"/>
            <a:ext cx="384048" cy="384048"/>
          </a:xfrm>
          <a:prstGeom prst="rect">
            <a:avLst/>
          </a:prstGeom>
        </p:spPr>
      </p:pic>
      <p:sp>
        <p:nvSpPr>
          <p:cNvPr id="40" name="Text 29"/>
          <p:cNvSpPr/>
          <p:nvPr/>
        </p:nvSpPr>
        <p:spPr>
          <a:xfrm>
            <a:off x="6295644" y="4800600"/>
            <a:ext cx="1367028" cy="594360"/>
          </a:xfrm>
          <a:prstGeom prst="rect">
            <a:avLst/>
          </a:prstGeom>
          <a:noFill/>
          <a:ln/>
        </p:spPr>
        <p:txBody>
          <a:bodyPr wrap="square" lIns="0" tIns="0" rIns="0" bIns="0" rtlCol="0" anchor="ctr"/>
          <a:lstStyle/>
          <a:p>
            <a:pPr algn="ctr" indent="0" marL="0">
              <a:lnSpc>
                <a:spcPct val="105000"/>
              </a:lnSpc>
              <a:buNone/>
            </a:pPr>
            <a:r>
              <a:rPr lang="en-US" sz="1150" b="1" dirty="0">
                <a:solidFill>
                  <a:srgbClr val="1F3A5F"/>
                </a:solidFill>
                <a:latin typeface="Calibri" pitchFamily="34" charset="0"/>
                <a:ea typeface="Calibri" pitchFamily="34" charset="-122"/>
                <a:cs typeface="Calibri" pitchFamily="34" charset="-120"/>
              </a:rPr>
              <a:t>Query Router</a:t>
            </a:r>
            <a:endParaRPr lang="en-US" sz="1150" dirty="0"/>
          </a:p>
        </p:txBody>
      </p:sp>
      <p:sp>
        <p:nvSpPr>
          <p:cNvPr id="41" name="Text 30"/>
          <p:cNvSpPr/>
          <p:nvPr/>
        </p:nvSpPr>
        <p:spPr>
          <a:xfrm>
            <a:off x="6295644" y="5440680"/>
            <a:ext cx="1367028" cy="640080"/>
          </a:xfrm>
          <a:prstGeom prst="rect">
            <a:avLst/>
          </a:prstGeom>
          <a:noFill/>
          <a:ln/>
        </p:spPr>
        <p:txBody>
          <a:bodyPr wrap="square" lIns="0" tIns="0" rIns="0" bIns="0" rtlCol="0" anchor="ctr"/>
          <a:lstStyle/>
          <a:p>
            <a:pPr algn="ctr" indent="0" marL="0">
              <a:lnSpc>
                <a:spcPct val="110000"/>
              </a:lnSpc>
              <a:buNone/>
            </a:pPr>
            <a:r>
              <a:rPr lang="en-US" sz="1000" dirty="0">
                <a:solidFill>
                  <a:srgbClr val="5B6B7C"/>
                </a:solidFill>
                <a:latin typeface="Calibri" pitchFamily="34" charset="0"/>
                <a:ea typeface="Calibri" pitchFamily="34" charset="-122"/>
                <a:cs typeface="Calibri" pitchFamily="34" charset="-120"/>
              </a:rPr>
              <a:t>Viết lại &amp; phân loại truy vấn</a:t>
            </a:r>
            <a:endParaRPr lang="en-US" sz="1000" dirty="0"/>
          </a:p>
        </p:txBody>
      </p:sp>
      <p:sp>
        <p:nvSpPr>
          <p:cNvPr id="42" name="Shape 31"/>
          <p:cNvSpPr/>
          <p:nvPr/>
        </p:nvSpPr>
        <p:spPr>
          <a:xfrm>
            <a:off x="7991856" y="3840480"/>
            <a:ext cx="1513332" cy="2286000"/>
          </a:xfrm>
          <a:prstGeom prst="roundRect">
            <a:avLst>
              <a:gd name="adj" fmla="val 4230"/>
            </a:avLst>
          </a:prstGeom>
          <a:solidFill>
            <a:srgbClr val="FFFFFF"/>
          </a:solidFill>
          <a:ln w="12700">
            <a:solidFill>
              <a:srgbClr val="C9D6E0"/>
            </a:solidFill>
            <a:prstDash val="solid"/>
          </a:ln>
        </p:spPr>
      </p:sp>
      <p:sp>
        <p:nvSpPr>
          <p:cNvPr id="43" name="Shape 32"/>
          <p:cNvSpPr/>
          <p:nvPr/>
        </p:nvSpPr>
        <p:spPr>
          <a:xfrm>
            <a:off x="8474202" y="4096512"/>
            <a:ext cx="548640" cy="548640"/>
          </a:xfrm>
          <a:prstGeom prst="ellipse">
            <a:avLst/>
          </a:prstGeom>
          <a:solidFill>
            <a:srgbClr val="EAF0F5"/>
          </a:solidFill>
          <a:ln/>
        </p:spPr>
      </p:sp>
      <p:pic>
        <p:nvPicPr>
          <p:cNvPr id="44" name="Image 9" descr="/home/claude/insightai/assets/sort_primary.png">    </p:cNvPr>
          <p:cNvPicPr>
            <a:picLocks noChangeAspect="1"/>
          </p:cNvPicPr>
          <p:nvPr/>
        </p:nvPicPr>
        <p:blipFill>
          <a:blip r:embed="rId10"/>
          <a:stretch>
            <a:fillRect/>
          </a:stretch>
        </p:blipFill>
        <p:spPr>
          <a:xfrm>
            <a:off x="8556498" y="4178808"/>
            <a:ext cx="384048" cy="384048"/>
          </a:xfrm>
          <a:prstGeom prst="rect">
            <a:avLst/>
          </a:prstGeom>
        </p:spPr>
      </p:pic>
      <p:sp>
        <p:nvSpPr>
          <p:cNvPr id="45" name="Text 33"/>
          <p:cNvSpPr/>
          <p:nvPr/>
        </p:nvSpPr>
        <p:spPr>
          <a:xfrm>
            <a:off x="8065008" y="4800600"/>
            <a:ext cx="1367028" cy="594360"/>
          </a:xfrm>
          <a:prstGeom prst="rect">
            <a:avLst/>
          </a:prstGeom>
          <a:noFill/>
          <a:ln/>
        </p:spPr>
        <p:txBody>
          <a:bodyPr wrap="square" lIns="0" tIns="0" rIns="0" bIns="0" rtlCol="0" anchor="ctr"/>
          <a:lstStyle/>
          <a:p>
            <a:pPr algn="ctr" indent="0" marL="0">
              <a:lnSpc>
                <a:spcPct val="105000"/>
              </a:lnSpc>
              <a:buNone/>
            </a:pPr>
            <a:r>
              <a:rPr lang="en-US" sz="1150" b="1" dirty="0">
                <a:solidFill>
                  <a:srgbClr val="1F3A5F"/>
                </a:solidFill>
                <a:latin typeface="Calibri" pitchFamily="34" charset="0"/>
                <a:ea typeface="Calibri" pitchFamily="34" charset="-122"/>
                <a:cs typeface="Calibri" pitchFamily="34" charset="-120"/>
              </a:rPr>
              <a:t>Fact Pipeline</a:t>
            </a:r>
            <a:endParaRPr lang="en-US" sz="1150" dirty="0"/>
          </a:p>
        </p:txBody>
      </p:sp>
      <p:sp>
        <p:nvSpPr>
          <p:cNvPr id="46" name="Text 34"/>
          <p:cNvSpPr/>
          <p:nvPr/>
        </p:nvSpPr>
        <p:spPr>
          <a:xfrm>
            <a:off x="8065008" y="5440680"/>
            <a:ext cx="1367028" cy="640080"/>
          </a:xfrm>
          <a:prstGeom prst="rect">
            <a:avLst/>
          </a:prstGeom>
          <a:noFill/>
          <a:ln/>
        </p:spPr>
        <p:txBody>
          <a:bodyPr wrap="square" lIns="0" tIns="0" rIns="0" bIns="0" rtlCol="0" anchor="ctr"/>
          <a:lstStyle/>
          <a:p>
            <a:pPr algn="ctr" indent="0" marL="0">
              <a:lnSpc>
                <a:spcPct val="110000"/>
              </a:lnSpc>
              <a:buNone/>
            </a:pPr>
            <a:r>
              <a:rPr lang="en-US" sz="1000" dirty="0">
                <a:solidFill>
                  <a:srgbClr val="5B6B7C"/>
                </a:solidFill>
                <a:latin typeface="Calibri" pitchFamily="34" charset="0"/>
                <a:ea typeface="Calibri" pitchFamily="34" charset="-122"/>
                <a:cs typeface="Calibri" pitchFamily="34" charset="-120"/>
              </a:rPr>
              <a:t>RRF + Cross-Encoder rerank</a:t>
            </a:r>
            <a:endParaRPr lang="en-US" sz="1000" dirty="0"/>
          </a:p>
        </p:txBody>
      </p:sp>
      <p:sp>
        <p:nvSpPr>
          <p:cNvPr id="47" name="Shape 35"/>
          <p:cNvSpPr/>
          <p:nvPr/>
        </p:nvSpPr>
        <p:spPr>
          <a:xfrm>
            <a:off x="9761220" y="3840480"/>
            <a:ext cx="1513332" cy="2286000"/>
          </a:xfrm>
          <a:prstGeom prst="roundRect">
            <a:avLst>
              <a:gd name="adj" fmla="val 4230"/>
            </a:avLst>
          </a:prstGeom>
          <a:solidFill>
            <a:srgbClr val="FFFFFF"/>
          </a:solidFill>
          <a:ln w="12700">
            <a:solidFill>
              <a:srgbClr val="C9D6E0"/>
            </a:solidFill>
            <a:prstDash val="solid"/>
          </a:ln>
        </p:spPr>
      </p:sp>
      <p:sp>
        <p:nvSpPr>
          <p:cNvPr id="48" name="Shape 36"/>
          <p:cNvSpPr/>
          <p:nvPr/>
        </p:nvSpPr>
        <p:spPr>
          <a:xfrm>
            <a:off x="10243566" y="4096512"/>
            <a:ext cx="548640" cy="548640"/>
          </a:xfrm>
          <a:prstGeom prst="ellipse">
            <a:avLst/>
          </a:prstGeom>
          <a:solidFill>
            <a:srgbClr val="EAF0F5"/>
          </a:solidFill>
          <a:ln/>
        </p:spPr>
      </p:sp>
      <p:pic>
        <p:nvPicPr>
          <p:cNvPr id="49" name="Image 10" descr="/home/claude/insightai/assets/summarize_primary.png">    </p:cNvPr>
          <p:cNvPicPr>
            <a:picLocks noChangeAspect="1"/>
          </p:cNvPicPr>
          <p:nvPr/>
        </p:nvPicPr>
        <p:blipFill>
          <a:blip r:embed="rId11"/>
          <a:stretch>
            <a:fillRect/>
          </a:stretch>
        </p:blipFill>
        <p:spPr>
          <a:xfrm>
            <a:off x="10325862" y="4178808"/>
            <a:ext cx="384048" cy="384048"/>
          </a:xfrm>
          <a:prstGeom prst="rect">
            <a:avLst/>
          </a:prstGeom>
        </p:spPr>
      </p:pic>
      <p:sp>
        <p:nvSpPr>
          <p:cNvPr id="50" name="Text 37"/>
          <p:cNvSpPr/>
          <p:nvPr/>
        </p:nvSpPr>
        <p:spPr>
          <a:xfrm>
            <a:off x="9834372" y="4800600"/>
            <a:ext cx="1367028" cy="594360"/>
          </a:xfrm>
          <a:prstGeom prst="rect">
            <a:avLst/>
          </a:prstGeom>
          <a:noFill/>
          <a:ln/>
        </p:spPr>
        <p:txBody>
          <a:bodyPr wrap="square" lIns="0" tIns="0" rIns="0" bIns="0" rtlCol="0" anchor="ctr"/>
          <a:lstStyle/>
          <a:p>
            <a:pPr algn="ctr" indent="0" marL="0">
              <a:lnSpc>
                <a:spcPct val="105000"/>
              </a:lnSpc>
              <a:buNone/>
            </a:pPr>
            <a:r>
              <a:rPr lang="en-US" sz="1150" b="1" dirty="0">
                <a:solidFill>
                  <a:srgbClr val="1F3A5F"/>
                </a:solidFill>
                <a:latin typeface="Calibri" pitchFamily="34" charset="0"/>
                <a:ea typeface="Calibri" pitchFamily="34" charset="-122"/>
                <a:cs typeface="Calibri" pitchFamily="34" charset="-120"/>
              </a:rPr>
              <a:t>Summary</a:t>
            </a:r>
            <a:endParaRPr lang="en-US" sz="1150" dirty="0"/>
          </a:p>
          <a:p>
            <a:pPr algn="ctr" indent="0" marL="0">
              <a:lnSpc>
                <a:spcPct val="105000"/>
              </a:lnSpc>
              <a:buNone/>
            </a:pPr>
            <a:r>
              <a:rPr lang="en-US" sz="1150" b="1" dirty="0">
                <a:solidFill>
                  <a:srgbClr val="1F3A5F"/>
                </a:solidFill>
                <a:latin typeface="Calibri" pitchFamily="34" charset="0"/>
                <a:ea typeface="Calibri" pitchFamily="34" charset="-122"/>
                <a:cs typeface="Calibri" pitchFamily="34" charset="-120"/>
              </a:rPr>
              <a:t>Pipeline</a:t>
            </a:r>
            <a:endParaRPr lang="en-US" sz="1150" dirty="0"/>
          </a:p>
        </p:txBody>
      </p:sp>
      <p:sp>
        <p:nvSpPr>
          <p:cNvPr id="51" name="Text 38"/>
          <p:cNvSpPr/>
          <p:nvPr/>
        </p:nvSpPr>
        <p:spPr>
          <a:xfrm>
            <a:off x="9834372" y="5440680"/>
            <a:ext cx="1367028" cy="640080"/>
          </a:xfrm>
          <a:prstGeom prst="rect">
            <a:avLst/>
          </a:prstGeom>
          <a:noFill/>
          <a:ln/>
        </p:spPr>
        <p:txBody>
          <a:bodyPr wrap="square" lIns="0" tIns="0" rIns="0" bIns="0" rtlCol="0" anchor="ctr"/>
          <a:lstStyle/>
          <a:p>
            <a:pPr algn="ctr" indent="0" marL="0">
              <a:lnSpc>
                <a:spcPct val="110000"/>
              </a:lnSpc>
              <a:buNone/>
            </a:pPr>
            <a:r>
              <a:rPr lang="en-US" sz="1000" dirty="0">
                <a:solidFill>
                  <a:srgbClr val="5B6B7C"/>
                </a:solidFill>
                <a:latin typeface="Calibri" pitchFamily="34" charset="0"/>
                <a:ea typeface="Calibri" pitchFamily="34" charset="-122"/>
                <a:cs typeface="Calibri" pitchFamily="34" charset="-120"/>
              </a:rPr>
              <a:t>MMR + TextRank</a:t>
            </a:r>
            <a:endParaRPr lang="en-US" sz="1000" dirty="0"/>
          </a:p>
        </p:txBody>
      </p:sp>
      <p:sp>
        <p:nvSpPr>
          <p:cNvPr id="52" name="Text 39"/>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04</a:t>
            </a:r>
            <a:endParaRPr lang="en-US" sz="1000" dirty="0"/>
          </a:p>
        </p:txBody>
      </p:sp>
      <p:sp>
        <p:nvSpPr>
          <p:cNvPr id="53" name="Text 4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InsightAI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2E6F95"/>
                </a:solidFill>
                <a:latin typeface="Calibri" pitchFamily="34" charset="0"/>
                <a:ea typeface="Calibri" pitchFamily="34" charset="-122"/>
                <a:cs typeface="Calibri" pitchFamily="34" charset="-120"/>
              </a:rPr>
              <a:t>04 — GIAI ĐOẠN 1</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Quy trình Indexing</a:t>
            </a:r>
            <a:endParaRPr lang="en-US" sz="3200" dirty="0"/>
          </a:p>
        </p:txBody>
      </p:sp>
      <p:sp>
        <p:nvSpPr>
          <p:cNvPr id="4" name="Shape 2"/>
          <p:cNvSpPr/>
          <p:nvPr/>
        </p:nvSpPr>
        <p:spPr>
          <a:xfrm>
            <a:off x="548640" y="1828800"/>
            <a:ext cx="3337560" cy="3246120"/>
          </a:xfrm>
          <a:prstGeom prst="roundRect">
            <a:avLst>
              <a:gd name="adj" fmla="val 2254"/>
            </a:avLst>
          </a:prstGeom>
          <a:solidFill>
            <a:srgbClr val="EAF0F5"/>
          </a:solidFill>
          <a:ln/>
          <a:effectLst>
            <a:outerShdw sx="100000" sy="100000" kx="0" ky="0" algn="bl" rotWithShape="0" blurRad="88900" dist="25400" dir="5400000">
              <a:srgbClr val="1F3A5F">
                <a:alpha val="10000"/>
              </a:srgbClr>
            </a:outerShdw>
          </a:effectLst>
        </p:spPr>
      </p:sp>
      <p:sp>
        <p:nvSpPr>
          <p:cNvPr id="5" name="Shape 3"/>
          <p:cNvSpPr/>
          <p:nvPr/>
        </p:nvSpPr>
        <p:spPr>
          <a:xfrm>
            <a:off x="914400" y="2194560"/>
            <a:ext cx="685800" cy="685800"/>
          </a:xfrm>
          <a:prstGeom prst="ellipse">
            <a:avLst/>
          </a:prstGeom>
          <a:solidFill>
            <a:srgbClr val="FFFFFF"/>
          </a:solidFill>
          <a:ln/>
        </p:spPr>
      </p:sp>
      <p:pic>
        <p:nvPicPr>
          <p:cNvPr id="6" name="Image 0" descr="/home/claude/insightai/assets/file_primary.png">    </p:cNvPr>
          <p:cNvPicPr>
            <a:picLocks noChangeAspect="1"/>
          </p:cNvPicPr>
          <p:nvPr/>
        </p:nvPicPr>
        <p:blipFill>
          <a:blip r:embed="rId1"/>
          <a:stretch>
            <a:fillRect/>
          </a:stretch>
        </p:blipFill>
        <p:spPr>
          <a:xfrm>
            <a:off x="1024128" y="2304288"/>
            <a:ext cx="466344" cy="466344"/>
          </a:xfrm>
          <a:prstGeom prst="rect">
            <a:avLst/>
          </a:prstGeom>
        </p:spPr>
      </p:pic>
      <p:sp>
        <p:nvSpPr>
          <p:cNvPr id="7" name="Text 4"/>
          <p:cNvSpPr/>
          <p:nvPr/>
        </p:nvSpPr>
        <p:spPr>
          <a:xfrm>
            <a:off x="914400" y="3063240"/>
            <a:ext cx="2606040" cy="502920"/>
          </a:xfrm>
          <a:prstGeom prst="rect">
            <a:avLst/>
          </a:prstGeom>
          <a:noFill/>
          <a:ln/>
        </p:spPr>
        <p:txBody>
          <a:bodyPr wrap="square" lIns="0" tIns="0" rIns="0" bIns="0" rtlCol="0" anchor="ctr"/>
          <a:lstStyle/>
          <a:p>
            <a:pPr indent="0" marL="0">
              <a:buNone/>
            </a:pPr>
            <a:r>
              <a:rPr lang="en-US" sz="1650" b="1" dirty="0">
                <a:solidFill>
                  <a:srgbClr val="1F3A5F"/>
                </a:solidFill>
                <a:latin typeface="Cambria" pitchFamily="34" charset="0"/>
                <a:ea typeface="Cambria" pitchFamily="34" charset="-122"/>
                <a:cs typeface="Cambria" pitchFamily="34" charset="-120"/>
              </a:rPr>
              <a:t>1. Trích xuất &amp; phân loại</a:t>
            </a:r>
            <a:endParaRPr lang="en-US" sz="1650" dirty="0"/>
          </a:p>
        </p:txBody>
      </p:sp>
      <p:sp>
        <p:nvSpPr>
          <p:cNvPr id="8" name="Text 5"/>
          <p:cNvSpPr/>
          <p:nvPr/>
        </p:nvSpPr>
        <p:spPr>
          <a:xfrm>
            <a:off x="914400" y="3611880"/>
            <a:ext cx="2606040" cy="1280160"/>
          </a:xfrm>
          <a:prstGeom prst="rect">
            <a:avLst/>
          </a:prstGeom>
          <a:noFill/>
          <a:ln/>
        </p:spPr>
        <p:txBody>
          <a:bodyPr wrap="square" lIns="0" tIns="0" rIns="0" bIns="0" rtlCol="0" anchor="ctr"/>
          <a:lstStyle/>
          <a:p>
            <a:pPr indent="0" marL="0">
              <a:lnSpc>
                <a:spcPct val="125000"/>
              </a:lnSpc>
              <a:buNone/>
            </a:pPr>
            <a:r>
              <a:rPr lang="en-US" sz="1250" dirty="0">
                <a:solidFill>
                  <a:srgbClr val="1C2530"/>
                </a:solidFill>
                <a:latin typeface="Calibri" pitchFamily="34" charset="0"/>
                <a:ea typeface="Calibri" pitchFamily="34" charset="-122"/>
                <a:cs typeface="Calibri" pitchFamily="34" charset="-120"/>
              </a:rPr>
              <a:t>Trích xuất văn bản từ PDF/DOCX/CSV/TXT; phát hiện loại tài liệu: academic, legal, hoặc general.</a:t>
            </a:r>
            <a:endParaRPr lang="en-US" sz="1250" dirty="0"/>
          </a:p>
        </p:txBody>
      </p:sp>
      <p:pic>
        <p:nvPicPr>
          <p:cNvPr id="9" name="Image 1" descr="/home/claude/insightai/assets/arrow_primary.png">    </p:cNvPr>
          <p:cNvPicPr>
            <a:picLocks noChangeAspect="1"/>
          </p:cNvPicPr>
          <p:nvPr/>
        </p:nvPicPr>
        <p:blipFill>
          <a:blip r:embed="rId2"/>
          <a:stretch>
            <a:fillRect/>
          </a:stretch>
        </p:blipFill>
        <p:spPr>
          <a:xfrm>
            <a:off x="3922776" y="3332988"/>
            <a:ext cx="246888" cy="246888"/>
          </a:xfrm>
          <a:prstGeom prst="rect">
            <a:avLst/>
          </a:prstGeom>
        </p:spPr>
      </p:pic>
      <p:sp>
        <p:nvSpPr>
          <p:cNvPr id="10" name="Shape 6"/>
          <p:cNvSpPr/>
          <p:nvPr/>
        </p:nvSpPr>
        <p:spPr>
          <a:xfrm>
            <a:off x="4206240" y="1828800"/>
            <a:ext cx="3337560" cy="3246120"/>
          </a:xfrm>
          <a:prstGeom prst="roundRect">
            <a:avLst>
              <a:gd name="adj" fmla="val 2254"/>
            </a:avLst>
          </a:prstGeom>
          <a:solidFill>
            <a:srgbClr val="1F3A5F"/>
          </a:solidFill>
          <a:ln/>
          <a:effectLst>
            <a:outerShdw sx="100000" sy="100000" kx="0" ky="0" algn="bl" rotWithShape="0" blurRad="88900" dist="25400" dir="5400000">
              <a:srgbClr val="1F3A5F">
                <a:alpha val="10000"/>
              </a:srgbClr>
            </a:outerShdw>
          </a:effectLst>
        </p:spPr>
      </p:sp>
      <p:sp>
        <p:nvSpPr>
          <p:cNvPr id="11" name="Shape 7"/>
          <p:cNvSpPr/>
          <p:nvPr/>
        </p:nvSpPr>
        <p:spPr>
          <a:xfrm>
            <a:off x="4572000" y="2194560"/>
            <a:ext cx="685800" cy="685800"/>
          </a:xfrm>
          <a:prstGeom prst="ellipse">
            <a:avLst/>
          </a:prstGeom>
          <a:solidFill>
            <a:srgbClr val="33567B"/>
          </a:solidFill>
          <a:ln/>
        </p:spPr>
      </p:sp>
      <p:pic>
        <p:nvPicPr>
          <p:cNvPr id="12" name="Image 2" descr="/home/claude/insightai/assets/layers_white.png">    </p:cNvPr>
          <p:cNvPicPr>
            <a:picLocks noChangeAspect="1"/>
          </p:cNvPicPr>
          <p:nvPr/>
        </p:nvPicPr>
        <p:blipFill>
          <a:blip r:embed="rId3"/>
          <a:stretch>
            <a:fillRect/>
          </a:stretch>
        </p:blipFill>
        <p:spPr>
          <a:xfrm>
            <a:off x="4681728" y="2304288"/>
            <a:ext cx="466344" cy="466344"/>
          </a:xfrm>
          <a:prstGeom prst="rect">
            <a:avLst/>
          </a:prstGeom>
        </p:spPr>
      </p:pic>
      <p:sp>
        <p:nvSpPr>
          <p:cNvPr id="13" name="Text 8"/>
          <p:cNvSpPr/>
          <p:nvPr/>
        </p:nvSpPr>
        <p:spPr>
          <a:xfrm>
            <a:off x="4572000" y="3063240"/>
            <a:ext cx="2606040" cy="50292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2. Chunking thích nghi</a:t>
            </a:r>
            <a:endParaRPr lang="en-US" sz="1650" dirty="0"/>
          </a:p>
        </p:txBody>
      </p:sp>
      <p:sp>
        <p:nvSpPr>
          <p:cNvPr id="14" name="Text 9"/>
          <p:cNvSpPr/>
          <p:nvPr/>
        </p:nvSpPr>
        <p:spPr>
          <a:xfrm>
            <a:off x="4572000" y="3611880"/>
            <a:ext cx="2606040" cy="1280160"/>
          </a:xfrm>
          <a:prstGeom prst="rect">
            <a:avLst/>
          </a:prstGeom>
          <a:noFill/>
          <a:ln/>
        </p:spPr>
        <p:txBody>
          <a:bodyPr wrap="square" lIns="0" tIns="0" rIns="0" bIns="0" rtlCol="0" anchor="ctr"/>
          <a:lstStyle/>
          <a:p>
            <a:pPr indent="0" marL="0">
              <a:lnSpc>
                <a:spcPct val="125000"/>
              </a:lnSpc>
              <a:buNone/>
            </a:pPr>
            <a:r>
              <a:rPr lang="en-US" sz="1250" dirty="0">
                <a:solidFill>
                  <a:srgbClr val="D7E4EE"/>
                </a:solidFill>
                <a:latin typeface="Calibri" pitchFamily="34" charset="0"/>
                <a:ea typeface="Calibri" pitchFamily="34" charset="-122"/>
                <a:cs typeface="Calibri" pitchFamily="34" charset="-120"/>
              </a:rPr>
              <a:t>Chọn chiến lược chia nhỏ theo loại tài liệu: section-aware, semantic, hoặc fixed-size.</a:t>
            </a:r>
            <a:endParaRPr lang="en-US" sz="1250" dirty="0"/>
          </a:p>
        </p:txBody>
      </p:sp>
      <p:pic>
        <p:nvPicPr>
          <p:cNvPr id="15" name="Image 3" descr="/home/claude/insightai/assets/arrow_primary.png">    </p:cNvPr>
          <p:cNvPicPr>
            <a:picLocks noChangeAspect="1"/>
          </p:cNvPicPr>
          <p:nvPr/>
        </p:nvPicPr>
        <p:blipFill>
          <a:blip r:embed="rId4"/>
          <a:stretch>
            <a:fillRect/>
          </a:stretch>
        </p:blipFill>
        <p:spPr>
          <a:xfrm>
            <a:off x="7580376" y="3332988"/>
            <a:ext cx="246888" cy="246888"/>
          </a:xfrm>
          <a:prstGeom prst="rect">
            <a:avLst/>
          </a:prstGeom>
        </p:spPr>
      </p:pic>
      <p:sp>
        <p:nvSpPr>
          <p:cNvPr id="16" name="Shape 10"/>
          <p:cNvSpPr/>
          <p:nvPr/>
        </p:nvSpPr>
        <p:spPr>
          <a:xfrm>
            <a:off x="7863840" y="1828800"/>
            <a:ext cx="3337560" cy="3246120"/>
          </a:xfrm>
          <a:prstGeom prst="roundRect">
            <a:avLst>
              <a:gd name="adj" fmla="val 2254"/>
            </a:avLst>
          </a:prstGeom>
          <a:solidFill>
            <a:srgbClr val="EAF0F5"/>
          </a:solidFill>
          <a:ln/>
          <a:effectLst>
            <a:outerShdw sx="100000" sy="100000" kx="0" ky="0" algn="bl" rotWithShape="0" blurRad="88900" dist="25400" dir="5400000">
              <a:srgbClr val="1F3A5F">
                <a:alpha val="10000"/>
              </a:srgbClr>
            </a:outerShdw>
          </a:effectLst>
        </p:spPr>
      </p:sp>
      <p:sp>
        <p:nvSpPr>
          <p:cNvPr id="17" name="Shape 11"/>
          <p:cNvSpPr/>
          <p:nvPr/>
        </p:nvSpPr>
        <p:spPr>
          <a:xfrm>
            <a:off x="8229600" y="2194560"/>
            <a:ext cx="685800" cy="685800"/>
          </a:xfrm>
          <a:prstGeom prst="ellipse">
            <a:avLst/>
          </a:prstGeom>
          <a:solidFill>
            <a:srgbClr val="FFFFFF"/>
          </a:solidFill>
          <a:ln/>
        </p:spPr>
      </p:sp>
      <p:pic>
        <p:nvPicPr>
          <p:cNvPr id="18" name="Image 4" descr="/home/claude/insightai/assets/database_primary.png">    </p:cNvPr>
          <p:cNvPicPr>
            <a:picLocks noChangeAspect="1"/>
          </p:cNvPicPr>
          <p:nvPr/>
        </p:nvPicPr>
        <p:blipFill>
          <a:blip r:embed="rId5"/>
          <a:stretch>
            <a:fillRect/>
          </a:stretch>
        </p:blipFill>
        <p:spPr>
          <a:xfrm>
            <a:off x="8339328" y="2304288"/>
            <a:ext cx="466344" cy="466344"/>
          </a:xfrm>
          <a:prstGeom prst="rect">
            <a:avLst/>
          </a:prstGeom>
        </p:spPr>
      </p:pic>
      <p:sp>
        <p:nvSpPr>
          <p:cNvPr id="19" name="Text 12"/>
          <p:cNvSpPr/>
          <p:nvPr/>
        </p:nvSpPr>
        <p:spPr>
          <a:xfrm>
            <a:off x="8229600" y="3063240"/>
            <a:ext cx="2606040" cy="502920"/>
          </a:xfrm>
          <a:prstGeom prst="rect">
            <a:avLst/>
          </a:prstGeom>
          <a:noFill/>
          <a:ln/>
        </p:spPr>
        <p:txBody>
          <a:bodyPr wrap="square" lIns="0" tIns="0" rIns="0" bIns="0" rtlCol="0" anchor="ctr"/>
          <a:lstStyle/>
          <a:p>
            <a:pPr indent="0" marL="0">
              <a:buNone/>
            </a:pPr>
            <a:r>
              <a:rPr lang="en-US" sz="1650" b="1" dirty="0">
                <a:solidFill>
                  <a:srgbClr val="1F3A5F"/>
                </a:solidFill>
                <a:latin typeface="Cambria" pitchFamily="34" charset="0"/>
                <a:ea typeface="Cambria" pitchFamily="34" charset="-122"/>
                <a:cs typeface="Cambria" pitchFamily="34" charset="-120"/>
              </a:rPr>
              <a:t>3. Xây dựng chỉ mục</a:t>
            </a:r>
            <a:endParaRPr lang="en-US" sz="1650" dirty="0"/>
          </a:p>
        </p:txBody>
      </p:sp>
      <p:sp>
        <p:nvSpPr>
          <p:cNvPr id="20" name="Text 13"/>
          <p:cNvSpPr/>
          <p:nvPr/>
        </p:nvSpPr>
        <p:spPr>
          <a:xfrm>
            <a:off x="8229600" y="3611880"/>
            <a:ext cx="2606040" cy="1280160"/>
          </a:xfrm>
          <a:prstGeom prst="rect">
            <a:avLst/>
          </a:prstGeom>
          <a:noFill/>
          <a:ln/>
        </p:spPr>
        <p:txBody>
          <a:bodyPr wrap="square" lIns="0" tIns="0" rIns="0" bIns="0" rtlCol="0" anchor="ctr"/>
          <a:lstStyle/>
          <a:p>
            <a:pPr indent="0" marL="0">
              <a:lnSpc>
                <a:spcPct val="125000"/>
              </a:lnSpc>
              <a:buNone/>
            </a:pPr>
            <a:r>
              <a:rPr lang="en-US" sz="1250" dirty="0">
                <a:solidFill>
                  <a:srgbClr val="1C2530"/>
                </a:solidFill>
                <a:latin typeface="Calibri" pitchFamily="34" charset="0"/>
                <a:ea typeface="Calibri" pitchFamily="34" charset="-122"/>
                <a:cs typeface="Calibri" pitchFamily="34" charset="-120"/>
              </a:rPr>
              <a:t>Lập 3 chỉ mục song song: FAISS (dense vector) + BM25 (từ khoá) + block lớn (cho summary).</a:t>
            </a:r>
            <a:endParaRPr lang="en-US" sz="1250" dirty="0"/>
          </a:p>
        </p:txBody>
      </p:sp>
      <p:sp>
        <p:nvSpPr>
          <p:cNvPr id="21" name="Shape 14"/>
          <p:cNvSpPr/>
          <p:nvPr/>
        </p:nvSpPr>
        <p:spPr>
          <a:xfrm>
            <a:off x="548640" y="5349240"/>
            <a:ext cx="11091672" cy="685800"/>
          </a:xfrm>
          <a:prstGeom prst="roundRect">
            <a:avLst>
              <a:gd name="adj" fmla="val 10667"/>
            </a:avLst>
          </a:prstGeom>
          <a:solidFill>
            <a:srgbClr val="F4F7FA"/>
          </a:solidFill>
          <a:ln/>
        </p:spPr>
      </p:sp>
      <p:sp>
        <p:nvSpPr>
          <p:cNvPr id="22" name="Text 15"/>
          <p:cNvSpPr/>
          <p:nvPr/>
        </p:nvSpPr>
        <p:spPr>
          <a:xfrm>
            <a:off x="868680" y="5349240"/>
            <a:ext cx="10451592" cy="68580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Kết quả: </a:t>
            </a:r>
            <a:pPr indent="0" marL="0">
              <a:buNone/>
            </a:pPr>
            <a:r>
              <a:rPr lang="en-US" sz="1300" dirty="0">
                <a:solidFill>
                  <a:srgbClr val="1C2530"/>
                </a:solidFill>
                <a:latin typeface="Calibri" pitchFamily="34" charset="0"/>
                <a:ea typeface="Calibri" pitchFamily="34" charset="-122"/>
                <a:cs typeface="Calibri" pitchFamily="34" charset="-120"/>
              </a:rPr>
              <a:t>mỗi tài liệu được biểu diễn ở 3 lớp truy xuất bổ trợ nhau — vector ngữ nghĩa, từ khoá chính xác, và khối lớn cho tóm tắt.</a:t>
            </a:r>
            <a:endParaRPr lang="en-US" sz="1300" dirty="0"/>
          </a:p>
        </p:txBody>
      </p:sp>
      <p:sp>
        <p:nvSpPr>
          <p:cNvPr id="23" name="Text 16"/>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05</a:t>
            </a:r>
            <a:endParaRPr lang="en-US" sz="1000" dirty="0"/>
          </a:p>
        </p:txBody>
      </p:sp>
      <p:sp>
        <p:nvSpPr>
          <p:cNvPr id="24" name="Text 17"/>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InsightAI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2E6F95"/>
                </a:solidFill>
                <a:latin typeface="Calibri" pitchFamily="34" charset="0"/>
                <a:ea typeface="Calibri" pitchFamily="34" charset="-122"/>
                <a:cs typeface="Calibri" pitchFamily="34" charset="-120"/>
              </a:rPr>
              <a:t>05 — GIAI ĐOẠN 2</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Quy trình truy vấn: Query Router</a:t>
            </a:r>
            <a:endParaRPr lang="en-US" sz="3200" dirty="0"/>
          </a:p>
        </p:txBody>
      </p:sp>
      <p:sp>
        <p:nvSpPr>
          <p:cNvPr id="4" name="Shape 2"/>
          <p:cNvSpPr/>
          <p:nvPr/>
        </p:nvSpPr>
        <p:spPr>
          <a:xfrm>
            <a:off x="548640" y="1783080"/>
            <a:ext cx="3017520" cy="3931920"/>
          </a:xfrm>
          <a:prstGeom prst="roundRect">
            <a:avLst>
              <a:gd name="adj" fmla="val 2424"/>
            </a:avLst>
          </a:prstGeom>
          <a:solidFill>
            <a:srgbClr val="EAF0F5"/>
          </a:solidFill>
          <a:ln/>
          <a:effectLst>
            <a:outerShdw sx="100000" sy="100000" kx="0" ky="0" algn="bl" rotWithShape="0" blurRad="88900" dist="25400" dir="5400000">
              <a:srgbClr val="1F3A5F">
                <a:alpha val="10000"/>
              </a:srgbClr>
            </a:outerShdw>
          </a:effectLst>
        </p:spPr>
      </p:sp>
      <p:sp>
        <p:nvSpPr>
          <p:cNvPr id="5" name="Shape 3"/>
          <p:cNvSpPr/>
          <p:nvPr/>
        </p:nvSpPr>
        <p:spPr>
          <a:xfrm>
            <a:off x="868680" y="2103120"/>
            <a:ext cx="640080" cy="640080"/>
          </a:xfrm>
          <a:prstGeom prst="ellipse">
            <a:avLst/>
          </a:prstGeom>
          <a:solidFill>
            <a:srgbClr val="FFFFFF"/>
          </a:solidFill>
          <a:ln/>
        </p:spPr>
      </p:sp>
      <p:pic>
        <p:nvPicPr>
          <p:cNvPr id="6" name="Image 0" descr="/home/claude/insightai/assets/route_primary.png">    </p:cNvPr>
          <p:cNvPicPr>
            <a:picLocks noChangeAspect="1"/>
          </p:cNvPicPr>
          <p:nvPr/>
        </p:nvPicPr>
        <p:blipFill>
          <a:blip r:embed="rId1"/>
          <a:stretch>
            <a:fillRect/>
          </a:stretch>
        </p:blipFill>
        <p:spPr>
          <a:xfrm>
            <a:off x="971093" y="2205533"/>
            <a:ext cx="435254" cy="435254"/>
          </a:xfrm>
          <a:prstGeom prst="rect">
            <a:avLst/>
          </a:prstGeom>
        </p:spPr>
      </p:pic>
      <p:sp>
        <p:nvSpPr>
          <p:cNvPr id="7" name="Text 4"/>
          <p:cNvSpPr/>
          <p:nvPr/>
        </p:nvSpPr>
        <p:spPr>
          <a:xfrm>
            <a:off x="868680" y="2880360"/>
            <a:ext cx="2377440" cy="365760"/>
          </a:xfrm>
          <a:prstGeom prst="rect">
            <a:avLst/>
          </a:prstGeom>
          <a:noFill/>
          <a:ln/>
        </p:spPr>
        <p:txBody>
          <a:bodyPr wrap="square" lIns="0" tIns="0" rIns="0" bIns="0" rtlCol="0" anchor="ctr"/>
          <a:lstStyle/>
          <a:p>
            <a:pPr indent="0" marL="0">
              <a:buNone/>
            </a:pPr>
            <a:r>
              <a:rPr lang="en-US" sz="1600" b="1" dirty="0">
                <a:solidFill>
                  <a:srgbClr val="1F3A5F"/>
                </a:solidFill>
                <a:latin typeface="Cambria" pitchFamily="34" charset="0"/>
                <a:ea typeface="Cambria" pitchFamily="34" charset="-122"/>
                <a:cs typeface="Cambria" pitchFamily="34" charset="-120"/>
              </a:rPr>
              <a:t>Viết lại truy vấn</a:t>
            </a:r>
            <a:endParaRPr lang="en-US" sz="1600" dirty="0"/>
          </a:p>
        </p:txBody>
      </p:sp>
      <p:sp>
        <p:nvSpPr>
          <p:cNvPr id="8" name="Text 5"/>
          <p:cNvSpPr/>
          <p:nvPr/>
        </p:nvSpPr>
        <p:spPr>
          <a:xfrm>
            <a:off x="868680" y="3291840"/>
            <a:ext cx="2377440" cy="2240280"/>
          </a:xfrm>
          <a:prstGeom prst="rect">
            <a:avLst/>
          </a:prstGeom>
          <a:noFill/>
          <a:ln/>
        </p:spPr>
        <p:txBody>
          <a:bodyPr wrap="square" lIns="0" tIns="0" rIns="0" bIns="0" rtlCol="0" anchor="ctr"/>
          <a:lstStyle/>
          <a:p>
            <a:pPr indent="0" marL="0">
              <a:lnSpc>
                <a:spcPct val="125000"/>
              </a:lnSpc>
              <a:buNone/>
            </a:pPr>
            <a:r>
              <a:rPr lang="en-US" sz="1250" dirty="0">
                <a:solidFill>
                  <a:srgbClr val="1C2530"/>
                </a:solidFill>
                <a:latin typeface="Calibri" pitchFamily="34" charset="0"/>
                <a:ea typeface="Calibri" pitchFamily="34" charset="-122"/>
                <a:cs typeface="Calibri" pitchFamily="34" charset="-120"/>
              </a:rPr>
              <a:t>Dựa vào lịch sử hội thoại, câu hỏi được viết lại đầy đủ ngữ cảnh (xử lý đại từ, câu hỏi nối tiếp).</a:t>
            </a:r>
            <a:endParaRPr lang="en-US" sz="1250" dirty="0"/>
          </a:p>
        </p:txBody>
      </p:sp>
      <p:pic>
        <p:nvPicPr>
          <p:cNvPr id="9" name="Image 1" descr="/home/claude/insightai/assets/arrow_primary.png">    </p:cNvPr>
          <p:cNvPicPr>
            <a:picLocks noChangeAspect="1"/>
          </p:cNvPicPr>
          <p:nvPr/>
        </p:nvPicPr>
        <p:blipFill>
          <a:blip r:embed="rId2"/>
          <a:stretch>
            <a:fillRect/>
          </a:stretch>
        </p:blipFill>
        <p:spPr>
          <a:xfrm>
            <a:off x="3630168" y="3630168"/>
            <a:ext cx="246888" cy="246888"/>
          </a:xfrm>
          <a:prstGeom prst="rect">
            <a:avLst/>
          </a:prstGeom>
        </p:spPr>
      </p:pic>
      <p:sp>
        <p:nvSpPr>
          <p:cNvPr id="10" name="Shape 6"/>
          <p:cNvSpPr/>
          <p:nvPr/>
        </p:nvSpPr>
        <p:spPr>
          <a:xfrm>
            <a:off x="4023360" y="1783080"/>
            <a:ext cx="3017520" cy="3931920"/>
          </a:xfrm>
          <a:prstGeom prst="roundRect">
            <a:avLst>
              <a:gd name="adj" fmla="val 2424"/>
            </a:avLst>
          </a:prstGeom>
          <a:solidFill>
            <a:srgbClr val="1F3A5F"/>
          </a:solidFill>
          <a:ln/>
          <a:effectLst>
            <a:outerShdw sx="100000" sy="100000" kx="0" ky="0" algn="bl" rotWithShape="0" blurRad="88900" dist="25400" dir="5400000">
              <a:srgbClr val="1F3A5F">
                <a:alpha val="10000"/>
              </a:srgbClr>
            </a:outerShdw>
          </a:effectLst>
        </p:spPr>
      </p:sp>
      <p:sp>
        <p:nvSpPr>
          <p:cNvPr id="11" name="Shape 7"/>
          <p:cNvSpPr/>
          <p:nvPr/>
        </p:nvSpPr>
        <p:spPr>
          <a:xfrm>
            <a:off x="4343400" y="2103120"/>
            <a:ext cx="640080" cy="640080"/>
          </a:xfrm>
          <a:prstGeom prst="ellipse">
            <a:avLst/>
          </a:prstGeom>
          <a:solidFill>
            <a:srgbClr val="33567B"/>
          </a:solidFill>
          <a:ln/>
        </p:spPr>
      </p:sp>
      <p:pic>
        <p:nvPicPr>
          <p:cNvPr id="12" name="Image 2" descr="/home/claude/insightai/assets/branch_white.png">    </p:cNvPr>
          <p:cNvPicPr>
            <a:picLocks noChangeAspect="1"/>
          </p:cNvPicPr>
          <p:nvPr/>
        </p:nvPicPr>
        <p:blipFill>
          <a:blip r:embed="rId3"/>
          <a:stretch>
            <a:fillRect/>
          </a:stretch>
        </p:blipFill>
        <p:spPr>
          <a:xfrm>
            <a:off x="4445813" y="2205533"/>
            <a:ext cx="435254" cy="435254"/>
          </a:xfrm>
          <a:prstGeom prst="rect">
            <a:avLst/>
          </a:prstGeom>
        </p:spPr>
      </p:pic>
      <p:sp>
        <p:nvSpPr>
          <p:cNvPr id="13" name="Text 8"/>
          <p:cNvSpPr/>
          <p:nvPr/>
        </p:nvSpPr>
        <p:spPr>
          <a:xfrm>
            <a:off x="4343400" y="2880360"/>
            <a:ext cx="237744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Phân loại câu hỏi</a:t>
            </a:r>
            <a:endParaRPr lang="en-US" sz="1600" dirty="0"/>
          </a:p>
        </p:txBody>
      </p:sp>
      <p:sp>
        <p:nvSpPr>
          <p:cNvPr id="14" name="Text 9"/>
          <p:cNvSpPr/>
          <p:nvPr/>
        </p:nvSpPr>
        <p:spPr>
          <a:xfrm>
            <a:off x="4343400" y="3291840"/>
            <a:ext cx="2377440" cy="2240280"/>
          </a:xfrm>
          <a:prstGeom prst="rect">
            <a:avLst/>
          </a:prstGeom>
          <a:noFill/>
          <a:ln/>
        </p:spPr>
        <p:txBody>
          <a:bodyPr wrap="square" lIns="0" tIns="0" rIns="0" bIns="0" rtlCol="0" anchor="ctr"/>
          <a:lstStyle/>
          <a:p>
            <a:pPr indent="0" marL="0">
              <a:lnSpc>
                <a:spcPct val="125000"/>
              </a:lnSpc>
              <a:buNone/>
            </a:pPr>
            <a:r>
              <a:rPr lang="en-US" sz="1250" dirty="0">
                <a:solidFill>
                  <a:srgbClr val="D7E4EE"/>
                </a:solidFill>
                <a:latin typeface="Calibri" pitchFamily="34" charset="0"/>
                <a:ea typeface="Calibri" pitchFamily="34" charset="-122"/>
                <a:cs typeface="Calibri" pitchFamily="34" charset="-120"/>
              </a:rPr>
              <a:t>Xác định ý định: câu hỏi tra cứu sự kiện (fact) hay yêu cầu tổng hợp / tóm tắt (summary)?</a:t>
            </a:r>
            <a:endParaRPr lang="en-US" sz="1250" dirty="0"/>
          </a:p>
        </p:txBody>
      </p:sp>
      <p:pic>
        <p:nvPicPr>
          <p:cNvPr id="15" name="Image 3" descr="/home/claude/insightai/assets/arrow_primary.png">    </p:cNvPr>
          <p:cNvPicPr>
            <a:picLocks noChangeAspect="1"/>
          </p:cNvPicPr>
          <p:nvPr/>
        </p:nvPicPr>
        <p:blipFill>
          <a:blip r:embed="rId4"/>
          <a:stretch>
            <a:fillRect/>
          </a:stretch>
        </p:blipFill>
        <p:spPr>
          <a:xfrm>
            <a:off x="7104888" y="3630168"/>
            <a:ext cx="246888" cy="246888"/>
          </a:xfrm>
          <a:prstGeom prst="rect">
            <a:avLst/>
          </a:prstGeom>
        </p:spPr>
      </p:pic>
      <p:sp>
        <p:nvSpPr>
          <p:cNvPr id="16" name="Shape 10"/>
          <p:cNvSpPr/>
          <p:nvPr/>
        </p:nvSpPr>
        <p:spPr>
          <a:xfrm>
            <a:off x="7498080" y="1783080"/>
            <a:ext cx="4142232" cy="1851660"/>
          </a:xfrm>
          <a:prstGeom prst="roundRect">
            <a:avLst>
              <a:gd name="adj" fmla="val 3951"/>
            </a:avLst>
          </a:prstGeom>
          <a:solidFill>
            <a:srgbClr val="EAF0F5"/>
          </a:solidFill>
          <a:ln/>
          <a:effectLst>
            <a:outerShdw sx="100000" sy="100000" kx="0" ky="0" algn="bl" rotWithShape="0" blurRad="88900" dist="25400" dir="5400000">
              <a:srgbClr val="1F3A5F">
                <a:alpha val="10000"/>
              </a:srgbClr>
            </a:outerShdw>
          </a:effectLst>
        </p:spPr>
      </p:sp>
      <p:sp>
        <p:nvSpPr>
          <p:cNvPr id="17" name="Shape 11"/>
          <p:cNvSpPr/>
          <p:nvPr/>
        </p:nvSpPr>
        <p:spPr>
          <a:xfrm>
            <a:off x="7772400" y="2434590"/>
            <a:ext cx="548640" cy="548640"/>
          </a:xfrm>
          <a:prstGeom prst="ellipse">
            <a:avLst/>
          </a:prstGeom>
          <a:solidFill>
            <a:srgbClr val="FFFFFF"/>
          </a:solidFill>
          <a:ln/>
        </p:spPr>
      </p:sp>
      <p:pic>
        <p:nvPicPr>
          <p:cNvPr id="18" name="Image 4" descr="/home/claude/insightai/assets/sort_primary.png">    </p:cNvPr>
          <p:cNvPicPr>
            <a:picLocks noChangeAspect="1"/>
          </p:cNvPicPr>
          <p:nvPr/>
        </p:nvPicPr>
        <p:blipFill>
          <a:blip r:embed="rId5"/>
          <a:stretch>
            <a:fillRect/>
          </a:stretch>
        </p:blipFill>
        <p:spPr>
          <a:xfrm>
            <a:off x="7849210" y="2511400"/>
            <a:ext cx="395021" cy="395021"/>
          </a:xfrm>
          <a:prstGeom prst="rect">
            <a:avLst/>
          </a:prstGeom>
        </p:spPr>
      </p:pic>
      <p:sp>
        <p:nvSpPr>
          <p:cNvPr id="19" name="Text 12"/>
          <p:cNvSpPr/>
          <p:nvPr/>
        </p:nvSpPr>
        <p:spPr>
          <a:xfrm>
            <a:off x="8458200" y="1947672"/>
            <a:ext cx="2953512" cy="1522476"/>
          </a:xfrm>
          <a:prstGeom prst="rect">
            <a:avLst/>
          </a:prstGeom>
          <a:noFill/>
          <a:ln/>
        </p:spPr>
        <p:txBody>
          <a:bodyPr wrap="square" lIns="0" tIns="0" rIns="0" bIns="0" rtlCol="0" anchor="ctr"/>
          <a:lstStyle/>
          <a:p>
            <a:pPr indent="0" marL="0">
              <a:lnSpc>
                <a:spcPct val="120000"/>
              </a:lnSpc>
              <a:buNone/>
            </a:pPr>
            <a:r>
              <a:rPr lang="en-US" sz="1350" b="1" dirty="0">
                <a:solidFill>
                  <a:srgbClr val="1F3A5F"/>
                </a:solidFill>
                <a:latin typeface="Calibri" pitchFamily="34" charset="0"/>
                <a:ea typeface="Calibri" pitchFamily="34" charset="-122"/>
                <a:cs typeface="Calibri" pitchFamily="34" charset="-120"/>
              </a:rPr>
              <a:t>Fact Pipeline</a:t>
            </a:r>
            <a:endParaRPr lang="en-US" sz="1350" dirty="0"/>
          </a:p>
          <a:p>
            <a:pPr indent="0" marL="0">
              <a:lnSpc>
                <a:spcPct val="120000"/>
              </a:lnSpc>
              <a:buNone/>
            </a:pPr>
            <a:r>
              <a:rPr lang="en-US" sz="1150" dirty="0">
                <a:solidFill>
                  <a:srgbClr val="5B6B7C"/>
                </a:solidFill>
                <a:latin typeface="Calibri" pitchFamily="34" charset="0"/>
                <a:ea typeface="Calibri" pitchFamily="34" charset="-122"/>
                <a:cs typeface="Calibri" pitchFamily="34" charset="-120"/>
              </a:rPr>
              <a:t>Truy xuất chính xác, có trích dẫn</a:t>
            </a:r>
            <a:endParaRPr lang="en-US" sz="1350" dirty="0"/>
          </a:p>
        </p:txBody>
      </p:sp>
      <p:sp>
        <p:nvSpPr>
          <p:cNvPr id="20" name="Shape 13"/>
          <p:cNvSpPr/>
          <p:nvPr/>
        </p:nvSpPr>
        <p:spPr>
          <a:xfrm>
            <a:off x="7498080" y="3863340"/>
            <a:ext cx="4142232" cy="1851660"/>
          </a:xfrm>
          <a:prstGeom prst="roundRect">
            <a:avLst>
              <a:gd name="adj" fmla="val 3951"/>
            </a:avLst>
          </a:prstGeom>
          <a:solidFill>
            <a:srgbClr val="EAF0F5"/>
          </a:solidFill>
          <a:ln/>
          <a:effectLst>
            <a:outerShdw sx="100000" sy="100000" kx="0" ky="0" algn="bl" rotWithShape="0" blurRad="88900" dist="25400" dir="5400000">
              <a:srgbClr val="1F3A5F">
                <a:alpha val="10000"/>
              </a:srgbClr>
            </a:outerShdw>
          </a:effectLst>
        </p:spPr>
      </p:sp>
      <p:sp>
        <p:nvSpPr>
          <p:cNvPr id="21" name="Shape 14"/>
          <p:cNvSpPr/>
          <p:nvPr/>
        </p:nvSpPr>
        <p:spPr>
          <a:xfrm>
            <a:off x="7772400" y="4514850"/>
            <a:ext cx="548640" cy="548640"/>
          </a:xfrm>
          <a:prstGeom prst="ellipse">
            <a:avLst/>
          </a:prstGeom>
          <a:solidFill>
            <a:srgbClr val="FFFFFF"/>
          </a:solidFill>
          <a:ln/>
        </p:spPr>
      </p:sp>
      <p:pic>
        <p:nvPicPr>
          <p:cNvPr id="22" name="Image 5" descr="/home/claude/insightai/assets/summarize_primary.png">    </p:cNvPr>
          <p:cNvPicPr>
            <a:picLocks noChangeAspect="1"/>
          </p:cNvPicPr>
          <p:nvPr/>
        </p:nvPicPr>
        <p:blipFill>
          <a:blip r:embed="rId6"/>
          <a:stretch>
            <a:fillRect/>
          </a:stretch>
        </p:blipFill>
        <p:spPr>
          <a:xfrm>
            <a:off x="7849210" y="4591660"/>
            <a:ext cx="395021" cy="395021"/>
          </a:xfrm>
          <a:prstGeom prst="rect">
            <a:avLst/>
          </a:prstGeom>
        </p:spPr>
      </p:pic>
      <p:sp>
        <p:nvSpPr>
          <p:cNvPr id="23" name="Text 15"/>
          <p:cNvSpPr/>
          <p:nvPr/>
        </p:nvSpPr>
        <p:spPr>
          <a:xfrm>
            <a:off x="8458200" y="4027932"/>
            <a:ext cx="2953512" cy="1522476"/>
          </a:xfrm>
          <a:prstGeom prst="rect">
            <a:avLst/>
          </a:prstGeom>
          <a:noFill/>
          <a:ln/>
        </p:spPr>
        <p:txBody>
          <a:bodyPr wrap="square" lIns="0" tIns="0" rIns="0" bIns="0" rtlCol="0" anchor="ctr"/>
          <a:lstStyle/>
          <a:p>
            <a:pPr indent="0" marL="0">
              <a:lnSpc>
                <a:spcPct val="120000"/>
              </a:lnSpc>
              <a:buNone/>
            </a:pPr>
            <a:r>
              <a:rPr lang="en-US" sz="1350" b="1" dirty="0">
                <a:solidFill>
                  <a:srgbClr val="1F3A5F"/>
                </a:solidFill>
                <a:latin typeface="Calibri" pitchFamily="34" charset="0"/>
                <a:ea typeface="Calibri" pitchFamily="34" charset="-122"/>
                <a:cs typeface="Calibri" pitchFamily="34" charset="-120"/>
              </a:rPr>
              <a:t>Summary Pipeline</a:t>
            </a:r>
            <a:endParaRPr lang="en-US" sz="1350" dirty="0"/>
          </a:p>
          <a:p>
            <a:pPr indent="0" marL="0">
              <a:lnSpc>
                <a:spcPct val="120000"/>
              </a:lnSpc>
              <a:buNone/>
            </a:pPr>
            <a:r>
              <a:rPr lang="en-US" sz="1150" dirty="0">
                <a:solidFill>
                  <a:srgbClr val="5B6B7C"/>
                </a:solidFill>
                <a:latin typeface="Calibri" pitchFamily="34" charset="0"/>
                <a:ea typeface="Calibri" pitchFamily="34" charset="-122"/>
                <a:cs typeface="Calibri" pitchFamily="34" charset="-120"/>
              </a:rPr>
              <a:t>Tổng hợp, tóm tắt đa đoạn</a:t>
            </a:r>
            <a:endParaRPr lang="en-US" sz="1350" dirty="0"/>
          </a:p>
        </p:txBody>
      </p:sp>
      <p:sp>
        <p:nvSpPr>
          <p:cNvPr id="24" name="Text 16"/>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06</a:t>
            </a:r>
            <a:endParaRPr lang="en-US" sz="1000" dirty="0"/>
          </a:p>
        </p:txBody>
      </p:sp>
      <p:sp>
        <p:nvSpPr>
          <p:cNvPr id="25" name="Text 17"/>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InsightAI</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2E6F95"/>
                </a:solidFill>
                <a:latin typeface="Calibri" pitchFamily="34" charset="0"/>
                <a:ea typeface="Calibri" pitchFamily="34" charset="-122"/>
                <a:cs typeface="Calibri" pitchFamily="34" charset="-120"/>
              </a:rPr>
              <a:t>06 — GIAI ĐOẠN 3A</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Fact Pipeline: truy xuất chính xác</a:t>
            </a:r>
            <a:endParaRPr lang="en-US" sz="3200" dirty="0"/>
          </a:p>
        </p:txBody>
      </p:sp>
      <p:sp>
        <p:nvSpPr>
          <p:cNvPr id="4" name="Shape 2"/>
          <p:cNvSpPr/>
          <p:nvPr/>
        </p:nvSpPr>
        <p:spPr>
          <a:xfrm>
            <a:off x="548640" y="2103120"/>
            <a:ext cx="1984248" cy="2743200"/>
          </a:xfrm>
          <a:prstGeom prst="roundRect">
            <a:avLst>
              <a:gd name="adj" fmla="val 3687"/>
            </a:avLst>
          </a:prstGeom>
          <a:solidFill>
            <a:srgbClr val="EAF0F5"/>
          </a:solidFill>
          <a:ln/>
          <a:effectLst>
            <a:outerShdw sx="100000" sy="100000" kx="0" ky="0" algn="bl" rotWithShape="0" blurRad="88900" dist="25400" dir="5400000">
              <a:srgbClr val="1F3A5F">
                <a:alpha val="10000"/>
              </a:srgbClr>
            </a:outerShdw>
          </a:effectLst>
        </p:spPr>
      </p:sp>
      <p:sp>
        <p:nvSpPr>
          <p:cNvPr id="5" name="Shape 3"/>
          <p:cNvSpPr/>
          <p:nvPr/>
        </p:nvSpPr>
        <p:spPr>
          <a:xfrm>
            <a:off x="1220724" y="2423160"/>
            <a:ext cx="640080" cy="640080"/>
          </a:xfrm>
          <a:prstGeom prst="ellipse">
            <a:avLst/>
          </a:prstGeom>
          <a:solidFill>
            <a:srgbClr val="FFFFFF"/>
          </a:solidFill>
          <a:ln/>
        </p:spPr>
      </p:sp>
      <p:pic>
        <p:nvPicPr>
          <p:cNvPr id="6" name="Image 0" descr="/home/claude/insightai/assets/search_primary.png">    </p:cNvPr>
          <p:cNvPicPr>
            <a:picLocks noChangeAspect="1"/>
          </p:cNvPicPr>
          <p:nvPr/>
        </p:nvPicPr>
        <p:blipFill>
          <a:blip r:embed="rId1"/>
          <a:stretch>
            <a:fillRect/>
          </a:stretch>
        </p:blipFill>
        <p:spPr>
          <a:xfrm>
            <a:off x="1316736" y="2519172"/>
            <a:ext cx="448056" cy="448056"/>
          </a:xfrm>
          <a:prstGeom prst="rect">
            <a:avLst/>
          </a:prstGeom>
        </p:spPr>
      </p:pic>
      <p:sp>
        <p:nvSpPr>
          <p:cNvPr id="7" name="Text 4"/>
          <p:cNvSpPr/>
          <p:nvPr/>
        </p:nvSpPr>
        <p:spPr>
          <a:xfrm>
            <a:off x="658368" y="3246120"/>
            <a:ext cx="1764792" cy="411480"/>
          </a:xfrm>
          <a:prstGeom prst="rect">
            <a:avLst/>
          </a:prstGeom>
          <a:noFill/>
          <a:ln/>
        </p:spPr>
        <p:txBody>
          <a:bodyPr wrap="square" lIns="0" tIns="0" rIns="0" bIns="0" rtlCol="0" anchor="ctr"/>
          <a:lstStyle/>
          <a:p>
            <a:pPr algn="ctr" indent="0" marL="0">
              <a:buNone/>
            </a:pPr>
            <a:r>
              <a:rPr lang="en-US" sz="1450" b="1" dirty="0">
                <a:solidFill>
                  <a:srgbClr val="1F3A5F"/>
                </a:solidFill>
                <a:latin typeface="Cambria" pitchFamily="34" charset="0"/>
                <a:ea typeface="Cambria" pitchFamily="34" charset="-122"/>
                <a:cs typeface="Cambria" pitchFamily="34" charset="-120"/>
              </a:rPr>
              <a:t>BM25</a:t>
            </a:r>
            <a:endParaRPr lang="en-US" sz="1450" dirty="0"/>
          </a:p>
        </p:txBody>
      </p:sp>
      <p:sp>
        <p:nvSpPr>
          <p:cNvPr id="8" name="Text 5"/>
          <p:cNvSpPr/>
          <p:nvPr/>
        </p:nvSpPr>
        <p:spPr>
          <a:xfrm>
            <a:off x="658368" y="3675888"/>
            <a:ext cx="1764792" cy="1005840"/>
          </a:xfrm>
          <a:prstGeom prst="rect">
            <a:avLst/>
          </a:prstGeom>
          <a:noFill/>
          <a:ln/>
        </p:spPr>
        <p:txBody>
          <a:bodyPr wrap="square" lIns="0" tIns="0" rIns="0" bIns="0" rtlCol="0" anchor="ctr"/>
          <a:lstStyle/>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Tìm theo</a:t>
            </a:r>
            <a:endParaRPr lang="en-US" sz="1100" dirty="0"/>
          </a:p>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từ khoá</a:t>
            </a:r>
            <a:endParaRPr lang="en-US" sz="1100" dirty="0"/>
          </a:p>
        </p:txBody>
      </p:sp>
      <p:sp>
        <p:nvSpPr>
          <p:cNvPr id="9" name="Text 6"/>
          <p:cNvSpPr/>
          <p:nvPr/>
        </p:nvSpPr>
        <p:spPr>
          <a:xfrm>
            <a:off x="658368" y="2157984"/>
            <a:ext cx="365760" cy="274320"/>
          </a:xfrm>
          <a:prstGeom prst="rect">
            <a:avLst/>
          </a:prstGeom>
          <a:noFill/>
          <a:ln/>
        </p:spPr>
        <p:txBody>
          <a:bodyPr wrap="square" lIns="0" tIns="0" rIns="0" bIns="0" rtlCol="0" anchor="ctr"/>
          <a:lstStyle/>
          <a:p>
            <a:pPr indent="0" marL="0">
              <a:buNone/>
            </a:pPr>
            <a:r>
              <a:rPr lang="en-US" sz="1100" b="1" dirty="0">
                <a:solidFill>
                  <a:srgbClr val="2E6F95"/>
                </a:solidFill>
                <a:latin typeface="Calibri" pitchFamily="34" charset="0"/>
                <a:ea typeface="Calibri" pitchFamily="34" charset="-122"/>
                <a:cs typeface="Calibri" pitchFamily="34" charset="-120"/>
              </a:rPr>
              <a:t>1</a:t>
            </a:r>
            <a:endParaRPr lang="en-US" sz="1100" dirty="0"/>
          </a:p>
        </p:txBody>
      </p:sp>
      <p:pic>
        <p:nvPicPr>
          <p:cNvPr id="10" name="Image 1" descr="/home/claude/insightai/assets/arrow_primary.png">    </p:cNvPr>
          <p:cNvPicPr>
            <a:picLocks noChangeAspect="1"/>
          </p:cNvPicPr>
          <p:nvPr/>
        </p:nvPicPr>
        <p:blipFill>
          <a:blip r:embed="rId2"/>
          <a:stretch>
            <a:fillRect/>
          </a:stretch>
        </p:blipFill>
        <p:spPr>
          <a:xfrm>
            <a:off x="2551176" y="3364992"/>
            <a:ext cx="219456" cy="219456"/>
          </a:xfrm>
          <a:prstGeom prst="rect">
            <a:avLst/>
          </a:prstGeom>
        </p:spPr>
      </p:pic>
      <p:sp>
        <p:nvSpPr>
          <p:cNvPr id="11" name="Shape 7"/>
          <p:cNvSpPr/>
          <p:nvPr/>
        </p:nvSpPr>
        <p:spPr>
          <a:xfrm>
            <a:off x="2825496" y="2103120"/>
            <a:ext cx="1984248" cy="2743200"/>
          </a:xfrm>
          <a:prstGeom prst="roundRect">
            <a:avLst>
              <a:gd name="adj" fmla="val 3687"/>
            </a:avLst>
          </a:prstGeom>
          <a:solidFill>
            <a:srgbClr val="EAF0F5"/>
          </a:solidFill>
          <a:ln/>
          <a:effectLst>
            <a:outerShdw sx="100000" sy="100000" kx="0" ky="0" algn="bl" rotWithShape="0" blurRad="88900" dist="25400" dir="5400000">
              <a:srgbClr val="1F3A5F">
                <a:alpha val="10000"/>
              </a:srgbClr>
            </a:outerShdw>
          </a:effectLst>
        </p:spPr>
      </p:sp>
      <p:sp>
        <p:nvSpPr>
          <p:cNvPr id="12" name="Shape 8"/>
          <p:cNvSpPr/>
          <p:nvPr/>
        </p:nvSpPr>
        <p:spPr>
          <a:xfrm>
            <a:off x="3497580" y="2423160"/>
            <a:ext cx="640080" cy="640080"/>
          </a:xfrm>
          <a:prstGeom prst="ellipse">
            <a:avLst/>
          </a:prstGeom>
          <a:solidFill>
            <a:srgbClr val="FFFFFF"/>
          </a:solidFill>
          <a:ln/>
        </p:spPr>
      </p:sp>
      <p:pic>
        <p:nvPicPr>
          <p:cNvPr id="13" name="Image 2" descr="/home/claude/insightai/assets/brain_primary.png">    </p:cNvPr>
          <p:cNvPicPr>
            <a:picLocks noChangeAspect="1"/>
          </p:cNvPicPr>
          <p:nvPr/>
        </p:nvPicPr>
        <p:blipFill>
          <a:blip r:embed="rId3"/>
          <a:stretch>
            <a:fillRect/>
          </a:stretch>
        </p:blipFill>
        <p:spPr>
          <a:xfrm>
            <a:off x="3593592" y="2519172"/>
            <a:ext cx="448056" cy="448056"/>
          </a:xfrm>
          <a:prstGeom prst="rect">
            <a:avLst/>
          </a:prstGeom>
        </p:spPr>
      </p:pic>
      <p:sp>
        <p:nvSpPr>
          <p:cNvPr id="14" name="Text 9"/>
          <p:cNvSpPr/>
          <p:nvPr/>
        </p:nvSpPr>
        <p:spPr>
          <a:xfrm>
            <a:off x="2935224" y="3246120"/>
            <a:ext cx="1764792" cy="411480"/>
          </a:xfrm>
          <a:prstGeom prst="rect">
            <a:avLst/>
          </a:prstGeom>
          <a:noFill/>
          <a:ln/>
        </p:spPr>
        <p:txBody>
          <a:bodyPr wrap="square" lIns="0" tIns="0" rIns="0" bIns="0" rtlCol="0" anchor="ctr"/>
          <a:lstStyle/>
          <a:p>
            <a:pPr algn="ctr" indent="0" marL="0">
              <a:buNone/>
            </a:pPr>
            <a:r>
              <a:rPr lang="en-US" sz="1450" b="1" dirty="0">
                <a:solidFill>
                  <a:srgbClr val="1F3A5F"/>
                </a:solidFill>
                <a:latin typeface="Cambria" pitchFamily="34" charset="0"/>
                <a:ea typeface="Cambria" pitchFamily="34" charset="-122"/>
                <a:cs typeface="Cambria" pitchFamily="34" charset="-120"/>
              </a:rPr>
              <a:t>Dense Retrieval</a:t>
            </a:r>
            <a:endParaRPr lang="en-US" sz="1450" dirty="0"/>
          </a:p>
        </p:txBody>
      </p:sp>
      <p:sp>
        <p:nvSpPr>
          <p:cNvPr id="15" name="Text 10"/>
          <p:cNvSpPr/>
          <p:nvPr/>
        </p:nvSpPr>
        <p:spPr>
          <a:xfrm>
            <a:off x="2935224" y="3675888"/>
            <a:ext cx="1764792" cy="1005840"/>
          </a:xfrm>
          <a:prstGeom prst="rect">
            <a:avLst/>
          </a:prstGeom>
          <a:noFill/>
          <a:ln/>
        </p:spPr>
        <p:txBody>
          <a:bodyPr wrap="square" lIns="0" tIns="0" rIns="0" bIns="0" rtlCol="0" anchor="ctr"/>
          <a:lstStyle/>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 HyDE nếu là</a:t>
            </a:r>
            <a:endParaRPr lang="en-US" sz="1100" dirty="0"/>
          </a:p>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academic paper</a:t>
            </a:r>
            <a:endParaRPr lang="en-US" sz="1100" dirty="0"/>
          </a:p>
        </p:txBody>
      </p:sp>
      <p:sp>
        <p:nvSpPr>
          <p:cNvPr id="16" name="Text 11"/>
          <p:cNvSpPr/>
          <p:nvPr/>
        </p:nvSpPr>
        <p:spPr>
          <a:xfrm>
            <a:off x="2935224" y="2157984"/>
            <a:ext cx="365760" cy="274320"/>
          </a:xfrm>
          <a:prstGeom prst="rect">
            <a:avLst/>
          </a:prstGeom>
          <a:noFill/>
          <a:ln/>
        </p:spPr>
        <p:txBody>
          <a:bodyPr wrap="square" lIns="0" tIns="0" rIns="0" bIns="0" rtlCol="0" anchor="ctr"/>
          <a:lstStyle/>
          <a:p>
            <a:pPr indent="0" marL="0">
              <a:buNone/>
            </a:pPr>
            <a:r>
              <a:rPr lang="en-US" sz="1100" b="1" dirty="0">
                <a:solidFill>
                  <a:srgbClr val="2E6F95"/>
                </a:solidFill>
                <a:latin typeface="Calibri" pitchFamily="34" charset="0"/>
                <a:ea typeface="Calibri" pitchFamily="34" charset="-122"/>
                <a:cs typeface="Calibri" pitchFamily="34" charset="-120"/>
              </a:rPr>
              <a:t>2</a:t>
            </a:r>
            <a:endParaRPr lang="en-US" sz="1100" dirty="0"/>
          </a:p>
        </p:txBody>
      </p:sp>
      <p:pic>
        <p:nvPicPr>
          <p:cNvPr id="17" name="Image 3" descr="/home/claude/insightai/assets/arrow_primary.png">    </p:cNvPr>
          <p:cNvPicPr>
            <a:picLocks noChangeAspect="1"/>
          </p:cNvPicPr>
          <p:nvPr/>
        </p:nvPicPr>
        <p:blipFill>
          <a:blip r:embed="rId4"/>
          <a:stretch>
            <a:fillRect/>
          </a:stretch>
        </p:blipFill>
        <p:spPr>
          <a:xfrm>
            <a:off x="4828032" y="3364992"/>
            <a:ext cx="219456" cy="219456"/>
          </a:xfrm>
          <a:prstGeom prst="rect">
            <a:avLst/>
          </a:prstGeom>
        </p:spPr>
      </p:pic>
      <p:sp>
        <p:nvSpPr>
          <p:cNvPr id="18" name="Shape 12"/>
          <p:cNvSpPr/>
          <p:nvPr/>
        </p:nvSpPr>
        <p:spPr>
          <a:xfrm>
            <a:off x="5102352" y="2103120"/>
            <a:ext cx="1984248" cy="2743200"/>
          </a:xfrm>
          <a:prstGeom prst="roundRect">
            <a:avLst>
              <a:gd name="adj" fmla="val 3687"/>
            </a:avLst>
          </a:prstGeom>
          <a:solidFill>
            <a:srgbClr val="EAF0F5"/>
          </a:solidFill>
          <a:ln/>
          <a:effectLst>
            <a:outerShdw sx="100000" sy="100000" kx="0" ky="0" algn="bl" rotWithShape="0" blurRad="88900" dist="25400" dir="5400000">
              <a:srgbClr val="1F3A5F">
                <a:alpha val="10000"/>
              </a:srgbClr>
            </a:outerShdw>
          </a:effectLst>
        </p:spPr>
      </p:sp>
      <p:sp>
        <p:nvSpPr>
          <p:cNvPr id="19" name="Shape 13"/>
          <p:cNvSpPr/>
          <p:nvPr/>
        </p:nvSpPr>
        <p:spPr>
          <a:xfrm>
            <a:off x="5774436" y="2423160"/>
            <a:ext cx="640080" cy="640080"/>
          </a:xfrm>
          <a:prstGeom prst="ellipse">
            <a:avLst/>
          </a:prstGeom>
          <a:solidFill>
            <a:srgbClr val="FFFFFF"/>
          </a:solidFill>
          <a:ln/>
        </p:spPr>
      </p:sp>
      <p:pic>
        <p:nvPicPr>
          <p:cNvPr id="20" name="Image 4" descr="/home/claude/insightai/assets/sort_primary.png">    </p:cNvPr>
          <p:cNvPicPr>
            <a:picLocks noChangeAspect="1"/>
          </p:cNvPicPr>
          <p:nvPr/>
        </p:nvPicPr>
        <p:blipFill>
          <a:blip r:embed="rId5"/>
          <a:stretch>
            <a:fillRect/>
          </a:stretch>
        </p:blipFill>
        <p:spPr>
          <a:xfrm>
            <a:off x="5870448" y="2519172"/>
            <a:ext cx="448056" cy="448056"/>
          </a:xfrm>
          <a:prstGeom prst="rect">
            <a:avLst/>
          </a:prstGeom>
        </p:spPr>
      </p:pic>
      <p:sp>
        <p:nvSpPr>
          <p:cNvPr id="21" name="Text 14"/>
          <p:cNvSpPr/>
          <p:nvPr/>
        </p:nvSpPr>
        <p:spPr>
          <a:xfrm>
            <a:off x="5212080" y="3246120"/>
            <a:ext cx="1764792" cy="411480"/>
          </a:xfrm>
          <a:prstGeom prst="rect">
            <a:avLst/>
          </a:prstGeom>
          <a:noFill/>
          <a:ln/>
        </p:spPr>
        <p:txBody>
          <a:bodyPr wrap="square" lIns="0" tIns="0" rIns="0" bIns="0" rtlCol="0" anchor="ctr"/>
          <a:lstStyle/>
          <a:p>
            <a:pPr algn="ctr" indent="0" marL="0">
              <a:buNone/>
            </a:pPr>
            <a:r>
              <a:rPr lang="en-US" sz="1450" b="1" dirty="0">
                <a:solidFill>
                  <a:srgbClr val="1F3A5F"/>
                </a:solidFill>
                <a:latin typeface="Cambria" pitchFamily="34" charset="0"/>
                <a:ea typeface="Cambria" pitchFamily="34" charset="-122"/>
                <a:cs typeface="Cambria" pitchFamily="34" charset="-120"/>
              </a:rPr>
              <a:t>RRF Fusion</a:t>
            </a:r>
            <a:endParaRPr lang="en-US" sz="1450" dirty="0"/>
          </a:p>
        </p:txBody>
      </p:sp>
      <p:sp>
        <p:nvSpPr>
          <p:cNvPr id="22" name="Text 15"/>
          <p:cNvSpPr/>
          <p:nvPr/>
        </p:nvSpPr>
        <p:spPr>
          <a:xfrm>
            <a:off x="5212080" y="3675888"/>
            <a:ext cx="1764792" cy="1005840"/>
          </a:xfrm>
          <a:prstGeom prst="rect">
            <a:avLst/>
          </a:prstGeom>
          <a:noFill/>
          <a:ln/>
        </p:spPr>
        <p:txBody>
          <a:bodyPr wrap="square" lIns="0" tIns="0" rIns="0" bIns="0" rtlCol="0" anchor="ctr"/>
          <a:lstStyle/>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Hợp nhất 2 danh</a:t>
            </a:r>
            <a:endParaRPr lang="en-US" sz="1100" dirty="0"/>
          </a:p>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sách kết quả</a:t>
            </a:r>
            <a:endParaRPr lang="en-US" sz="1100" dirty="0"/>
          </a:p>
        </p:txBody>
      </p:sp>
      <p:sp>
        <p:nvSpPr>
          <p:cNvPr id="23" name="Text 16"/>
          <p:cNvSpPr/>
          <p:nvPr/>
        </p:nvSpPr>
        <p:spPr>
          <a:xfrm>
            <a:off x="5212080" y="2157984"/>
            <a:ext cx="365760" cy="274320"/>
          </a:xfrm>
          <a:prstGeom prst="rect">
            <a:avLst/>
          </a:prstGeom>
          <a:noFill/>
          <a:ln/>
        </p:spPr>
        <p:txBody>
          <a:bodyPr wrap="square" lIns="0" tIns="0" rIns="0" bIns="0" rtlCol="0" anchor="ctr"/>
          <a:lstStyle/>
          <a:p>
            <a:pPr indent="0" marL="0">
              <a:buNone/>
            </a:pPr>
            <a:r>
              <a:rPr lang="en-US" sz="1100" b="1" dirty="0">
                <a:solidFill>
                  <a:srgbClr val="2E6F95"/>
                </a:solidFill>
                <a:latin typeface="Calibri" pitchFamily="34" charset="0"/>
                <a:ea typeface="Calibri" pitchFamily="34" charset="-122"/>
                <a:cs typeface="Calibri" pitchFamily="34" charset="-120"/>
              </a:rPr>
              <a:t>3</a:t>
            </a:r>
            <a:endParaRPr lang="en-US" sz="1100" dirty="0"/>
          </a:p>
        </p:txBody>
      </p:sp>
      <p:pic>
        <p:nvPicPr>
          <p:cNvPr id="24" name="Image 5" descr="/home/claude/insightai/assets/arrow_primary.png">    </p:cNvPr>
          <p:cNvPicPr>
            <a:picLocks noChangeAspect="1"/>
          </p:cNvPicPr>
          <p:nvPr/>
        </p:nvPicPr>
        <p:blipFill>
          <a:blip r:embed="rId6"/>
          <a:stretch>
            <a:fillRect/>
          </a:stretch>
        </p:blipFill>
        <p:spPr>
          <a:xfrm>
            <a:off x="7104888" y="3364992"/>
            <a:ext cx="219456" cy="219456"/>
          </a:xfrm>
          <a:prstGeom prst="rect">
            <a:avLst/>
          </a:prstGeom>
        </p:spPr>
      </p:pic>
      <p:sp>
        <p:nvSpPr>
          <p:cNvPr id="25" name="Shape 17"/>
          <p:cNvSpPr/>
          <p:nvPr/>
        </p:nvSpPr>
        <p:spPr>
          <a:xfrm>
            <a:off x="7379208" y="2103120"/>
            <a:ext cx="1984248" cy="2743200"/>
          </a:xfrm>
          <a:prstGeom prst="roundRect">
            <a:avLst>
              <a:gd name="adj" fmla="val 3687"/>
            </a:avLst>
          </a:prstGeom>
          <a:solidFill>
            <a:srgbClr val="EAF0F5"/>
          </a:solidFill>
          <a:ln/>
          <a:effectLst>
            <a:outerShdw sx="100000" sy="100000" kx="0" ky="0" algn="bl" rotWithShape="0" blurRad="88900" dist="25400" dir="5400000">
              <a:srgbClr val="1F3A5F">
                <a:alpha val="10000"/>
              </a:srgbClr>
            </a:outerShdw>
          </a:effectLst>
        </p:spPr>
      </p:sp>
      <p:sp>
        <p:nvSpPr>
          <p:cNvPr id="26" name="Shape 18"/>
          <p:cNvSpPr/>
          <p:nvPr/>
        </p:nvSpPr>
        <p:spPr>
          <a:xfrm>
            <a:off x="8051292" y="2423160"/>
            <a:ext cx="640080" cy="640080"/>
          </a:xfrm>
          <a:prstGeom prst="ellipse">
            <a:avLst/>
          </a:prstGeom>
          <a:solidFill>
            <a:srgbClr val="FFFFFF"/>
          </a:solidFill>
          <a:ln/>
        </p:spPr>
      </p:sp>
      <p:pic>
        <p:nvPicPr>
          <p:cNvPr id="27" name="Image 6" descr="/home/claude/insightai/assets/balance_primary.png">    </p:cNvPr>
          <p:cNvPicPr>
            <a:picLocks noChangeAspect="1"/>
          </p:cNvPicPr>
          <p:nvPr/>
        </p:nvPicPr>
        <p:blipFill>
          <a:blip r:embed="rId7"/>
          <a:stretch>
            <a:fillRect/>
          </a:stretch>
        </p:blipFill>
        <p:spPr>
          <a:xfrm>
            <a:off x="8147304" y="2519172"/>
            <a:ext cx="448056" cy="448056"/>
          </a:xfrm>
          <a:prstGeom prst="rect">
            <a:avLst/>
          </a:prstGeom>
        </p:spPr>
      </p:pic>
      <p:sp>
        <p:nvSpPr>
          <p:cNvPr id="28" name="Text 19"/>
          <p:cNvSpPr/>
          <p:nvPr/>
        </p:nvSpPr>
        <p:spPr>
          <a:xfrm>
            <a:off x="7488936" y="3246120"/>
            <a:ext cx="1764792" cy="411480"/>
          </a:xfrm>
          <a:prstGeom prst="rect">
            <a:avLst/>
          </a:prstGeom>
          <a:noFill/>
          <a:ln/>
        </p:spPr>
        <p:txBody>
          <a:bodyPr wrap="square" lIns="0" tIns="0" rIns="0" bIns="0" rtlCol="0" anchor="ctr"/>
          <a:lstStyle/>
          <a:p>
            <a:pPr algn="ctr" indent="0" marL="0">
              <a:buNone/>
            </a:pPr>
            <a:r>
              <a:rPr lang="en-US" sz="1450" b="1" dirty="0">
                <a:solidFill>
                  <a:srgbClr val="1F3A5F"/>
                </a:solidFill>
                <a:latin typeface="Cambria" pitchFamily="34" charset="0"/>
                <a:ea typeface="Cambria" pitchFamily="34" charset="-122"/>
                <a:cs typeface="Cambria" pitchFamily="34" charset="-120"/>
              </a:rPr>
              <a:t>Cross-Encoder</a:t>
            </a:r>
            <a:endParaRPr lang="en-US" sz="1450" dirty="0"/>
          </a:p>
        </p:txBody>
      </p:sp>
      <p:sp>
        <p:nvSpPr>
          <p:cNvPr id="29" name="Text 20"/>
          <p:cNvSpPr/>
          <p:nvPr/>
        </p:nvSpPr>
        <p:spPr>
          <a:xfrm>
            <a:off x="7488936" y="3675888"/>
            <a:ext cx="1764792" cy="1005840"/>
          </a:xfrm>
          <a:prstGeom prst="rect">
            <a:avLst/>
          </a:prstGeom>
          <a:noFill/>
          <a:ln/>
        </p:spPr>
        <p:txBody>
          <a:bodyPr wrap="square" lIns="0" tIns="0" rIns="0" bIns="0" rtlCol="0" anchor="ctr"/>
          <a:lstStyle/>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Rerank chính xác</a:t>
            </a:r>
            <a:endParaRPr lang="en-US" sz="1100" dirty="0"/>
          </a:p>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theo ngữ nghĩa</a:t>
            </a:r>
            <a:endParaRPr lang="en-US" sz="1100" dirty="0"/>
          </a:p>
        </p:txBody>
      </p:sp>
      <p:sp>
        <p:nvSpPr>
          <p:cNvPr id="30" name="Text 21"/>
          <p:cNvSpPr/>
          <p:nvPr/>
        </p:nvSpPr>
        <p:spPr>
          <a:xfrm>
            <a:off x="7488936" y="2157984"/>
            <a:ext cx="365760" cy="274320"/>
          </a:xfrm>
          <a:prstGeom prst="rect">
            <a:avLst/>
          </a:prstGeom>
          <a:noFill/>
          <a:ln/>
        </p:spPr>
        <p:txBody>
          <a:bodyPr wrap="square" lIns="0" tIns="0" rIns="0" bIns="0" rtlCol="0" anchor="ctr"/>
          <a:lstStyle/>
          <a:p>
            <a:pPr indent="0" marL="0">
              <a:buNone/>
            </a:pPr>
            <a:r>
              <a:rPr lang="en-US" sz="1100" b="1" dirty="0">
                <a:solidFill>
                  <a:srgbClr val="2E6F95"/>
                </a:solidFill>
                <a:latin typeface="Calibri" pitchFamily="34" charset="0"/>
                <a:ea typeface="Calibri" pitchFamily="34" charset="-122"/>
                <a:cs typeface="Calibri" pitchFamily="34" charset="-120"/>
              </a:rPr>
              <a:t>4</a:t>
            </a:r>
            <a:endParaRPr lang="en-US" sz="1100" dirty="0"/>
          </a:p>
        </p:txBody>
      </p:sp>
      <p:pic>
        <p:nvPicPr>
          <p:cNvPr id="31" name="Image 7" descr="/home/claude/insightai/assets/arrow_primary.png">    </p:cNvPr>
          <p:cNvPicPr>
            <a:picLocks noChangeAspect="1"/>
          </p:cNvPicPr>
          <p:nvPr/>
        </p:nvPicPr>
        <p:blipFill>
          <a:blip r:embed="rId8"/>
          <a:stretch>
            <a:fillRect/>
          </a:stretch>
        </p:blipFill>
        <p:spPr>
          <a:xfrm>
            <a:off x="9381744" y="3364992"/>
            <a:ext cx="219456" cy="219456"/>
          </a:xfrm>
          <a:prstGeom prst="rect">
            <a:avLst/>
          </a:prstGeom>
        </p:spPr>
      </p:pic>
      <p:sp>
        <p:nvSpPr>
          <p:cNvPr id="32" name="Shape 22"/>
          <p:cNvSpPr/>
          <p:nvPr/>
        </p:nvSpPr>
        <p:spPr>
          <a:xfrm>
            <a:off x="9656064" y="2103120"/>
            <a:ext cx="1984248" cy="2743200"/>
          </a:xfrm>
          <a:prstGeom prst="roundRect">
            <a:avLst>
              <a:gd name="adj" fmla="val 3687"/>
            </a:avLst>
          </a:prstGeom>
          <a:solidFill>
            <a:srgbClr val="1F3A5F"/>
          </a:solidFill>
          <a:ln/>
          <a:effectLst>
            <a:outerShdw sx="100000" sy="100000" kx="0" ky="0" algn="bl" rotWithShape="0" blurRad="88900" dist="25400" dir="5400000">
              <a:srgbClr val="1F3A5F">
                <a:alpha val="10000"/>
              </a:srgbClr>
            </a:outerShdw>
          </a:effectLst>
        </p:spPr>
      </p:sp>
      <p:sp>
        <p:nvSpPr>
          <p:cNvPr id="33" name="Shape 23"/>
          <p:cNvSpPr/>
          <p:nvPr/>
        </p:nvSpPr>
        <p:spPr>
          <a:xfrm>
            <a:off x="10328148" y="2423160"/>
            <a:ext cx="640080" cy="640080"/>
          </a:xfrm>
          <a:prstGeom prst="ellipse">
            <a:avLst/>
          </a:prstGeom>
          <a:solidFill>
            <a:srgbClr val="33567B"/>
          </a:solidFill>
          <a:ln/>
        </p:spPr>
      </p:sp>
      <p:pic>
        <p:nvPicPr>
          <p:cNvPr id="34" name="Image 8" descr="/home/claude/insightai/assets/robot_white.png">    </p:cNvPr>
          <p:cNvPicPr>
            <a:picLocks noChangeAspect="1"/>
          </p:cNvPicPr>
          <p:nvPr/>
        </p:nvPicPr>
        <p:blipFill>
          <a:blip r:embed="rId9"/>
          <a:stretch>
            <a:fillRect/>
          </a:stretch>
        </p:blipFill>
        <p:spPr>
          <a:xfrm>
            <a:off x="10424160" y="2519172"/>
            <a:ext cx="448056" cy="448056"/>
          </a:xfrm>
          <a:prstGeom prst="rect">
            <a:avLst/>
          </a:prstGeom>
        </p:spPr>
      </p:pic>
      <p:sp>
        <p:nvSpPr>
          <p:cNvPr id="35" name="Text 24"/>
          <p:cNvSpPr/>
          <p:nvPr/>
        </p:nvSpPr>
        <p:spPr>
          <a:xfrm>
            <a:off x="9765792" y="3246120"/>
            <a:ext cx="1764792"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LLM</a:t>
            </a:r>
            <a:endParaRPr lang="en-US" sz="1450" dirty="0"/>
          </a:p>
        </p:txBody>
      </p:sp>
      <p:sp>
        <p:nvSpPr>
          <p:cNvPr id="36" name="Text 25"/>
          <p:cNvSpPr/>
          <p:nvPr/>
        </p:nvSpPr>
        <p:spPr>
          <a:xfrm>
            <a:off x="9765792" y="3675888"/>
            <a:ext cx="1764792" cy="1005840"/>
          </a:xfrm>
          <a:prstGeom prst="rect">
            <a:avLst/>
          </a:prstGeom>
          <a:noFill/>
          <a:ln/>
        </p:spPr>
        <p:txBody>
          <a:bodyPr wrap="square" lIns="0" tIns="0" rIns="0" bIns="0" rtlCol="0" anchor="ctr"/>
          <a:lstStyle/>
          <a:p>
            <a:pPr algn="ctr" indent="0" marL="0">
              <a:lnSpc>
                <a:spcPct val="115000"/>
              </a:lnSpc>
              <a:buNone/>
            </a:pPr>
            <a:r>
              <a:rPr lang="en-US" sz="1100" dirty="0">
                <a:solidFill>
                  <a:srgbClr val="D7E4EE"/>
                </a:solidFill>
                <a:latin typeface="Calibri" pitchFamily="34" charset="0"/>
                <a:ea typeface="Calibri" pitchFamily="34" charset="-122"/>
                <a:cs typeface="Calibri" pitchFamily="34" charset="-120"/>
              </a:rPr>
              <a:t>Sinh câu trả lời</a:t>
            </a:r>
            <a:endParaRPr lang="en-US" sz="1100" dirty="0"/>
          </a:p>
          <a:p>
            <a:pPr algn="ctr" indent="0" marL="0">
              <a:lnSpc>
                <a:spcPct val="115000"/>
              </a:lnSpc>
              <a:buNone/>
            </a:pPr>
            <a:r>
              <a:rPr lang="en-US" sz="1100" dirty="0">
                <a:solidFill>
                  <a:srgbClr val="D7E4EE"/>
                </a:solidFill>
                <a:latin typeface="Calibri" pitchFamily="34" charset="0"/>
                <a:ea typeface="Calibri" pitchFamily="34" charset="-122"/>
                <a:cs typeface="Calibri" pitchFamily="34" charset="-120"/>
              </a:rPr>
              <a:t>+ trích dẫn</a:t>
            </a:r>
            <a:endParaRPr lang="en-US" sz="1100" dirty="0"/>
          </a:p>
        </p:txBody>
      </p:sp>
      <p:sp>
        <p:nvSpPr>
          <p:cNvPr id="37" name="Text 26"/>
          <p:cNvSpPr/>
          <p:nvPr/>
        </p:nvSpPr>
        <p:spPr>
          <a:xfrm>
            <a:off x="9765792" y="2157984"/>
            <a:ext cx="365760" cy="274320"/>
          </a:xfrm>
          <a:prstGeom prst="rect">
            <a:avLst/>
          </a:prstGeom>
          <a:noFill/>
          <a:ln/>
        </p:spPr>
        <p:txBody>
          <a:bodyPr wrap="square" lIns="0" tIns="0" rIns="0" bIns="0" rtlCol="0" anchor="ctr"/>
          <a:lstStyle/>
          <a:p>
            <a:pPr indent="0" marL="0">
              <a:buNone/>
            </a:pPr>
            <a:r>
              <a:rPr lang="en-US" sz="1100" b="1" dirty="0">
                <a:solidFill>
                  <a:srgbClr val="9FB7CC"/>
                </a:solidFill>
                <a:latin typeface="Calibri" pitchFamily="34" charset="0"/>
                <a:ea typeface="Calibri" pitchFamily="34" charset="-122"/>
                <a:cs typeface="Calibri" pitchFamily="34" charset="-120"/>
              </a:rPr>
              <a:t>5</a:t>
            </a:r>
            <a:endParaRPr lang="en-US" sz="1100" dirty="0"/>
          </a:p>
        </p:txBody>
      </p:sp>
      <p:sp>
        <p:nvSpPr>
          <p:cNvPr id="38" name="Shape 27"/>
          <p:cNvSpPr/>
          <p:nvPr/>
        </p:nvSpPr>
        <p:spPr>
          <a:xfrm>
            <a:off x="548640" y="5166360"/>
            <a:ext cx="11091672" cy="777240"/>
          </a:xfrm>
          <a:prstGeom prst="roundRect">
            <a:avLst>
              <a:gd name="adj" fmla="val 9412"/>
            </a:avLst>
          </a:prstGeom>
          <a:solidFill>
            <a:srgbClr val="F4F7FA"/>
          </a:solidFill>
          <a:ln/>
        </p:spPr>
      </p:sp>
      <p:sp>
        <p:nvSpPr>
          <p:cNvPr id="39" name="Text 28"/>
          <p:cNvSpPr/>
          <p:nvPr/>
        </p:nvSpPr>
        <p:spPr>
          <a:xfrm>
            <a:off x="868680" y="5166360"/>
            <a:ext cx="10451592" cy="777240"/>
          </a:xfrm>
          <a:prstGeom prst="rect">
            <a:avLst/>
          </a:prstGeom>
          <a:noFill/>
          <a:ln/>
        </p:spPr>
        <p:txBody>
          <a:bodyPr wrap="square" lIns="0" tIns="0" rIns="0" bIns="0" rtlCol="0" anchor="ctr"/>
          <a:lstStyle/>
          <a:p>
            <a:pPr indent="0" marL="0">
              <a:lnSpc>
                <a:spcPct val="120000"/>
              </a:lnSpc>
              <a:buNone/>
            </a:pPr>
            <a:r>
              <a:rPr lang="en-US" sz="1250" b="1" dirty="0">
                <a:solidFill>
                  <a:srgbClr val="1F3A5F"/>
                </a:solidFill>
                <a:latin typeface="Calibri" pitchFamily="34" charset="0"/>
                <a:ea typeface="Calibri" pitchFamily="34" charset="-122"/>
                <a:cs typeface="Calibri" pitchFamily="34" charset="-120"/>
              </a:rPr>
              <a:t>HyDE (Hypothetical Document Embeddings): </a:t>
            </a:r>
            <a:pPr indent="0" marL="0">
              <a:lnSpc>
                <a:spcPct val="120000"/>
              </a:lnSpc>
              <a:buNone/>
            </a:pPr>
            <a:r>
              <a:rPr lang="en-US" sz="1250" dirty="0">
                <a:solidFill>
                  <a:srgbClr val="1C2530"/>
                </a:solidFill>
                <a:latin typeface="Calibri" pitchFamily="34" charset="0"/>
                <a:ea typeface="Calibri" pitchFamily="34" charset="-122"/>
                <a:cs typeface="Calibri" pitchFamily="34" charset="-120"/>
              </a:rPr>
              <a:t>với bài báo học thuật, LLM sinh một đoạn trả lời giả định trước, rồi dùng chính đoạn đó để truy xuất — giúp tăng độ liên quan ngữ nghĩa.</a:t>
            </a:r>
            <a:endParaRPr lang="en-US" sz="1250" dirty="0"/>
          </a:p>
        </p:txBody>
      </p:sp>
      <p:sp>
        <p:nvSpPr>
          <p:cNvPr id="40" name="Text 29"/>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07</a:t>
            </a:r>
            <a:endParaRPr lang="en-US" sz="1000" dirty="0"/>
          </a:p>
        </p:txBody>
      </p:sp>
      <p:sp>
        <p:nvSpPr>
          <p:cNvPr id="41" name="Text 3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InsightAI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2E6F95"/>
                </a:solidFill>
                <a:latin typeface="Calibri" pitchFamily="34" charset="0"/>
                <a:ea typeface="Calibri" pitchFamily="34" charset="-122"/>
                <a:cs typeface="Calibri" pitchFamily="34" charset="-120"/>
              </a:rPr>
              <a:t>07 — GIAI ĐOẠN 3B</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Summary Pipeline: tổng hợp đa đoạn</a:t>
            </a:r>
            <a:endParaRPr lang="en-US" sz="3200" dirty="0"/>
          </a:p>
        </p:txBody>
      </p:sp>
      <p:sp>
        <p:nvSpPr>
          <p:cNvPr id="4" name="Shape 2"/>
          <p:cNvSpPr/>
          <p:nvPr/>
        </p:nvSpPr>
        <p:spPr>
          <a:xfrm>
            <a:off x="548640" y="2103120"/>
            <a:ext cx="1984248" cy="2743200"/>
          </a:xfrm>
          <a:prstGeom prst="roundRect">
            <a:avLst>
              <a:gd name="adj" fmla="val 3687"/>
            </a:avLst>
          </a:prstGeom>
          <a:solidFill>
            <a:srgbClr val="EAF0F5"/>
          </a:solidFill>
          <a:ln/>
          <a:effectLst>
            <a:outerShdw sx="100000" sy="100000" kx="0" ky="0" algn="bl" rotWithShape="0" blurRad="88900" dist="25400" dir="5400000">
              <a:srgbClr val="1F3A5F">
                <a:alpha val="10000"/>
              </a:srgbClr>
            </a:outerShdw>
          </a:effectLst>
        </p:spPr>
      </p:sp>
      <p:sp>
        <p:nvSpPr>
          <p:cNvPr id="5" name="Shape 3"/>
          <p:cNvSpPr/>
          <p:nvPr/>
        </p:nvSpPr>
        <p:spPr>
          <a:xfrm>
            <a:off x="1220724" y="2423160"/>
            <a:ext cx="640080" cy="640080"/>
          </a:xfrm>
          <a:prstGeom prst="ellipse">
            <a:avLst/>
          </a:prstGeom>
          <a:solidFill>
            <a:srgbClr val="FFFFFF"/>
          </a:solidFill>
          <a:ln/>
        </p:spPr>
      </p:sp>
      <p:pic>
        <p:nvPicPr>
          <p:cNvPr id="6" name="Image 0" descr="/home/claude/insightai/assets/layers_primary.png">    </p:cNvPr>
          <p:cNvPicPr>
            <a:picLocks noChangeAspect="1"/>
          </p:cNvPicPr>
          <p:nvPr/>
        </p:nvPicPr>
        <p:blipFill>
          <a:blip r:embed="rId1"/>
          <a:stretch>
            <a:fillRect/>
          </a:stretch>
        </p:blipFill>
        <p:spPr>
          <a:xfrm>
            <a:off x="1316736" y="2519172"/>
            <a:ext cx="448056" cy="448056"/>
          </a:xfrm>
          <a:prstGeom prst="rect">
            <a:avLst/>
          </a:prstGeom>
        </p:spPr>
      </p:pic>
      <p:sp>
        <p:nvSpPr>
          <p:cNvPr id="7" name="Text 4"/>
          <p:cNvSpPr/>
          <p:nvPr/>
        </p:nvSpPr>
        <p:spPr>
          <a:xfrm>
            <a:off x="658368" y="3246120"/>
            <a:ext cx="1764792" cy="411480"/>
          </a:xfrm>
          <a:prstGeom prst="rect">
            <a:avLst/>
          </a:prstGeom>
          <a:noFill/>
          <a:ln/>
        </p:spPr>
        <p:txBody>
          <a:bodyPr wrap="square" lIns="0" tIns="0" rIns="0" bIns="0" rtlCol="0" anchor="ctr"/>
          <a:lstStyle/>
          <a:p>
            <a:pPr algn="ctr" indent="0" marL="0">
              <a:buNone/>
            </a:pPr>
            <a:r>
              <a:rPr lang="en-US" sz="1450" b="1" dirty="0">
                <a:solidFill>
                  <a:srgbClr val="1F3A5F"/>
                </a:solidFill>
                <a:latin typeface="Cambria" pitchFamily="34" charset="0"/>
                <a:ea typeface="Cambria" pitchFamily="34" charset="-122"/>
                <a:cs typeface="Cambria" pitchFamily="34" charset="-120"/>
              </a:rPr>
              <a:t>Block Retrieval</a:t>
            </a:r>
            <a:endParaRPr lang="en-US" sz="1450" dirty="0"/>
          </a:p>
        </p:txBody>
      </p:sp>
      <p:sp>
        <p:nvSpPr>
          <p:cNvPr id="8" name="Text 5"/>
          <p:cNvSpPr/>
          <p:nvPr/>
        </p:nvSpPr>
        <p:spPr>
          <a:xfrm>
            <a:off x="658368" y="3675888"/>
            <a:ext cx="1764792" cy="1005840"/>
          </a:xfrm>
          <a:prstGeom prst="rect">
            <a:avLst/>
          </a:prstGeom>
          <a:noFill/>
          <a:ln/>
        </p:spPr>
        <p:txBody>
          <a:bodyPr wrap="square" lIns="0" tIns="0" rIns="0" bIns="0" rtlCol="0" anchor="ctr"/>
          <a:lstStyle/>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Lấy các khối văn bản</a:t>
            </a:r>
            <a:endParaRPr lang="en-US" sz="1100" dirty="0"/>
          </a:p>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lớn liên quan</a:t>
            </a:r>
            <a:endParaRPr lang="en-US" sz="1100" dirty="0"/>
          </a:p>
        </p:txBody>
      </p:sp>
      <p:sp>
        <p:nvSpPr>
          <p:cNvPr id="9" name="Text 6"/>
          <p:cNvSpPr/>
          <p:nvPr/>
        </p:nvSpPr>
        <p:spPr>
          <a:xfrm>
            <a:off x="658368" y="2157984"/>
            <a:ext cx="365760" cy="274320"/>
          </a:xfrm>
          <a:prstGeom prst="rect">
            <a:avLst/>
          </a:prstGeom>
          <a:noFill/>
          <a:ln/>
        </p:spPr>
        <p:txBody>
          <a:bodyPr wrap="square" lIns="0" tIns="0" rIns="0" bIns="0" rtlCol="0" anchor="ctr"/>
          <a:lstStyle/>
          <a:p>
            <a:pPr indent="0" marL="0">
              <a:buNone/>
            </a:pPr>
            <a:r>
              <a:rPr lang="en-US" sz="1100" b="1" dirty="0">
                <a:solidFill>
                  <a:srgbClr val="2E6F95"/>
                </a:solidFill>
                <a:latin typeface="Calibri" pitchFamily="34" charset="0"/>
                <a:ea typeface="Calibri" pitchFamily="34" charset="-122"/>
                <a:cs typeface="Calibri" pitchFamily="34" charset="-120"/>
              </a:rPr>
              <a:t>1</a:t>
            </a:r>
            <a:endParaRPr lang="en-US" sz="1100" dirty="0"/>
          </a:p>
        </p:txBody>
      </p:sp>
      <p:pic>
        <p:nvPicPr>
          <p:cNvPr id="10" name="Image 1" descr="/home/claude/insightai/assets/arrow_primary.png">    </p:cNvPr>
          <p:cNvPicPr>
            <a:picLocks noChangeAspect="1"/>
          </p:cNvPicPr>
          <p:nvPr/>
        </p:nvPicPr>
        <p:blipFill>
          <a:blip r:embed="rId2"/>
          <a:stretch>
            <a:fillRect/>
          </a:stretch>
        </p:blipFill>
        <p:spPr>
          <a:xfrm>
            <a:off x="2551176" y="3364992"/>
            <a:ext cx="219456" cy="219456"/>
          </a:xfrm>
          <a:prstGeom prst="rect">
            <a:avLst/>
          </a:prstGeom>
        </p:spPr>
      </p:pic>
      <p:sp>
        <p:nvSpPr>
          <p:cNvPr id="11" name="Shape 7"/>
          <p:cNvSpPr/>
          <p:nvPr/>
        </p:nvSpPr>
        <p:spPr>
          <a:xfrm>
            <a:off x="2825496" y="2103120"/>
            <a:ext cx="1984248" cy="2743200"/>
          </a:xfrm>
          <a:prstGeom prst="roundRect">
            <a:avLst>
              <a:gd name="adj" fmla="val 3687"/>
            </a:avLst>
          </a:prstGeom>
          <a:solidFill>
            <a:srgbClr val="EAF0F5"/>
          </a:solidFill>
          <a:ln/>
          <a:effectLst>
            <a:outerShdw sx="100000" sy="100000" kx="0" ky="0" algn="bl" rotWithShape="0" blurRad="88900" dist="25400" dir="5400000">
              <a:srgbClr val="1F3A5F">
                <a:alpha val="10000"/>
              </a:srgbClr>
            </a:outerShdw>
          </a:effectLst>
        </p:spPr>
      </p:sp>
      <p:sp>
        <p:nvSpPr>
          <p:cNvPr id="12" name="Shape 8"/>
          <p:cNvSpPr/>
          <p:nvPr/>
        </p:nvSpPr>
        <p:spPr>
          <a:xfrm>
            <a:off x="3497580" y="2423160"/>
            <a:ext cx="640080" cy="640080"/>
          </a:xfrm>
          <a:prstGeom prst="ellipse">
            <a:avLst/>
          </a:prstGeom>
          <a:solidFill>
            <a:srgbClr val="FFFFFF"/>
          </a:solidFill>
          <a:ln/>
        </p:spPr>
      </p:sp>
      <p:pic>
        <p:nvPicPr>
          <p:cNvPr id="13" name="Image 2" descr="/home/claude/insightai/assets/compress_primary.png">    </p:cNvPr>
          <p:cNvPicPr>
            <a:picLocks noChangeAspect="1"/>
          </p:cNvPicPr>
          <p:nvPr/>
        </p:nvPicPr>
        <p:blipFill>
          <a:blip r:embed="rId3"/>
          <a:stretch>
            <a:fillRect/>
          </a:stretch>
        </p:blipFill>
        <p:spPr>
          <a:xfrm>
            <a:off x="3593592" y="2519172"/>
            <a:ext cx="448056" cy="448056"/>
          </a:xfrm>
          <a:prstGeom prst="rect">
            <a:avLst/>
          </a:prstGeom>
        </p:spPr>
      </p:pic>
      <p:sp>
        <p:nvSpPr>
          <p:cNvPr id="14" name="Text 9"/>
          <p:cNvSpPr/>
          <p:nvPr/>
        </p:nvSpPr>
        <p:spPr>
          <a:xfrm>
            <a:off x="2935224" y="3246120"/>
            <a:ext cx="1764792" cy="411480"/>
          </a:xfrm>
          <a:prstGeom prst="rect">
            <a:avLst/>
          </a:prstGeom>
          <a:noFill/>
          <a:ln/>
        </p:spPr>
        <p:txBody>
          <a:bodyPr wrap="square" lIns="0" tIns="0" rIns="0" bIns="0" rtlCol="0" anchor="ctr"/>
          <a:lstStyle/>
          <a:p>
            <a:pPr algn="ctr" indent="0" marL="0">
              <a:buNone/>
            </a:pPr>
            <a:r>
              <a:rPr lang="en-US" sz="1450" b="1" dirty="0">
                <a:solidFill>
                  <a:srgbClr val="1F3A5F"/>
                </a:solidFill>
                <a:latin typeface="Cambria" pitchFamily="34" charset="0"/>
                <a:ea typeface="Cambria" pitchFamily="34" charset="-122"/>
                <a:cs typeface="Cambria" pitchFamily="34" charset="-120"/>
              </a:rPr>
              <a:t>MMR</a:t>
            </a:r>
            <a:endParaRPr lang="en-US" sz="1450" dirty="0"/>
          </a:p>
        </p:txBody>
      </p:sp>
      <p:sp>
        <p:nvSpPr>
          <p:cNvPr id="15" name="Text 10"/>
          <p:cNvSpPr/>
          <p:nvPr/>
        </p:nvSpPr>
        <p:spPr>
          <a:xfrm>
            <a:off x="2935224" y="3675888"/>
            <a:ext cx="1764792" cy="1005840"/>
          </a:xfrm>
          <a:prstGeom prst="rect">
            <a:avLst/>
          </a:prstGeom>
          <a:noFill/>
          <a:ln/>
        </p:spPr>
        <p:txBody>
          <a:bodyPr wrap="square" lIns="0" tIns="0" rIns="0" bIns="0" rtlCol="0" anchor="ctr"/>
          <a:lstStyle/>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Chọn khối đa dạng,</a:t>
            </a:r>
            <a:endParaRPr lang="en-US" sz="1100" dirty="0"/>
          </a:p>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giảm trùng lặp</a:t>
            </a:r>
            <a:endParaRPr lang="en-US" sz="1100" dirty="0"/>
          </a:p>
        </p:txBody>
      </p:sp>
      <p:sp>
        <p:nvSpPr>
          <p:cNvPr id="16" name="Text 11"/>
          <p:cNvSpPr/>
          <p:nvPr/>
        </p:nvSpPr>
        <p:spPr>
          <a:xfrm>
            <a:off x="2935224" y="2157984"/>
            <a:ext cx="365760" cy="274320"/>
          </a:xfrm>
          <a:prstGeom prst="rect">
            <a:avLst/>
          </a:prstGeom>
          <a:noFill/>
          <a:ln/>
        </p:spPr>
        <p:txBody>
          <a:bodyPr wrap="square" lIns="0" tIns="0" rIns="0" bIns="0" rtlCol="0" anchor="ctr"/>
          <a:lstStyle/>
          <a:p>
            <a:pPr indent="0" marL="0">
              <a:buNone/>
            </a:pPr>
            <a:r>
              <a:rPr lang="en-US" sz="1100" b="1" dirty="0">
                <a:solidFill>
                  <a:srgbClr val="2E6F95"/>
                </a:solidFill>
                <a:latin typeface="Calibri" pitchFamily="34" charset="0"/>
                <a:ea typeface="Calibri" pitchFamily="34" charset="-122"/>
                <a:cs typeface="Calibri" pitchFamily="34" charset="-120"/>
              </a:rPr>
              <a:t>2</a:t>
            </a:r>
            <a:endParaRPr lang="en-US" sz="1100" dirty="0"/>
          </a:p>
        </p:txBody>
      </p:sp>
      <p:pic>
        <p:nvPicPr>
          <p:cNvPr id="17" name="Image 3" descr="/home/claude/insightai/assets/arrow_primary.png">    </p:cNvPr>
          <p:cNvPicPr>
            <a:picLocks noChangeAspect="1"/>
          </p:cNvPicPr>
          <p:nvPr/>
        </p:nvPicPr>
        <p:blipFill>
          <a:blip r:embed="rId4"/>
          <a:stretch>
            <a:fillRect/>
          </a:stretch>
        </p:blipFill>
        <p:spPr>
          <a:xfrm>
            <a:off x="4828032" y="3364992"/>
            <a:ext cx="219456" cy="219456"/>
          </a:xfrm>
          <a:prstGeom prst="rect">
            <a:avLst/>
          </a:prstGeom>
        </p:spPr>
      </p:pic>
      <p:sp>
        <p:nvSpPr>
          <p:cNvPr id="18" name="Shape 12"/>
          <p:cNvSpPr/>
          <p:nvPr/>
        </p:nvSpPr>
        <p:spPr>
          <a:xfrm>
            <a:off x="5102352" y="2103120"/>
            <a:ext cx="1984248" cy="2743200"/>
          </a:xfrm>
          <a:prstGeom prst="roundRect">
            <a:avLst>
              <a:gd name="adj" fmla="val 3687"/>
            </a:avLst>
          </a:prstGeom>
          <a:solidFill>
            <a:srgbClr val="EAF0F5"/>
          </a:solidFill>
          <a:ln/>
          <a:effectLst>
            <a:outerShdw sx="100000" sy="100000" kx="0" ky="0" algn="bl" rotWithShape="0" blurRad="88900" dist="25400" dir="5400000">
              <a:srgbClr val="1F3A5F">
                <a:alpha val="10000"/>
              </a:srgbClr>
            </a:outerShdw>
          </a:effectLst>
        </p:spPr>
      </p:sp>
      <p:sp>
        <p:nvSpPr>
          <p:cNvPr id="19" name="Shape 13"/>
          <p:cNvSpPr/>
          <p:nvPr/>
        </p:nvSpPr>
        <p:spPr>
          <a:xfrm>
            <a:off x="5774436" y="2423160"/>
            <a:ext cx="640080" cy="640080"/>
          </a:xfrm>
          <a:prstGeom prst="ellipse">
            <a:avLst/>
          </a:prstGeom>
          <a:solidFill>
            <a:srgbClr val="FFFFFF"/>
          </a:solidFill>
          <a:ln/>
        </p:spPr>
      </p:sp>
      <p:pic>
        <p:nvPicPr>
          <p:cNvPr id="20" name="Image 4" descr="/home/claude/insightai/assets/network_primary.png">    </p:cNvPr>
          <p:cNvPicPr>
            <a:picLocks noChangeAspect="1"/>
          </p:cNvPicPr>
          <p:nvPr/>
        </p:nvPicPr>
        <p:blipFill>
          <a:blip r:embed="rId5"/>
          <a:stretch>
            <a:fillRect/>
          </a:stretch>
        </p:blipFill>
        <p:spPr>
          <a:xfrm>
            <a:off x="5870448" y="2519172"/>
            <a:ext cx="448056" cy="448056"/>
          </a:xfrm>
          <a:prstGeom prst="rect">
            <a:avLst/>
          </a:prstGeom>
        </p:spPr>
      </p:pic>
      <p:sp>
        <p:nvSpPr>
          <p:cNvPr id="21" name="Text 14"/>
          <p:cNvSpPr/>
          <p:nvPr/>
        </p:nvSpPr>
        <p:spPr>
          <a:xfrm>
            <a:off x="5212080" y="3246120"/>
            <a:ext cx="1764792" cy="411480"/>
          </a:xfrm>
          <a:prstGeom prst="rect">
            <a:avLst/>
          </a:prstGeom>
          <a:noFill/>
          <a:ln/>
        </p:spPr>
        <p:txBody>
          <a:bodyPr wrap="square" lIns="0" tIns="0" rIns="0" bIns="0" rtlCol="0" anchor="ctr"/>
          <a:lstStyle/>
          <a:p>
            <a:pPr algn="ctr" indent="0" marL="0">
              <a:buNone/>
            </a:pPr>
            <a:r>
              <a:rPr lang="en-US" sz="1450" b="1" dirty="0">
                <a:solidFill>
                  <a:srgbClr val="1F3A5F"/>
                </a:solidFill>
                <a:latin typeface="Cambria" pitchFamily="34" charset="0"/>
                <a:ea typeface="Cambria" pitchFamily="34" charset="-122"/>
                <a:cs typeface="Cambria" pitchFamily="34" charset="-120"/>
              </a:rPr>
              <a:t>TextRank</a:t>
            </a:r>
            <a:endParaRPr lang="en-US" sz="1450" dirty="0"/>
          </a:p>
        </p:txBody>
      </p:sp>
      <p:sp>
        <p:nvSpPr>
          <p:cNvPr id="22" name="Text 15"/>
          <p:cNvSpPr/>
          <p:nvPr/>
        </p:nvSpPr>
        <p:spPr>
          <a:xfrm>
            <a:off x="5212080" y="3675888"/>
            <a:ext cx="1764792" cy="1005840"/>
          </a:xfrm>
          <a:prstGeom prst="rect">
            <a:avLst/>
          </a:prstGeom>
          <a:noFill/>
          <a:ln/>
        </p:spPr>
        <p:txBody>
          <a:bodyPr wrap="square" lIns="0" tIns="0" rIns="0" bIns="0" rtlCol="0" anchor="ctr"/>
          <a:lstStyle/>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Xếp hạng câu quan</a:t>
            </a:r>
            <a:endParaRPr lang="en-US" sz="1100" dirty="0"/>
          </a:p>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trọng trong khối</a:t>
            </a:r>
            <a:endParaRPr lang="en-US" sz="1100" dirty="0"/>
          </a:p>
        </p:txBody>
      </p:sp>
      <p:sp>
        <p:nvSpPr>
          <p:cNvPr id="23" name="Text 16"/>
          <p:cNvSpPr/>
          <p:nvPr/>
        </p:nvSpPr>
        <p:spPr>
          <a:xfrm>
            <a:off x="5212080" y="2157984"/>
            <a:ext cx="365760" cy="274320"/>
          </a:xfrm>
          <a:prstGeom prst="rect">
            <a:avLst/>
          </a:prstGeom>
          <a:noFill/>
          <a:ln/>
        </p:spPr>
        <p:txBody>
          <a:bodyPr wrap="square" lIns="0" tIns="0" rIns="0" bIns="0" rtlCol="0" anchor="ctr"/>
          <a:lstStyle/>
          <a:p>
            <a:pPr indent="0" marL="0">
              <a:buNone/>
            </a:pPr>
            <a:r>
              <a:rPr lang="en-US" sz="1100" b="1" dirty="0">
                <a:solidFill>
                  <a:srgbClr val="2E6F95"/>
                </a:solidFill>
                <a:latin typeface="Calibri" pitchFamily="34" charset="0"/>
                <a:ea typeface="Calibri" pitchFamily="34" charset="-122"/>
                <a:cs typeface="Calibri" pitchFamily="34" charset="-120"/>
              </a:rPr>
              <a:t>3</a:t>
            </a:r>
            <a:endParaRPr lang="en-US" sz="1100" dirty="0"/>
          </a:p>
        </p:txBody>
      </p:sp>
      <p:pic>
        <p:nvPicPr>
          <p:cNvPr id="24" name="Image 5" descr="/home/claude/insightai/assets/arrow_primary.png">    </p:cNvPr>
          <p:cNvPicPr>
            <a:picLocks noChangeAspect="1"/>
          </p:cNvPicPr>
          <p:nvPr/>
        </p:nvPicPr>
        <p:blipFill>
          <a:blip r:embed="rId6"/>
          <a:stretch>
            <a:fillRect/>
          </a:stretch>
        </p:blipFill>
        <p:spPr>
          <a:xfrm>
            <a:off x="7104888" y="3364992"/>
            <a:ext cx="219456" cy="219456"/>
          </a:xfrm>
          <a:prstGeom prst="rect">
            <a:avLst/>
          </a:prstGeom>
        </p:spPr>
      </p:pic>
      <p:sp>
        <p:nvSpPr>
          <p:cNvPr id="25" name="Shape 17"/>
          <p:cNvSpPr/>
          <p:nvPr/>
        </p:nvSpPr>
        <p:spPr>
          <a:xfrm>
            <a:off x="7379208" y="2103120"/>
            <a:ext cx="1984248" cy="2743200"/>
          </a:xfrm>
          <a:prstGeom prst="roundRect">
            <a:avLst>
              <a:gd name="adj" fmla="val 3687"/>
            </a:avLst>
          </a:prstGeom>
          <a:solidFill>
            <a:srgbClr val="EAF0F5"/>
          </a:solidFill>
          <a:ln/>
          <a:effectLst>
            <a:outerShdw sx="100000" sy="100000" kx="0" ky="0" algn="bl" rotWithShape="0" blurRad="88900" dist="25400" dir="5400000">
              <a:srgbClr val="1F3A5F">
                <a:alpha val="10000"/>
              </a:srgbClr>
            </a:outerShdw>
          </a:effectLst>
        </p:spPr>
      </p:sp>
      <p:sp>
        <p:nvSpPr>
          <p:cNvPr id="26" name="Shape 18"/>
          <p:cNvSpPr/>
          <p:nvPr/>
        </p:nvSpPr>
        <p:spPr>
          <a:xfrm>
            <a:off x="8051292" y="2423160"/>
            <a:ext cx="640080" cy="640080"/>
          </a:xfrm>
          <a:prstGeom prst="ellipse">
            <a:avLst/>
          </a:prstGeom>
          <a:solidFill>
            <a:srgbClr val="FFFFFF"/>
          </a:solidFill>
          <a:ln/>
        </p:spPr>
      </p:sp>
      <p:pic>
        <p:nvPicPr>
          <p:cNvPr id="27" name="Image 6" descr="/home/claude/insightai/assets/sort_primary.png">    </p:cNvPr>
          <p:cNvPicPr>
            <a:picLocks noChangeAspect="1"/>
          </p:cNvPicPr>
          <p:nvPr/>
        </p:nvPicPr>
        <p:blipFill>
          <a:blip r:embed="rId7"/>
          <a:stretch>
            <a:fillRect/>
          </a:stretch>
        </p:blipFill>
        <p:spPr>
          <a:xfrm>
            <a:off x="8147304" y="2519172"/>
            <a:ext cx="448056" cy="448056"/>
          </a:xfrm>
          <a:prstGeom prst="rect">
            <a:avLst/>
          </a:prstGeom>
        </p:spPr>
      </p:pic>
      <p:sp>
        <p:nvSpPr>
          <p:cNvPr id="28" name="Text 19"/>
          <p:cNvSpPr/>
          <p:nvPr/>
        </p:nvSpPr>
        <p:spPr>
          <a:xfrm>
            <a:off x="7488936" y="3246120"/>
            <a:ext cx="1764792" cy="411480"/>
          </a:xfrm>
          <a:prstGeom prst="rect">
            <a:avLst/>
          </a:prstGeom>
          <a:noFill/>
          <a:ln/>
        </p:spPr>
        <p:txBody>
          <a:bodyPr wrap="square" lIns="0" tIns="0" rIns="0" bIns="0" rtlCol="0" anchor="ctr"/>
          <a:lstStyle/>
          <a:p>
            <a:pPr algn="ctr" indent="0" marL="0">
              <a:buNone/>
            </a:pPr>
            <a:r>
              <a:rPr lang="en-US" sz="1450" b="1" dirty="0">
                <a:solidFill>
                  <a:srgbClr val="1F3A5F"/>
                </a:solidFill>
                <a:latin typeface="Cambria" pitchFamily="34" charset="0"/>
                <a:ea typeface="Cambria" pitchFamily="34" charset="-122"/>
                <a:cs typeface="Cambria" pitchFamily="34" charset="-120"/>
              </a:rPr>
              <a:t>MMR (cấp câu)</a:t>
            </a:r>
            <a:endParaRPr lang="en-US" sz="1450" dirty="0"/>
          </a:p>
        </p:txBody>
      </p:sp>
      <p:sp>
        <p:nvSpPr>
          <p:cNvPr id="29" name="Text 20"/>
          <p:cNvSpPr/>
          <p:nvPr/>
        </p:nvSpPr>
        <p:spPr>
          <a:xfrm>
            <a:off x="7488936" y="3675888"/>
            <a:ext cx="1764792" cy="1005840"/>
          </a:xfrm>
          <a:prstGeom prst="rect">
            <a:avLst/>
          </a:prstGeom>
          <a:noFill/>
          <a:ln/>
        </p:spPr>
        <p:txBody>
          <a:bodyPr wrap="square" lIns="0" tIns="0" rIns="0" bIns="0" rtlCol="0" anchor="ctr"/>
          <a:lstStyle/>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Lọc câu đa dạng,</a:t>
            </a:r>
            <a:endParaRPr lang="en-US" sz="1100" dirty="0"/>
          </a:p>
          <a:p>
            <a:pPr algn="ctr" indent="0" marL="0">
              <a:lnSpc>
                <a:spcPct val="115000"/>
              </a:lnSpc>
              <a:buNone/>
            </a:pPr>
            <a:r>
              <a:rPr lang="en-US" sz="1100" dirty="0">
                <a:solidFill>
                  <a:srgbClr val="5B6B7C"/>
                </a:solidFill>
                <a:latin typeface="Calibri" pitchFamily="34" charset="0"/>
                <a:ea typeface="Calibri" pitchFamily="34" charset="-122"/>
                <a:cs typeface="Calibri" pitchFamily="34" charset="-120"/>
              </a:rPr>
              <a:t>cô đọng nhất</a:t>
            </a:r>
            <a:endParaRPr lang="en-US" sz="1100" dirty="0"/>
          </a:p>
        </p:txBody>
      </p:sp>
      <p:sp>
        <p:nvSpPr>
          <p:cNvPr id="30" name="Text 21"/>
          <p:cNvSpPr/>
          <p:nvPr/>
        </p:nvSpPr>
        <p:spPr>
          <a:xfrm>
            <a:off x="7488936" y="2157984"/>
            <a:ext cx="365760" cy="274320"/>
          </a:xfrm>
          <a:prstGeom prst="rect">
            <a:avLst/>
          </a:prstGeom>
          <a:noFill/>
          <a:ln/>
        </p:spPr>
        <p:txBody>
          <a:bodyPr wrap="square" lIns="0" tIns="0" rIns="0" bIns="0" rtlCol="0" anchor="ctr"/>
          <a:lstStyle/>
          <a:p>
            <a:pPr indent="0" marL="0">
              <a:buNone/>
            </a:pPr>
            <a:r>
              <a:rPr lang="en-US" sz="1100" b="1" dirty="0">
                <a:solidFill>
                  <a:srgbClr val="2E6F95"/>
                </a:solidFill>
                <a:latin typeface="Calibri" pitchFamily="34" charset="0"/>
                <a:ea typeface="Calibri" pitchFamily="34" charset="-122"/>
                <a:cs typeface="Calibri" pitchFamily="34" charset="-120"/>
              </a:rPr>
              <a:t>4</a:t>
            </a:r>
            <a:endParaRPr lang="en-US" sz="1100" dirty="0"/>
          </a:p>
        </p:txBody>
      </p:sp>
      <p:pic>
        <p:nvPicPr>
          <p:cNvPr id="31" name="Image 7" descr="/home/claude/insightai/assets/arrow_primary.png">    </p:cNvPr>
          <p:cNvPicPr>
            <a:picLocks noChangeAspect="1"/>
          </p:cNvPicPr>
          <p:nvPr/>
        </p:nvPicPr>
        <p:blipFill>
          <a:blip r:embed="rId8"/>
          <a:stretch>
            <a:fillRect/>
          </a:stretch>
        </p:blipFill>
        <p:spPr>
          <a:xfrm>
            <a:off x="9381744" y="3364992"/>
            <a:ext cx="219456" cy="219456"/>
          </a:xfrm>
          <a:prstGeom prst="rect">
            <a:avLst/>
          </a:prstGeom>
        </p:spPr>
      </p:pic>
      <p:sp>
        <p:nvSpPr>
          <p:cNvPr id="32" name="Shape 22"/>
          <p:cNvSpPr/>
          <p:nvPr/>
        </p:nvSpPr>
        <p:spPr>
          <a:xfrm>
            <a:off x="9656064" y="2103120"/>
            <a:ext cx="1984248" cy="2743200"/>
          </a:xfrm>
          <a:prstGeom prst="roundRect">
            <a:avLst>
              <a:gd name="adj" fmla="val 3687"/>
            </a:avLst>
          </a:prstGeom>
          <a:solidFill>
            <a:srgbClr val="1F3A5F"/>
          </a:solidFill>
          <a:ln/>
          <a:effectLst>
            <a:outerShdw sx="100000" sy="100000" kx="0" ky="0" algn="bl" rotWithShape="0" blurRad="88900" dist="25400" dir="5400000">
              <a:srgbClr val="1F3A5F">
                <a:alpha val="10000"/>
              </a:srgbClr>
            </a:outerShdw>
          </a:effectLst>
        </p:spPr>
      </p:sp>
      <p:sp>
        <p:nvSpPr>
          <p:cNvPr id="33" name="Shape 23"/>
          <p:cNvSpPr/>
          <p:nvPr/>
        </p:nvSpPr>
        <p:spPr>
          <a:xfrm>
            <a:off x="10328148" y="2423160"/>
            <a:ext cx="640080" cy="640080"/>
          </a:xfrm>
          <a:prstGeom prst="ellipse">
            <a:avLst/>
          </a:prstGeom>
          <a:solidFill>
            <a:srgbClr val="33567B"/>
          </a:solidFill>
          <a:ln/>
        </p:spPr>
      </p:sp>
      <p:pic>
        <p:nvPicPr>
          <p:cNvPr id="34" name="Image 8" descr="/home/claude/insightai/assets/robot_white.png">    </p:cNvPr>
          <p:cNvPicPr>
            <a:picLocks noChangeAspect="1"/>
          </p:cNvPicPr>
          <p:nvPr/>
        </p:nvPicPr>
        <p:blipFill>
          <a:blip r:embed="rId9"/>
          <a:stretch>
            <a:fillRect/>
          </a:stretch>
        </p:blipFill>
        <p:spPr>
          <a:xfrm>
            <a:off x="10424160" y="2519172"/>
            <a:ext cx="448056" cy="448056"/>
          </a:xfrm>
          <a:prstGeom prst="rect">
            <a:avLst/>
          </a:prstGeom>
        </p:spPr>
      </p:pic>
      <p:sp>
        <p:nvSpPr>
          <p:cNvPr id="35" name="Text 24"/>
          <p:cNvSpPr/>
          <p:nvPr/>
        </p:nvSpPr>
        <p:spPr>
          <a:xfrm>
            <a:off x="9765792" y="3246120"/>
            <a:ext cx="1764792"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LLM</a:t>
            </a:r>
            <a:endParaRPr lang="en-US" sz="1450" dirty="0"/>
          </a:p>
        </p:txBody>
      </p:sp>
      <p:sp>
        <p:nvSpPr>
          <p:cNvPr id="36" name="Text 25"/>
          <p:cNvSpPr/>
          <p:nvPr/>
        </p:nvSpPr>
        <p:spPr>
          <a:xfrm>
            <a:off x="9765792" y="3675888"/>
            <a:ext cx="1764792" cy="1005840"/>
          </a:xfrm>
          <a:prstGeom prst="rect">
            <a:avLst/>
          </a:prstGeom>
          <a:noFill/>
          <a:ln/>
        </p:spPr>
        <p:txBody>
          <a:bodyPr wrap="square" lIns="0" tIns="0" rIns="0" bIns="0" rtlCol="0" anchor="ctr"/>
          <a:lstStyle/>
          <a:p>
            <a:pPr algn="ctr" indent="0" marL="0">
              <a:lnSpc>
                <a:spcPct val="115000"/>
              </a:lnSpc>
              <a:buNone/>
            </a:pPr>
            <a:r>
              <a:rPr lang="en-US" sz="1100" dirty="0">
                <a:solidFill>
                  <a:srgbClr val="D7E4EE"/>
                </a:solidFill>
                <a:latin typeface="Calibri" pitchFamily="34" charset="0"/>
                <a:ea typeface="Calibri" pitchFamily="34" charset="-122"/>
                <a:cs typeface="Calibri" pitchFamily="34" charset="-120"/>
              </a:rPr>
              <a:t>Tổng hợp thành</a:t>
            </a:r>
            <a:endParaRPr lang="en-US" sz="1100" dirty="0"/>
          </a:p>
          <a:p>
            <a:pPr algn="ctr" indent="0" marL="0">
              <a:lnSpc>
                <a:spcPct val="115000"/>
              </a:lnSpc>
              <a:buNone/>
            </a:pPr>
            <a:r>
              <a:rPr lang="en-US" sz="1100" dirty="0">
                <a:solidFill>
                  <a:srgbClr val="D7E4EE"/>
                </a:solidFill>
                <a:latin typeface="Calibri" pitchFamily="34" charset="0"/>
                <a:ea typeface="Calibri" pitchFamily="34" charset="-122"/>
                <a:cs typeface="Calibri" pitchFamily="34" charset="-120"/>
              </a:rPr>
              <a:t>câu trả lời cuối</a:t>
            </a:r>
            <a:endParaRPr lang="en-US" sz="1100" dirty="0"/>
          </a:p>
        </p:txBody>
      </p:sp>
      <p:sp>
        <p:nvSpPr>
          <p:cNvPr id="37" name="Text 26"/>
          <p:cNvSpPr/>
          <p:nvPr/>
        </p:nvSpPr>
        <p:spPr>
          <a:xfrm>
            <a:off x="9765792" y="2157984"/>
            <a:ext cx="365760" cy="274320"/>
          </a:xfrm>
          <a:prstGeom prst="rect">
            <a:avLst/>
          </a:prstGeom>
          <a:noFill/>
          <a:ln/>
        </p:spPr>
        <p:txBody>
          <a:bodyPr wrap="square" lIns="0" tIns="0" rIns="0" bIns="0" rtlCol="0" anchor="ctr"/>
          <a:lstStyle/>
          <a:p>
            <a:pPr indent="0" marL="0">
              <a:buNone/>
            </a:pPr>
            <a:r>
              <a:rPr lang="en-US" sz="1100" b="1" dirty="0">
                <a:solidFill>
                  <a:srgbClr val="9FB7CC"/>
                </a:solidFill>
                <a:latin typeface="Calibri" pitchFamily="34" charset="0"/>
                <a:ea typeface="Calibri" pitchFamily="34" charset="-122"/>
                <a:cs typeface="Calibri" pitchFamily="34" charset="-120"/>
              </a:rPr>
              <a:t>5</a:t>
            </a:r>
            <a:endParaRPr lang="en-US" sz="1100" dirty="0"/>
          </a:p>
        </p:txBody>
      </p:sp>
      <p:sp>
        <p:nvSpPr>
          <p:cNvPr id="38" name="Shape 27"/>
          <p:cNvSpPr/>
          <p:nvPr/>
        </p:nvSpPr>
        <p:spPr>
          <a:xfrm>
            <a:off x="548640" y="5166360"/>
            <a:ext cx="11091672" cy="777240"/>
          </a:xfrm>
          <a:prstGeom prst="roundRect">
            <a:avLst>
              <a:gd name="adj" fmla="val 9412"/>
            </a:avLst>
          </a:prstGeom>
          <a:solidFill>
            <a:srgbClr val="F4F7FA"/>
          </a:solidFill>
          <a:ln/>
        </p:spPr>
      </p:sp>
      <p:sp>
        <p:nvSpPr>
          <p:cNvPr id="39" name="Text 28"/>
          <p:cNvSpPr/>
          <p:nvPr/>
        </p:nvSpPr>
        <p:spPr>
          <a:xfrm>
            <a:off x="868680" y="5166360"/>
            <a:ext cx="10451592" cy="777240"/>
          </a:xfrm>
          <a:prstGeom prst="rect">
            <a:avLst/>
          </a:prstGeom>
          <a:noFill/>
          <a:ln/>
        </p:spPr>
        <p:txBody>
          <a:bodyPr wrap="square" lIns="0" tIns="0" rIns="0" bIns="0" rtlCol="0" anchor="ctr"/>
          <a:lstStyle/>
          <a:p>
            <a:pPr indent="0" marL="0">
              <a:lnSpc>
                <a:spcPct val="120000"/>
              </a:lnSpc>
              <a:buNone/>
            </a:pPr>
            <a:r>
              <a:rPr lang="en-US" sz="1250" b="1" dirty="0">
                <a:solidFill>
                  <a:srgbClr val="1F3A5F"/>
                </a:solidFill>
                <a:latin typeface="Calibri" pitchFamily="34" charset="0"/>
                <a:ea typeface="Calibri" pitchFamily="34" charset="-122"/>
                <a:cs typeface="Calibri" pitchFamily="34" charset="-120"/>
              </a:rPr>
              <a:t>MMR (Maximal Marginal Relevance): </a:t>
            </a:r>
            <a:pPr indent="0" marL="0">
              <a:lnSpc>
                <a:spcPct val="120000"/>
              </a:lnSpc>
              <a:buNone/>
            </a:pPr>
            <a:r>
              <a:rPr lang="en-US" sz="1250" dirty="0">
                <a:solidFill>
                  <a:srgbClr val="1C2530"/>
                </a:solidFill>
                <a:latin typeface="Calibri" pitchFamily="34" charset="0"/>
                <a:ea typeface="Calibri" pitchFamily="34" charset="-122"/>
                <a:cs typeface="Calibri" pitchFamily="34" charset="-120"/>
              </a:rPr>
              <a:t>cân bằng giữa độ liên quan và độ đa dạng, áp dụng 2 lần — ở cấp khối văn bản và cấp câu — để tránh tóm tắt lặp ý.</a:t>
            </a:r>
            <a:endParaRPr lang="en-US" sz="1250" dirty="0"/>
          </a:p>
        </p:txBody>
      </p:sp>
      <p:sp>
        <p:nvSpPr>
          <p:cNvPr id="40" name="Text 29"/>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08</a:t>
            </a:r>
            <a:endParaRPr lang="en-US" sz="1000" dirty="0"/>
          </a:p>
        </p:txBody>
      </p:sp>
      <p:sp>
        <p:nvSpPr>
          <p:cNvPr id="41" name="Text 3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InsightAI</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2E6F95"/>
                </a:solidFill>
                <a:latin typeface="Calibri" pitchFamily="34" charset="0"/>
                <a:ea typeface="Calibri" pitchFamily="34" charset="-122"/>
                <a:cs typeface="Calibri" pitchFamily="34" charset="-120"/>
              </a:rPr>
              <a:t>08 — CÔNG NGHỆ</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Công nghệ sử dụng theo tầng</a:t>
            </a:r>
            <a:endParaRPr lang="en-US" sz="3200" dirty="0"/>
          </a:p>
        </p:txBody>
      </p:sp>
      <p:sp>
        <p:nvSpPr>
          <p:cNvPr id="4" name="Shape 2"/>
          <p:cNvSpPr/>
          <p:nvPr/>
        </p:nvSpPr>
        <p:spPr>
          <a:xfrm>
            <a:off x="548640" y="1737360"/>
            <a:ext cx="11091672" cy="841248"/>
          </a:xfrm>
          <a:prstGeom prst="roundRect">
            <a:avLst>
              <a:gd name="adj" fmla="val 8696"/>
            </a:avLst>
          </a:prstGeom>
          <a:solidFill>
            <a:srgbClr val="EAF0F5"/>
          </a:solidFill>
          <a:ln/>
        </p:spPr>
      </p:sp>
      <p:sp>
        <p:nvSpPr>
          <p:cNvPr id="5" name="Shape 3"/>
          <p:cNvSpPr/>
          <p:nvPr/>
        </p:nvSpPr>
        <p:spPr>
          <a:xfrm>
            <a:off x="822960" y="1906524"/>
            <a:ext cx="502920" cy="502920"/>
          </a:xfrm>
          <a:prstGeom prst="ellipse">
            <a:avLst/>
          </a:prstGeom>
          <a:solidFill>
            <a:srgbClr val="FFFFFF"/>
          </a:solidFill>
          <a:ln/>
        </p:spPr>
      </p:sp>
      <p:pic>
        <p:nvPicPr>
          <p:cNvPr id="6" name="Image 0" descr="/home/claude/insightai/assets/react_primary.png">    </p:cNvPr>
          <p:cNvPicPr>
            <a:picLocks noChangeAspect="1"/>
          </p:cNvPicPr>
          <p:nvPr/>
        </p:nvPicPr>
        <p:blipFill>
          <a:blip r:embed="rId1"/>
          <a:stretch>
            <a:fillRect/>
          </a:stretch>
        </p:blipFill>
        <p:spPr>
          <a:xfrm>
            <a:off x="898398" y="1981962"/>
            <a:ext cx="352044" cy="352044"/>
          </a:xfrm>
          <a:prstGeom prst="rect">
            <a:avLst/>
          </a:prstGeom>
        </p:spPr>
      </p:pic>
      <p:sp>
        <p:nvSpPr>
          <p:cNvPr id="7" name="Text 4"/>
          <p:cNvSpPr/>
          <p:nvPr/>
        </p:nvSpPr>
        <p:spPr>
          <a:xfrm>
            <a:off x="1600200" y="1737360"/>
            <a:ext cx="1828800" cy="841248"/>
          </a:xfrm>
          <a:prstGeom prst="rect">
            <a:avLst/>
          </a:prstGeom>
          <a:noFill/>
          <a:ln/>
        </p:spPr>
        <p:txBody>
          <a:bodyPr wrap="square" lIns="0" tIns="0" rIns="0" bIns="0" rtlCol="0" anchor="ctr"/>
          <a:lstStyle/>
          <a:p>
            <a:pPr indent="0" marL="0">
              <a:buNone/>
            </a:pPr>
            <a:r>
              <a:rPr lang="en-US" sz="1500" b="1" dirty="0">
                <a:solidFill>
                  <a:srgbClr val="1F3A5F"/>
                </a:solidFill>
                <a:latin typeface="Cambria" pitchFamily="34" charset="0"/>
                <a:ea typeface="Cambria" pitchFamily="34" charset="-122"/>
                <a:cs typeface="Cambria" pitchFamily="34" charset="-120"/>
              </a:rPr>
              <a:t>Frontend</a:t>
            </a:r>
            <a:endParaRPr lang="en-US" sz="1500" dirty="0"/>
          </a:p>
        </p:txBody>
      </p:sp>
      <p:sp>
        <p:nvSpPr>
          <p:cNvPr id="8" name="Shape 5"/>
          <p:cNvSpPr/>
          <p:nvPr/>
        </p:nvSpPr>
        <p:spPr>
          <a:xfrm>
            <a:off x="3566160" y="1874520"/>
            <a:ext cx="0" cy="566928"/>
          </a:xfrm>
          <a:prstGeom prst="line">
            <a:avLst/>
          </a:prstGeom>
          <a:noFill/>
          <a:ln w="12700">
            <a:solidFill>
              <a:srgbClr val="C9D6E0"/>
            </a:solidFill>
            <a:prstDash val="solid"/>
          </a:ln>
        </p:spPr>
      </p:sp>
      <p:sp>
        <p:nvSpPr>
          <p:cNvPr id="9" name="Text 6"/>
          <p:cNvSpPr/>
          <p:nvPr/>
        </p:nvSpPr>
        <p:spPr>
          <a:xfrm>
            <a:off x="3794760" y="1737360"/>
            <a:ext cx="7525512" cy="841248"/>
          </a:xfrm>
          <a:prstGeom prst="rect">
            <a:avLst/>
          </a:prstGeom>
          <a:noFill/>
          <a:ln/>
        </p:spPr>
        <p:txBody>
          <a:bodyPr wrap="square" lIns="0" tIns="0" rIns="0" bIns="0" rtlCol="0" anchor="ctr"/>
          <a:lstStyle/>
          <a:p>
            <a:pPr indent="0" marL="0">
              <a:lnSpc>
                <a:spcPct val="115000"/>
              </a:lnSpc>
              <a:buNone/>
            </a:pPr>
            <a:r>
              <a:rPr lang="en-US" sz="1250" dirty="0">
                <a:solidFill>
                  <a:srgbClr val="1C2530"/>
                </a:solidFill>
                <a:latin typeface="Calibri" pitchFamily="34" charset="0"/>
                <a:ea typeface="Calibri" pitchFamily="34" charset="-122"/>
                <a:cs typeface="Calibri" pitchFamily="34" charset="-120"/>
              </a:rPr>
              <a:t>React 18 · TypeScript · Vite · Tailwind CSS · react-markdown · KaTeX</a:t>
            </a:r>
            <a:endParaRPr lang="en-US" sz="1250" dirty="0"/>
          </a:p>
        </p:txBody>
      </p:sp>
      <p:sp>
        <p:nvSpPr>
          <p:cNvPr id="10" name="Shape 7"/>
          <p:cNvSpPr/>
          <p:nvPr/>
        </p:nvSpPr>
        <p:spPr>
          <a:xfrm>
            <a:off x="548640" y="2688336"/>
            <a:ext cx="11091672" cy="841248"/>
          </a:xfrm>
          <a:prstGeom prst="roundRect">
            <a:avLst>
              <a:gd name="adj" fmla="val 8696"/>
            </a:avLst>
          </a:prstGeom>
          <a:solidFill>
            <a:srgbClr val="F4F7FA"/>
          </a:solidFill>
          <a:ln/>
        </p:spPr>
      </p:sp>
      <p:sp>
        <p:nvSpPr>
          <p:cNvPr id="11" name="Shape 8"/>
          <p:cNvSpPr/>
          <p:nvPr/>
        </p:nvSpPr>
        <p:spPr>
          <a:xfrm>
            <a:off x="822960" y="2857500"/>
            <a:ext cx="502920" cy="502920"/>
          </a:xfrm>
          <a:prstGeom prst="ellipse">
            <a:avLst/>
          </a:prstGeom>
          <a:solidFill>
            <a:srgbClr val="FFFFFF"/>
          </a:solidFill>
          <a:ln/>
        </p:spPr>
      </p:sp>
      <p:pic>
        <p:nvPicPr>
          <p:cNvPr id="12" name="Image 1" descr="/home/claude/insightai/assets/server_primary.png">    </p:cNvPr>
          <p:cNvPicPr>
            <a:picLocks noChangeAspect="1"/>
          </p:cNvPicPr>
          <p:nvPr/>
        </p:nvPicPr>
        <p:blipFill>
          <a:blip r:embed="rId2"/>
          <a:stretch>
            <a:fillRect/>
          </a:stretch>
        </p:blipFill>
        <p:spPr>
          <a:xfrm>
            <a:off x="898398" y="2932938"/>
            <a:ext cx="352044" cy="352044"/>
          </a:xfrm>
          <a:prstGeom prst="rect">
            <a:avLst/>
          </a:prstGeom>
        </p:spPr>
      </p:pic>
      <p:sp>
        <p:nvSpPr>
          <p:cNvPr id="13" name="Text 9"/>
          <p:cNvSpPr/>
          <p:nvPr/>
        </p:nvSpPr>
        <p:spPr>
          <a:xfrm>
            <a:off x="1600200" y="2688336"/>
            <a:ext cx="1828800" cy="841248"/>
          </a:xfrm>
          <a:prstGeom prst="rect">
            <a:avLst/>
          </a:prstGeom>
          <a:noFill/>
          <a:ln/>
        </p:spPr>
        <p:txBody>
          <a:bodyPr wrap="square" lIns="0" tIns="0" rIns="0" bIns="0" rtlCol="0" anchor="ctr"/>
          <a:lstStyle/>
          <a:p>
            <a:pPr indent="0" marL="0">
              <a:buNone/>
            </a:pPr>
            <a:r>
              <a:rPr lang="en-US" sz="1500" b="1" dirty="0">
                <a:solidFill>
                  <a:srgbClr val="1F3A5F"/>
                </a:solidFill>
                <a:latin typeface="Cambria" pitchFamily="34" charset="0"/>
                <a:ea typeface="Cambria" pitchFamily="34" charset="-122"/>
                <a:cs typeface="Cambria" pitchFamily="34" charset="-120"/>
              </a:rPr>
              <a:t>Backend</a:t>
            </a:r>
            <a:endParaRPr lang="en-US" sz="1500" dirty="0"/>
          </a:p>
        </p:txBody>
      </p:sp>
      <p:sp>
        <p:nvSpPr>
          <p:cNvPr id="14" name="Shape 10"/>
          <p:cNvSpPr/>
          <p:nvPr/>
        </p:nvSpPr>
        <p:spPr>
          <a:xfrm>
            <a:off x="3566160" y="2825496"/>
            <a:ext cx="0" cy="566928"/>
          </a:xfrm>
          <a:prstGeom prst="line">
            <a:avLst/>
          </a:prstGeom>
          <a:noFill/>
          <a:ln w="12700">
            <a:solidFill>
              <a:srgbClr val="C9D6E0"/>
            </a:solidFill>
            <a:prstDash val="solid"/>
          </a:ln>
        </p:spPr>
      </p:sp>
      <p:sp>
        <p:nvSpPr>
          <p:cNvPr id="15" name="Text 11"/>
          <p:cNvSpPr/>
          <p:nvPr/>
        </p:nvSpPr>
        <p:spPr>
          <a:xfrm>
            <a:off x="3794760" y="2688336"/>
            <a:ext cx="7525512" cy="841248"/>
          </a:xfrm>
          <a:prstGeom prst="rect">
            <a:avLst/>
          </a:prstGeom>
          <a:noFill/>
          <a:ln/>
        </p:spPr>
        <p:txBody>
          <a:bodyPr wrap="square" lIns="0" tIns="0" rIns="0" bIns="0" rtlCol="0" anchor="ctr"/>
          <a:lstStyle/>
          <a:p>
            <a:pPr indent="0" marL="0">
              <a:lnSpc>
                <a:spcPct val="115000"/>
              </a:lnSpc>
              <a:buNone/>
            </a:pPr>
            <a:r>
              <a:rPr lang="en-US" sz="1250" dirty="0">
                <a:solidFill>
                  <a:srgbClr val="1C2530"/>
                </a:solidFill>
                <a:latin typeface="Calibri" pitchFamily="34" charset="0"/>
                <a:ea typeface="Calibri" pitchFamily="34" charset="-122"/>
                <a:cs typeface="Calibri" pitchFamily="34" charset="-120"/>
              </a:rPr>
              <a:t>Python 3.10 · FastAPI (async) · Uvicorn</a:t>
            </a:r>
            <a:endParaRPr lang="en-US" sz="1250" dirty="0"/>
          </a:p>
        </p:txBody>
      </p:sp>
      <p:sp>
        <p:nvSpPr>
          <p:cNvPr id="16" name="Shape 12"/>
          <p:cNvSpPr/>
          <p:nvPr/>
        </p:nvSpPr>
        <p:spPr>
          <a:xfrm>
            <a:off x="548640" y="3639312"/>
            <a:ext cx="11091672" cy="841248"/>
          </a:xfrm>
          <a:prstGeom prst="roundRect">
            <a:avLst>
              <a:gd name="adj" fmla="val 8696"/>
            </a:avLst>
          </a:prstGeom>
          <a:solidFill>
            <a:srgbClr val="EAF0F5"/>
          </a:solidFill>
          <a:ln/>
        </p:spPr>
      </p:sp>
      <p:sp>
        <p:nvSpPr>
          <p:cNvPr id="17" name="Shape 13"/>
          <p:cNvSpPr/>
          <p:nvPr/>
        </p:nvSpPr>
        <p:spPr>
          <a:xfrm>
            <a:off x="822960" y="3808476"/>
            <a:ext cx="502920" cy="502920"/>
          </a:xfrm>
          <a:prstGeom prst="ellipse">
            <a:avLst/>
          </a:prstGeom>
          <a:solidFill>
            <a:srgbClr val="FFFFFF"/>
          </a:solidFill>
          <a:ln/>
        </p:spPr>
      </p:sp>
      <p:pic>
        <p:nvPicPr>
          <p:cNvPr id="18" name="Image 2" descr="/home/claude/insightai/assets/search_primary.png">    </p:cNvPr>
          <p:cNvPicPr>
            <a:picLocks noChangeAspect="1"/>
          </p:cNvPicPr>
          <p:nvPr/>
        </p:nvPicPr>
        <p:blipFill>
          <a:blip r:embed="rId3"/>
          <a:stretch>
            <a:fillRect/>
          </a:stretch>
        </p:blipFill>
        <p:spPr>
          <a:xfrm>
            <a:off x="898398" y="3883914"/>
            <a:ext cx="352044" cy="352044"/>
          </a:xfrm>
          <a:prstGeom prst="rect">
            <a:avLst/>
          </a:prstGeom>
        </p:spPr>
      </p:pic>
      <p:sp>
        <p:nvSpPr>
          <p:cNvPr id="19" name="Text 14"/>
          <p:cNvSpPr/>
          <p:nvPr/>
        </p:nvSpPr>
        <p:spPr>
          <a:xfrm>
            <a:off x="1600200" y="3639312"/>
            <a:ext cx="1828800" cy="841248"/>
          </a:xfrm>
          <a:prstGeom prst="rect">
            <a:avLst/>
          </a:prstGeom>
          <a:noFill/>
          <a:ln/>
        </p:spPr>
        <p:txBody>
          <a:bodyPr wrap="square" lIns="0" tIns="0" rIns="0" bIns="0" rtlCol="0" anchor="ctr"/>
          <a:lstStyle/>
          <a:p>
            <a:pPr indent="0" marL="0">
              <a:buNone/>
            </a:pPr>
            <a:r>
              <a:rPr lang="en-US" sz="1500" b="1" dirty="0">
                <a:solidFill>
                  <a:srgbClr val="1F3A5F"/>
                </a:solidFill>
                <a:latin typeface="Cambria" pitchFamily="34" charset="0"/>
                <a:ea typeface="Cambria" pitchFamily="34" charset="-122"/>
                <a:cs typeface="Cambria" pitchFamily="34" charset="-120"/>
              </a:rPr>
              <a:t>RAG Engine</a:t>
            </a:r>
            <a:endParaRPr lang="en-US" sz="1500" dirty="0"/>
          </a:p>
        </p:txBody>
      </p:sp>
      <p:sp>
        <p:nvSpPr>
          <p:cNvPr id="20" name="Shape 15"/>
          <p:cNvSpPr/>
          <p:nvPr/>
        </p:nvSpPr>
        <p:spPr>
          <a:xfrm>
            <a:off x="3566160" y="3776472"/>
            <a:ext cx="0" cy="566928"/>
          </a:xfrm>
          <a:prstGeom prst="line">
            <a:avLst/>
          </a:prstGeom>
          <a:noFill/>
          <a:ln w="12700">
            <a:solidFill>
              <a:srgbClr val="C9D6E0"/>
            </a:solidFill>
            <a:prstDash val="solid"/>
          </a:ln>
        </p:spPr>
      </p:sp>
      <p:sp>
        <p:nvSpPr>
          <p:cNvPr id="21" name="Text 16"/>
          <p:cNvSpPr/>
          <p:nvPr/>
        </p:nvSpPr>
        <p:spPr>
          <a:xfrm>
            <a:off x="3794760" y="3639312"/>
            <a:ext cx="7525512" cy="841248"/>
          </a:xfrm>
          <a:prstGeom prst="rect">
            <a:avLst/>
          </a:prstGeom>
          <a:noFill/>
          <a:ln/>
        </p:spPr>
        <p:txBody>
          <a:bodyPr wrap="square" lIns="0" tIns="0" rIns="0" bIns="0" rtlCol="0" anchor="ctr"/>
          <a:lstStyle/>
          <a:p>
            <a:pPr indent="0" marL="0">
              <a:lnSpc>
                <a:spcPct val="115000"/>
              </a:lnSpc>
              <a:buNone/>
            </a:pPr>
            <a:r>
              <a:rPr lang="en-US" sz="1250" dirty="0">
                <a:solidFill>
                  <a:srgbClr val="1C2530"/>
                </a:solidFill>
                <a:latin typeface="Calibri" pitchFamily="34" charset="0"/>
                <a:ea typeface="Calibri" pitchFamily="34" charset="-122"/>
                <a:cs typeface="Calibri" pitchFamily="34" charset="-120"/>
              </a:rPr>
              <a:t>sentence-transformers (BGE-small-en) · FAISS · rank-bm25 · Cross-Encoder (MiniLM) · LangChain</a:t>
            </a:r>
            <a:endParaRPr lang="en-US" sz="1250" dirty="0"/>
          </a:p>
        </p:txBody>
      </p:sp>
      <p:sp>
        <p:nvSpPr>
          <p:cNvPr id="22" name="Shape 17"/>
          <p:cNvSpPr/>
          <p:nvPr/>
        </p:nvSpPr>
        <p:spPr>
          <a:xfrm>
            <a:off x="548640" y="4590288"/>
            <a:ext cx="11091672" cy="841248"/>
          </a:xfrm>
          <a:prstGeom prst="roundRect">
            <a:avLst>
              <a:gd name="adj" fmla="val 8696"/>
            </a:avLst>
          </a:prstGeom>
          <a:solidFill>
            <a:srgbClr val="F4F7FA"/>
          </a:solidFill>
          <a:ln/>
        </p:spPr>
      </p:sp>
      <p:sp>
        <p:nvSpPr>
          <p:cNvPr id="23" name="Shape 18"/>
          <p:cNvSpPr/>
          <p:nvPr/>
        </p:nvSpPr>
        <p:spPr>
          <a:xfrm>
            <a:off x="822960" y="4759452"/>
            <a:ext cx="502920" cy="502920"/>
          </a:xfrm>
          <a:prstGeom prst="ellipse">
            <a:avLst/>
          </a:prstGeom>
          <a:solidFill>
            <a:srgbClr val="FFFFFF"/>
          </a:solidFill>
          <a:ln/>
        </p:spPr>
      </p:sp>
      <p:pic>
        <p:nvPicPr>
          <p:cNvPr id="24" name="Image 3" descr="/home/claude/insightai/assets/robot_primary.png">    </p:cNvPr>
          <p:cNvPicPr>
            <a:picLocks noChangeAspect="1"/>
          </p:cNvPicPr>
          <p:nvPr/>
        </p:nvPicPr>
        <p:blipFill>
          <a:blip r:embed="rId4"/>
          <a:stretch>
            <a:fillRect/>
          </a:stretch>
        </p:blipFill>
        <p:spPr>
          <a:xfrm>
            <a:off x="898398" y="4834890"/>
            <a:ext cx="352044" cy="352044"/>
          </a:xfrm>
          <a:prstGeom prst="rect">
            <a:avLst/>
          </a:prstGeom>
        </p:spPr>
      </p:pic>
      <p:sp>
        <p:nvSpPr>
          <p:cNvPr id="25" name="Text 19"/>
          <p:cNvSpPr/>
          <p:nvPr/>
        </p:nvSpPr>
        <p:spPr>
          <a:xfrm>
            <a:off x="1600200" y="4590288"/>
            <a:ext cx="1828800" cy="841248"/>
          </a:xfrm>
          <a:prstGeom prst="rect">
            <a:avLst/>
          </a:prstGeom>
          <a:noFill/>
          <a:ln/>
        </p:spPr>
        <p:txBody>
          <a:bodyPr wrap="square" lIns="0" tIns="0" rIns="0" bIns="0" rtlCol="0" anchor="ctr"/>
          <a:lstStyle/>
          <a:p>
            <a:pPr indent="0" marL="0">
              <a:buNone/>
            </a:pPr>
            <a:r>
              <a:rPr lang="en-US" sz="1500" b="1" dirty="0">
                <a:solidFill>
                  <a:srgbClr val="1F3A5F"/>
                </a:solidFill>
                <a:latin typeface="Cambria" pitchFamily="34" charset="0"/>
                <a:ea typeface="Cambria" pitchFamily="34" charset="-122"/>
                <a:cs typeface="Cambria" pitchFamily="34" charset="-120"/>
              </a:rPr>
              <a:t>LLM Providers</a:t>
            </a:r>
            <a:endParaRPr lang="en-US" sz="1500" dirty="0"/>
          </a:p>
        </p:txBody>
      </p:sp>
      <p:sp>
        <p:nvSpPr>
          <p:cNvPr id="26" name="Shape 20"/>
          <p:cNvSpPr/>
          <p:nvPr/>
        </p:nvSpPr>
        <p:spPr>
          <a:xfrm>
            <a:off x="3566160" y="4727448"/>
            <a:ext cx="0" cy="566928"/>
          </a:xfrm>
          <a:prstGeom prst="line">
            <a:avLst/>
          </a:prstGeom>
          <a:noFill/>
          <a:ln w="12700">
            <a:solidFill>
              <a:srgbClr val="C9D6E0"/>
            </a:solidFill>
            <a:prstDash val="solid"/>
          </a:ln>
        </p:spPr>
      </p:sp>
      <p:sp>
        <p:nvSpPr>
          <p:cNvPr id="27" name="Text 21"/>
          <p:cNvSpPr/>
          <p:nvPr/>
        </p:nvSpPr>
        <p:spPr>
          <a:xfrm>
            <a:off x="3794760" y="4590288"/>
            <a:ext cx="7525512" cy="841248"/>
          </a:xfrm>
          <a:prstGeom prst="rect">
            <a:avLst/>
          </a:prstGeom>
          <a:noFill/>
          <a:ln/>
        </p:spPr>
        <p:txBody>
          <a:bodyPr wrap="square" lIns="0" tIns="0" rIns="0" bIns="0" rtlCol="0" anchor="ctr"/>
          <a:lstStyle/>
          <a:p>
            <a:pPr indent="0" marL="0">
              <a:lnSpc>
                <a:spcPct val="115000"/>
              </a:lnSpc>
              <a:buNone/>
            </a:pPr>
            <a:r>
              <a:rPr lang="en-US" sz="1250" dirty="0">
                <a:solidFill>
                  <a:srgbClr val="1C2530"/>
                </a:solidFill>
                <a:latin typeface="Calibri" pitchFamily="34" charset="0"/>
                <a:ea typeface="Calibri" pitchFamily="34" charset="-122"/>
                <a:cs typeface="Calibri" pitchFamily="34" charset="-120"/>
              </a:rPr>
              <a:t>OpenRouter (chính) · LM Studio (cục bộ) · Google Gemini (tuỳ chọn)</a:t>
            </a:r>
            <a:endParaRPr lang="en-US" sz="1250" dirty="0"/>
          </a:p>
        </p:txBody>
      </p:sp>
      <p:sp>
        <p:nvSpPr>
          <p:cNvPr id="28" name="Shape 22"/>
          <p:cNvSpPr/>
          <p:nvPr/>
        </p:nvSpPr>
        <p:spPr>
          <a:xfrm>
            <a:off x="548640" y="5541264"/>
            <a:ext cx="11091672" cy="841248"/>
          </a:xfrm>
          <a:prstGeom prst="roundRect">
            <a:avLst>
              <a:gd name="adj" fmla="val 8696"/>
            </a:avLst>
          </a:prstGeom>
          <a:solidFill>
            <a:srgbClr val="EAF0F5"/>
          </a:solidFill>
          <a:ln/>
        </p:spPr>
      </p:sp>
      <p:sp>
        <p:nvSpPr>
          <p:cNvPr id="29" name="Shape 23"/>
          <p:cNvSpPr/>
          <p:nvPr/>
        </p:nvSpPr>
        <p:spPr>
          <a:xfrm>
            <a:off x="822960" y="5710428"/>
            <a:ext cx="502920" cy="502920"/>
          </a:xfrm>
          <a:prstGeom prst="ellipse">
            <a:avLst/>
          </a:prstGeom>
          <a:solidFill>
            <a:srgbClr val="FFFFFF"/>
          </a:solidFill>
          <a:ln/>
        </p:spPr>
      </p:sp>
      <p:pic>
        <p:nvPicPr>
          <p:cNvPr id="30" name="Image 4" descr="/home/claude/insightai/assets/docker_primary.png">    </p:cNvPr>
          <p:cNvPicPr>
            <a:picLocks noChangeAspect="1"/>
          </p:cNvPicPr>
          <p:nvPr/>
        </p:nvPicPr>
        <p:blipFill>
          <a:blip r:embed="rId5"/>
          <a:stretch>
            <a:fillRect/>
          </a:stretch>
        </p:blipFill>
        <p:spPr>
          <a:xfrm>
            <a:off x="898398" y="5785866"/>
            <a:ext cx="352044" cy="352044"/>
          </a:xfrm>
          <a:prstGeom prst="rect">
            <a:avLst/>
          </a:prstGeom>
        </p:spPr>
      </p:pic>
      <p:sp>
        <p:nvSpPr>
          <p:cNvPr id="31" name="Text 24"/>
          <p:cNvSpPr/>
          <p:nvPr/>
        </p:nvSpPr>
        <p:spPr>
          <a:xfrm>
            <a:off x="1600200" y="5541264"/>
            <a:ext cx="1828800" cy="841248"/>
          </a:xfrm>
          <a:prstGeom prst="rect">
            <a:avLst/>
          </a:prstGeom>
          <a:noFill/>
          <a:ln/>
        </p:spPr>
        <p:txBody>
          <a:bodyPr wrap="square" lIns="0" tIns="0" rIns="0" bIns="0" rtlCol="0" anchor="ctr"/>
          <a:lstStyle/>
          <a:p>
            <a:pPr indent="0" marL="0">
              <a:buNone/>
            </a:pPr>
            <a:r>
              <a:rPr lang="en-US" sz="1500" b="1" dirty="0">
                <a:solidFill>
                  <a:srgbClr val="1F3A5F"/>
                </a:solidFill>
                <a:latin typeface="Cambria" pitchFamily="34" charset="0"/>
                <a:ea typeface="Cambria" pitchFamily="34" charset="-122"/>
                <a:cs typeface="Cambria" pitchFamily="34" charset="-120"/>
              </a:rPr>
              <a:t>Triển khai</a:t>
            </a:r>
            <a:endParaRPr lang="en-US" sz="1500" dirty="0"/>
          </a:p>
        </p:txBody>
      </p:sp>
      <p:sp>
        <p:nvSpPr>
          <p:cNvPr id="32" name="Shape 25"/>
          <p:cNvSpPr/>
          <p:nvPr/>
        </p:nvSpPr>
        <p:spPr>
          <a:xfrm>
            <a:off x="3566160" y="5678424"/>
            <a:ext cx="0" cy="566928"/>
          </a:xfrm>
          <a:prstGeom prst="line">
            <a:avLst/>
          </a:prstGeom>
          <a:noFill/>
          <a:ln w="12700">
            <a:solidFill>
              <a:srgbClr val="C9D6E0"/>
            </a:solidFill>
            <a:prstDash val="solid"/>
          </a:ln>
        </p:spPr>
      </p:sp>
      <p:sp>
        <p:nvSpPr>
          <p:cNvPr id="33" name="Text 26"/>
          <p:cNvSpPr/>
          <p:nvPr/>
        </p:nvSpPr>
        <p:spPr>
          <a:xfrm>
            <a:off x="3794760" y="5541264"/>
            <a:ext cx="7525512" cy="841248"/>
          </a:xfrm>
          <a:prstGeom prst="rect">
            <a:avLst/>
          </a:prstGeom>
          <a:noFill/>
          <a:ln/>
        </p:spPr>
        <p:txBody>
          <a:bodyPr wrap="square" lIns="0" tIns="0" rIns="0" bIns="0" rtlCol="0" anchor="ctr"/>
          <a:lstStyle/>
          <a:p>
            <a:pPr indent="0" marL="0">
              <a:lnSpc>
                <a:spcPct val="115000"/>
              </a:lnSpc>
              <a:buNone/>
            </a:pPr>
            <a:r>
              <a:rPr lang="en-US" sz="1250" dirty="0">
                <a:solidFill>
                  <a:srgbClr val="1C2530"/>
                </a:solidFill>
                <a:latin typeface="Calibri" pitchFamily="34" charset="0"/>
                <a:ea typeface="Calibri" pitchFamily="34" charset="-122"/>
                <a:cs typeface="Calibri" pitchFamily="34" charset="-120"/>
              </a:rPr>
              <a:t>Docker &amp; Docker Compose</a:t>
            </a:r>
            <a:endParaRPr lang="en-US" sz="1250" dirty="0"/>
          </a:p>
        </p:txBody>
      </p:sp>
      <p:sp>
        <p:nvSpPr>
          <p:cNvPr id="34" name="Text 2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09</a:t>
            </a:r>
            <a:endParaRPr lang="en-US" sz="1000" dirty="0"/>
          </a:p>
        </p:txBody>
      </p:sp>
      <p:sp>
        <p:nvSpPr>
          <p:cNvPr id="35" name="Text 28"/>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InsightAI</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2E6F95"/>
                </a:solidFill>
                <a:latin typeface="Calibri" pitchFamily="34" charset="0"/>
                <a:ea typeface="Calibri" pitchFamily="34" charset="-122"/>
                <a:cs typeface="Calibri" pitchFamily="34" charset="-120"/>
              </a:rPr>
              <a:t>09 — KẾT QUẢ</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Kết quả đạt được</a:t>
            </a:r>
            <a:endParaRPr lang="en-US" sz="3200" dirty="0"/>
          </a:p>
        </p:txBody>
      </p:sp>
      <p:sp>
        <p:nvSpPr>
          <p:cNvPr id="4" name="Shape 2"/>
          <p:cNvSpPr/>
          <p:nvPr/>
        </p:nvSpPr>
        <p:spPr>
          <a:xfrm>
            <a:off x="548640" y="1783080"/>
            <a:ext cx="3483864" cy="1828800"/>
          </a:xfrm>
          <a:prstGeom prst="roundRect">
            <a:avLst>
              <a:gd name="adj" fmla="val 4000"/>
            </a:avLst>
          </a:prstGeom>
          <a:solidFill>
            <a:srgbClr val="EAF0F5"/>
          </a:solidFill>
          <a:ln/>
          <a:effectLst>
            <a:outerShdw sx="100000" sy="100000" kx="0" ky="0" algn="bl" rotWithShape="0" blurRad="88900" dist="25400" dir="5400000">
              <a:srgbClr val="1F3A5F">
                <a:alpha val="10000"/>
              </a:srgbClr>
            </a:outerShdw>
          </a:effectLst>
        </p:spPr>
      </p:sp>
      <p:sp>
        <p:nvSpPr>
          <p:cNvPr id="5" name="Shape 3"/>
          <p:cNvSpPr/>
          <p:nvPr/>
        </p:nvSpPr>
        <p:spPr>
          <a:xfrm>
            <a:off x="822960" y="2057400"/>
            <a:ext cx="548640" cy="548640"/>
          </a:xfrm>
          <a:prstGeom prst="ellipse">
            <a:avLst/>
          </a:prstGeom>
          <a:solidFill>
            <a:srgbClr val="FFFFFF"/>
          </a:solidFill>
          <a:ln/>
        </p:spPr>
      </p:sp>
      <p:pic>
        <p:nvPicPr>
          <p:cNvPr id="6" name="Image 0" descr="/home/claude/insightai/assets/file_primary.png">    </p:cNvPr>
          <p:cNvPicPr>
            <a:picLocks noChangeAspect="1"/>
          </p:cNvPicPr>
          <p:nvPr/>
        </p:nvPicPr>
        <p:blipFill>
          <a:blip r:embed="rId1"/>
          <a:stretch>
            <a:fillRect/>
          </a:stretch>
        </p:blipFill>
        <p:spPr>
          <a:xfrm>
            <a:off x="905256" y="2139696"/>
            <a:ext cx="384048" cy="384048"/>
          </a:xfrm>
          <a:prstGeom prst="rect">
            <a:avLst/>
          </a:prstGeom>
        </p:spPr>
      </p:pic>
      <p:sp>
        <p:nvSpPr>
          <p:cNvPr id="7" name="Text 4"/>
          <p:cNvSpPr/>
          <p:nvPr/>
        </p:nvSpPr>
        <p:spPr>
          <a:xfrm>
            <a:off x="1508760" y="2011680"/>
            <a:ext cx="2295144" cy="594360"/>
          </a:xfrm>
          <a:prstGeom prst="rect">
            <a:avLst/>
          </a:prstGeom>
          <a:noFill/>
          <a:ln/>
        </p:spPr>
        <p:txBody>
          <a:bodyPr wrap="square" lIns="0" tIns="0" rIns="0" bIns="0" rtlCol="0" anchor="t"/>
          <a:lstStyle/>
          <a:p>
            <a:pPr indent="0" marL="0">
              <a:buNone/>
            </a:pPr>
            <a:r>
              <a:rPr lang="en-US" sz="1400" b="1" dirty="0">
                <a:solidFill>
                  <a:srgbClr val="1F3A5F"/>
                </a:solidFill>
                <a:latin typeface="Cambria" pitchFamily="34" charset="0"/>
                <a:ea typeface="Cambria" pitchFamily="34" charset="-122"/>
                <a:cs typeface="Cambria" pitchFamily="34" charset="-120"/>
              </a:rPr>
              <a:t>Đa định dạng tài liệu</a:t>
            </a:r>
            <a:endParaRPr lang="en-US" sz="1400" dirty="0"/>
          </a:p>
        </p:txBody>
      </p:sp>
      <p:sp>
        <p:nvSpPr>
          <p:cNvPr id="8" name="Text 5"/>
          <p:cNvSpPr/>
          <p:nvPr/>
        </p:nvSpPr>
        <p:spPr>
          <a:xfrm>
            <a:off x="822960" y="2679192"/>
            <a:ext cx="2935224" cy="822960"/>
          </a:xfrm>
          <a:prstGeom prst="rect">
            <a:avLst/>
          </a:prstGeom>
          <a:noFill/>
          <a:ln/>
        </p:spPr>
        <p:txBody>
          <a:bodyPr wrap="square" lIns="0" tIns="0" rIns="0" bIns="0" rtlCol="0" anchor="ctr"/>
          <a:lstStyle/>
          <a:p>
            <a:pPr indent="0" marL="0">
              <a:lnSpc>
                <a:spcPct val="120000"/>
              </a:lnSpc>
              <a:buNone/>
            </a:pPr>
            <a:r>
              <a:rPr lang="en-US" sz="1150" dirty="0">
                <a:solidFill>
                  <a:srgbClr val="1C2530"/>
                </a:solidFill>
                <a:latin typeface="Calibri" pitchFamily="34" charset="0"/>
                <a:ea typeface="Calibri" pitchFamily="34" charset="-122"/>
                <a:cs typeface="Calibri" pitchFamily="34" charset="-120"/>
              </a:rPr>
              <a:t>Hỗ trợ PDF, DOCX, CSV, TXT với pipeline trích xuất riêng</a:t>
            </a:r>
            <a:endParaRPr lang="en-US" sz="1150" dirty="0"/>
          </a:p>
        </p:txBody>
      </p:sp>
      <p:sp>
        <p:nvSpPr>
          <p:cNvPr id="9" name="Shape 6"/>
          <p:cNvSpPr/>
          <p:nvPr/>
        </p:nvSpPr>
        <p:spPr>
          <a:xfrm>
            <a:off x="4352544" y="1783080"/>
            <a:ext cx="3483864" cy="1828800"/>
          </a:xfrm>
          <a:prstGeom prst="roundRect">
            <a:avLst>
              <a:gd name="adj" fmla="val 4000"/>
            </a:avLst>
          </a:prstGeom>
          <a:solidFill>
            <a:srgbClr val="EAF0F5"/>
          </a:solidFill>
          <a:ln/>
          <a:effectLst>
            <a:outerShdw sx="100000" sy="100000" kx="0" ky="0" algn="bl" rotWithShape="0" blurRad="88900" dist="25400" dir="5400000">
              <a:srgbClr val="1F3A5F">
                <a:alpha val="10000"/>
              </a:srgbClr>
            </a:outerShdw>
          </a:effectLst>
        </p:spPr>
      </p:sp>
      <p:sp>
        <p:nvSpPr>
          <p:cNvPr id="10" name="Shape 7"/>
          <p:cNvSpPr/>
          <p:nvPr/>
        </p:nvSpPr>
        <p:spPr>
          <a:xfrm>
            <a:off x="4626864" y="2057400"/>
            <a:ext cx="548640" cy="548640"/>
          </a:xfrm>
          <a:prstGeom prst="ellipse">
            <a:avLst/>
          </a:prstGeom>
          <a:solidFill>
            <a:srgbClr val="FFFFFF"/>
          </a:solidFill>
          <a:ln/>
        </p:spPr>
      </p:sp>
      <p:pic>
        <p:nvPicPr>
          <p:cNvPr id="11" name="Image 1" descr="/home/claude/insightai/assets/lang_primary.png">    </p:cNvPr>
          <p:cNvPicPr>
            <a:picLocks noChangeAspect="1"/>
          </p:cNvPicPr>
          <p:nvPr/>
        </p:nvPicPr>
        <p:blipFill>
          <a:blip r:embed="rId2"/>
          <a:stretch>
            <a:fillRect/>
          </a:stretch>
        </p:blipFill>
        <p:spPr>
          <a:xfrm>
            <a:off x="4709160" y="2139696"/>
            <a:ext cx="384048" cy="384048"/>
          </a:xfrm>
          <a:prstGeom prst="rect">
            <a:avLst/>
          </a:prstGeom>
        </p:spPr>
      </p:pic>
      <p:sp>
        <p:nvSpPr>
          <p:cNvPr id="12" name="Text 8"/>
          <p:cNvSpPr/>
          <p:nvPr/>
        </p:nvSpPr>
        <p:spPr>
          <a:xfrm>
            <a:off x="5312664" y="2011680"/>
            <a:ext cx="2295144" cy="594360"/>
          </a:xfrm>
          <a:prstGeom prst="rect">
            <a:avLst/>
          </a:prstGeom>
          <a:noFill/>
          <a:ln/>
        </p:spPr>
        <p:txBody>
          <a:bodyPr wrap="square" lIns="0" tIns="0" rIns="0" bIns="0" rtlCol="0" anchor="t"/>
          <a:lstStyle/>
          <a:p>
            <a:pPr indent="0" marL="0">
              <a:buNone/>
            </a:pPr>
            <a:r>
              <a:rPr lang="en-US" sz="1400" b="1" dirty="0">
                <a:solidFill>
                  <a:srgbClr val="1F3A5F"/>
                </a:solidFill>
                <a:latin typeface="Cambria" pitchFamily="34" charset="0"/>
                <a:ea typeface="Cambria" pitchFamily="34" charset="-122"/>
                <a:cs typeface="Cambria" pitchFamily="34" charset="-120"/>
              </a:rPr>
              <a:t>Hỏi đáp tiếng Việt</a:t>
            </a:r>
            <a:endParaRPr lang="en-US" sz="1400" dirty="0"/>
          </a:p>
        </p:txBody>
      </p:sp>
      <p:sp>
        <p:nvSpPr>
          <p:cNvPr id="13" name="Text 9"/>
          <p:cNvSpPr/>
          <p:nvPr/>
        </p:nvSpPr>
        <p:spPr>
          <a:xfrm>
            <a:off x="4626864" y="2679192"/>
            <a:ext cx="2935224" cy="822960"/>
          </a:xfrm>
          <a:prstGeom prst="rect">
            <a:avLst/>
          </a:prstGeom>
          <a:noFill/>
          <a:ln/>
        </p:spPr>
        <p:txBody>
          <a:bodyPr wrap="square" lIns="0" tIns="0" rIns="0" bIns="0" rtlCol="0" anchor="ctr"/>
          <a:lstStyle/>
          <a:p>
            <a:pPr indent="0" marL="0">
              <a:lnSpc>
                <a:spcPct val="120000"/>
              </a:lnSpc>
              <a:buNone/>
            </a:pPr>
            <a:r>
              <a:rPr lang="en-US" sz="1150" dirty="0">
                <a:solidFill>
                  <a:srgbClr val="1C2530"/>
                </a:solidFill>
                <a:latin typeface="Calibri" pitchFamily="34" charset="0"/>
                <a:ea typeface="Calibri" pitchFamily="34" charset="-122"/>
                <a:cs typeface="Calibri" pitchFamily="34" charset="-120"/>
              </a:rPr>
              <a:t>Câu trả lời tự nhiên, có căn cứ, kèm trích dẫn nguồn rõ ràng</a:t>
            </a:r>
            <a:endParaRPr lang="en-US" sz="1150" dirty="0"/>
          </a:p>
        </p:txBody>
      </p:sp>
      <p:sp>
        <p:nvSpPr>
          <p:cNvPr id="14" name="Shape 10"/>
          <p:cNvSpPr/>
          <p:nvPr/>
        </p:nvSpPr>
        <p:spPr>
          <a:xfrm>
            <a:off x="8156448" y="1783080"/>
            <a:ext cx="3483864" cy="1828800"/>
          </a:xfrm>
          <a:prstGeom prst="roundRect">
            <a:avLst>
              <a:gd name="adj" fmla="val 4000"/>
            </a:avLst>
          </a:prstGeom>
          <a:solidFill>
            <a:srgbClr val="EAF0F5"/>
          </a:solidFill>
          <a:ln/>
          <a:effectLst>
            <a:outerShdw sx="100000" sy="100000" kx="0" ky="0" algn="bl" rotWithShape="0" blurRad="88900" dist="25400" dir="5400000">
              <a:srgbClr val="1F3A5F">
                <a:alpha val="10000"/>
              </a:srgbClr>
            </a:outerShdw>
          </a:effectLst>
        </p:spPr>
      </p:sp>
      <p:sp>
        <p:nvSpPr>
          <p:cNvPr id="15" name="Shape 11"/>
          <p:cNvSpPr/>
          <p:nvPr/>
        </p:nvSpPr>
        <p:spPr>
          <a:xfrm>
            <a:off x="8430768" y="2057400"/>
            <a:ext cx="548640" cy="548640"/>
          </a:xfrm>
          <a:prstGeom prst="ellipse">
            <a:avLst/>
          </a:prstGeom>
          <a:solidFill>
            <a:srgbClr val="FFFFFF"/>
          </a:solidFill>
          <a:ln/>
        </p:spPr>
      </p:sp>
      <p:pic>
        <p:nvPicPr>
          <p:cNvPr id="16" name="Image 2" descr="/home/claude/insightai/assets/stream_primary.png">    </p:cNvPr>
          <p:cNvPicPr>
            <a:picLocks noChangeAspect="1"/>
          </p:cNvPicPr>
          <p:nvPr/>
        </p:nvPicPr>
        <p:blipFill>
          <a:blip r:embed="rId3"/>
          <a:stretch>
            <a:fillRect/>
          </a:stretch>
        </p:blipFill>
        <p:spPr>
          <a:xfrm>
            <a:off x="8513064" y="2139696"/>
            <a:ext cx="384048" cy="384048"/>
          </a:xfrm>
          <a:prstGeom prst="rect">
            <a:avLst/>
          </a:prstGeom>
        </p:spPr>
      </p:pic>
      <p:sp>
        <p:nvSpPr>
          <p:cNvPr id="17" name="Text 12"/>
          <p:cNvSpPr/>
          <p:nvPr/>
        </p:nvSpPr>
        <p:spPr>
          <a:xfrm>
            <a:off x="9116568" y="2011680"/>
            <a:ext cx="2295144" cy="594360"/>
          </a:xfrm>
          <a:prstGeom prst="rect">
            <a:avLst/>
          </a:prstGeom>
          <a:noFill/>
          <a:ln/>
        </p:spPr>
        <p:txBody>
          <a:bodyPr wrap="square" lIns="0" tIns="0" rIns="0" bIns="0" rtlCol="0" anchor="t"/>
          <a:lstStyle/>
          <a:p>
            <a:pPr indent="0" marL="0">
              <a:buNone/>
            </a:pPr>
            <a:r>
              <a:rPr lang="en-US" sz="1400" b="1" dirty="0">
                <a:solidFill>
                  <a:srgbClr val="1F3A5F"/>
                </a:solidFill>
                <a:latin typeface="Cambria" pitchFamily="34" charset="0"/>
                <a:ea typeface="Cambria" pitchFamily="34" charset="-122"/>
                <a:cs typeface="Cambria" pitchFamily="34" charset="-120"/>
              </a:rPr>
              <a:t>Streaming thời gian thực</a:t>
            </a:r>
            <a:endParaRPr lang="en-US" sz="1400" dirty="0"/>
          </a:p>
        </p:txBody>
      </p:sp>
      <p:sp>
        <p:nvSpPr>
          <p:cNvPr id="18" name="Text 13"/>
          <p:cNvSpPr/>
          <p:nvPr/>
        </p:nvSpPr>
        <p:spPr>
          <a:xfrm>
            <a:off x="8430768" y="2679192"/>
            <a:ext cx="2935224" cy="822960"/>
          </a:xfrm>
          <a:prstGeom prst="rect">
            <a:avLst/>
          </a:prstGeom>
          <a:noFill/>
          <a:ln/>
        </p:spPr>
        <p:txBody>
          <a:bodyPr wrap="square" lIns="0" tIns="0" rIns="0" bIns="0" rtlCol="0" anchor="ctr"/>
          <a:lstStyle/>
          <a:p>
            <a:pPr indent="0" marL="0">
              <a:lnSpc>
                <a:spcPct val="120000"/>
              </a:lnSpc>
              <a:buNone/>
            </a:pPr>
            <a:r>
              <a:rPr lang="en-US" sz="1150" dirty="0">
                <a:solidFill>
                  <a:srgbClr val="1C2530"/>
                </a:solidFill>
                <a:latin typeface="Calibri" pitchFamily="34" charset="0"/>
                <a:ea typeface="Calibri" pitchFamily="34" charset="-122"/>
                <a:cs typeface="Calibri" pitchFamily="34" charset="-120"/>
              </a:rPr>
              <a:t>Phản hồi hiển thị dần qua SSE, trải nghiệm mượt mà</a:t>
            </a:r>
            <a:endParaRPr lang="en-US" sz="1150" dirty="0"/>
          </a:p>
        </p:txBody>
      </p:sp>
      <p:sp>
        <p:nvSpPr>
          <p:cNvPr id="19" name="Shape 14"/>
          <p:cNvSpPr/>
          <p:nvPr/>
        </p:nvSpPr>
        <p:spPr>
          <a:xfrm>
            <a:off x="548640" y="3931920"/>
            <a:ext cx="3483864" cy="1828800"/>
          </a:xfrm>
          <a:prstGeom prst="roundRect">
            <a:avLst>
              <a:gd name="adj" fmla="val 4000"/>
            </a:avLst>
          </a:prstGeom>
          <a:solidFill>
            <a:srgbClr val="EAF0F5"/>
          </a:solidFill>
          <a:ln/>
          <a:effectLst>
            <a:outerShdw sx="100000" sy="100000" kx="0" ky="0" algn="bl" rotWithShape="0" blurRad="88900" dist="25400" dir="5400000">
              <a:srgbClr val="1F3A5F">
                <a:alpha val="10000"/>
              </a:srgbClr>
            </a:outerShdw>
          </a:effectLst>
        </p:spPr>
      </p:sp>
      <p:sp>
        <p:nvSpPr>
          <p:cNvPr id="20" name="Shape 15"/>
          <p:cNvSpPr/>
          <p:nvPr/>
        </p:nvSpPr>
        <p:spPr>
          <a:xfrm>
            <a:off x="822960" y="4206240"/>
            <a:ext cx="548640" cy="548640"/>
          </a:xfrm>
          <a:prstGeom prst="ellipse">
            <a:avLst/>
          </a:prstGeom>
          <a:solidFill>
            <a:srgbClr val="FFFFFF"/>
          </a:solidFill>
          <a:ln/>
        </p:spPr>
      </p:sp>
      <p:pic>
        <p:nvPicPr>
          <p:cNvPr id="21" name="Image 3" descr="/home/claude/insightai/assets/shield_primary.png">    </p:cNvPr>
          <p:cNvPicPr>
            <a:picLocks noChangeAspect="1"/>
          </p:cNvPicPr>
          <p:nvPr/>
        </p:nvPicPr>
        <p:blipFill>
          <a:blip r:embed="rId4"/>
          <a:stretch>
            <a:fillRect/>
          </a:stretch>
        </p:blipFill>
        <p:spPr>
          <a:xfrm>
            <a:off x="905256" y="4288536"/>
            <a:ext cx="384048" cy="384048"/>
          </a:xfrm>
          <a:prstGeom prst="rect">
            <a:avLst/>
          </a:prstGeom>
        </p:spPr>
      </p:pic>
      <p:sp>
        <p:nvSpPr>
          <p:cNvPr id="22" name="Text 16"/>
          <p:cNvSpPr/>
          <p:nvPr/>
        </p:nvSpPr>
        <p:spPr>
          <a:xfrm>
            <a:off x="1508760" y="4160520"/>
            <a:ext cx="2295144" cy="594360"/>
          </a:xfrm>
          <a:prstGeom prst="rect">
            <a:avLst/>
          </a:prstGeom>
          <a:noFill/>
          <a:ln/>
        </p:spPr>
        <p:txBody>
          <a:bodyPr wrap="square" lIns="0" tIns="0" rIns="0" bIns="0" rtlCol="0" anchor="t"/>
          <a:lstStyle/>
          <a:p>
            <a:pPr indent="0" marL="0">
              <a:buNone/>
            </a:pPr>
            <a:r>
              <a:rPr lang="en-US" sz="1400" b="1" dirty="0">
                <a:solidFill>
                  <a:srgbClr val="1F3A5F"/>
                </a:solidFill>
                <a:latin typeface="Cambria" pitchFamily="34" charset="0"/>
                <a:ea typeface="Cambria" pitchFamily="34" charset="-122"/>
                <a:cs typeface="Cambria" pitchFamily="34" charset="-120"/>
              </a:rPr>
              <a:t>Fallback LLM Provider</a:t>
            </a:r>
            <a:endParaRPr lang="en-US" sz="1400" dirty="0"/>
          </a:p>
        </p:txBody>
      </p:sp>
      <p:sp>
        <p:nvSpPr>
          <p:cNvPr id="23" name="Text 17"/>
          <p:cNvSpPr/>
          <p:nvPr/>
        </p:nvSpPr>
        <p:spPr>
          <a:xfrm>
            <a:off x="822960" y="4828032"/>
            <a:ext cx="2935224" cy="822960"/>
          </a:xfrm>
          <a:prstGeom prst="rect">
            <a:avLst/>
          </a:prstGeom>
          <a:noFill/>
          <a:ln/>
        </p:spPr>
        <p:txBody>
          <a:bodyPr wrap="square" lIns="0" tIns="0" rIns="0" bIns="0" rtlCol="0" anchor="ctr"/>
          <a:lstStyle/>
          <a:p>
            <a:pPr indent="0" marL="0">
              <a:lnSpc>
                <a:spcPct val="120000"/>
              </a:lnSpc>
              <a:buNone/>
            </a:pPr>
            <a:r>
              <a:rPr lang="en-US" sz="1150" dirty="0">
                <a:solidFill>
                  <a:srgbClr val="1C2530"/>
                </a:solidFill>
                <a:latin typeface="Calibri" pitchFamily="34" charset="0"/>
                <a:ea typeface="Calibri" pitchFamily="34" charset="-122"/>
                <a:cs typeface="Calibri" pitchFamily="34" charset="-120"/>
              </a:rPr>
              <a:t>Tự chuyển provider khi gặp lỗi, đảm bảo độ ổn định</a:t>
            </a:r>
            <a:endParaRPr lang="en-US" sz="1150" dirty="0"/>
          </a:p>
        </p:txBody>
      </p:sp>
      <p:sp>
        <p:nvSpPr>
          <p:cNvPr id="24" name="Shape 18"/>
          <p:cNvSpPr/>
          <p:nvPr/>
        </p:nvSpPr>
        <p:spPr>
          <a:xfrm>
            <a:off x="4352544" y="3931920"/>
            <a:ext cx="3483864" cy="1828800"/>
          </a:xfrm>
          <a:prstGeom prst="roundRect">
            <a:avLst>
              <a:gd name="adj" fmla="val 4000"/>
            </a:avLst>
          </a:prstGeom>
          <a:solidFill>
            <a:srgbClr val="EAF0F5"/>
          </a:solidFill>
          <a:ln/>
          <a:effectLst>
            <a:outerShdw sx="100000" sy="100000" kx="0" ky="0" algn="bl" rotWithShape="0" blurRad="88900" dist="25400" dir="5400000">
              <a:srgbClr val="1F3A5F">
                <a:alpha val="10000"/>
              </a:srgbClr>
            </a:outerShdw>
          </a:effectLst>
        </p:spPr>
      </p:sp>
      <p:sp>
        <p:nvSpPr>
          <p:cNvPr id="25" name="Shape 19"/>
          <p:cNvSpPr/>
          <p:nvPr/>
        </p:nvSpPr>
        <p:spPr>
          <a:xfrm>
            <a:off x="4626864" y="4206240"/>
            <a:ext cx="548640" cy="548640"/>
          </a:xfrm>
          <a:prstGeom prst="ellipse">
            <a:avLst/>
          </a:prstGeom>
          <a:solidFill>
            <a:srgbClr val="FFFFFF"/>
          </a:solidFill>
          <a:ln/>
        </p:spPr>
      </p:sp>
      <p:pic>
        <p:nvPicPr>
          <p:cNvPr id="26" name="Image 4" descr="/home/claude/insightai/assets/branch_primary.png">    </p:cNvPr>
          <p:cNvPicPr>
            <a:picLocks noChangeAspect="1"/>
          </p:cNvPicPr>
          <p:nvPr/>
        </p:nvPicPr>
        <p:blipFill>
          <a:blip r:embed="rId5"/>
          <a:stretch>
            <a:fillRect/>
          </a:stretch>
        </p:blipFill>
        <p:spPr>
          <a:xfrm>
            <a:off x="4709160" y="4288536"/>
            <a:ext cx="384048" cy="384048"/>
          </a:xfrm>
          <a:prstGeom prst="rect">
            <a:avLst/>
          </a:prstGeom>
        </p:spPr>
      </p:pic>
      <p:sp>
        <p:nvSpPr>
          <p:cNvPr id="27" name="Text 20"/>
          <p:cNvSpPr/>
          <p:nvPr/>
        </p:nvSpPr>
        <p:spPr>
          <a:xfrm>
            <a:off x="5312664" y="4160520"/>
            <a:ext cx="2295144" cy="594360"/>
          </a:xfrm>
          <a:prstGeom prst="rect">
            <a:avLst/>
          </a:prstGeom>
          <a:noFill/>
          <a:ln/>
        </p:spPr>
        <p:txBody>
          <a:bodyPr wrap="square" lIns="0" tIns="0" rIns="0" bIns="0" rtlCol="0" anchor="t"/>
          <a:lstStyle/>
          <a:p>
            <a:pPr indent="0" marL="0">
              <a:buNone/>
            </a:pPr>
            <a:r>
              <a:rPr lang="en-US" sz="1400" b="1" dirty="0">
                <a:solidFill>
                  <a:srgbClr val="1F3A5F"/>
                </a:solidFill>
                <a:latin typeface="Cambria" pitchFamily="34" charset="0"/>
                <a:ea typeface="Cambria" pitchFamily="34" charset="-122"/>
                <a:cs typeface="Cambria" pitchFamily="34" charset="-120"/>
              </a:rPr>
              <a:t>Định tuyến truy vấn</a:t>
            </a:r>
            <a:endParaRPr lang="en-US" sz="1400" dirty="0"/>
          </a:p>
        </p:txBody>
      </p:sp>
      <p:sp>
        <p:nvSpPr>
          <p:cNvPr id="28" name="Text 21"/>
          <p:cNvSpPr/>
          <p:nvPr/>
        </p:nvSpPr>
        <p:spPr>
          <a:xfrm>
            <a:off x="4626864" y="4828032"/>
            <a:ext cx="2935224" cy="822960"/>
          </a:xfrm>
          <a:prstGeom prst="rect">
            <a:avLst/>
          </a:prstGeom>
          <a:noFill/>
          <a:ln/>
        </p:spPr>
        <p:txBody>
          <a:bodyPr wrap="square" lIns="0" tIns="0" rIns="0" bIns="0" rtlCol="0" anchor="ctr"/>
          <a:lstStyle/>
          <a:p>
            <a:pPr indent="0" marL="0">
              <a:lnSpc>
                <a:spcPct val="120000"/>
              </a:lnSpc>
              <a:buNone/>
            </a:pPr>
            <a:r>
              <a:rPr lang="en-US" sz="1150" dirty="0">
                <a:solidFill>
                  <a:srgbClr val="1C2530"/>
                </a:solidFill>
                <a:latin typeface="Calibri" pitchFamily="34" charset="0"/>
                <a:ea typeface="Calibri" pitchFamily="34" charset="-122"/>
                <a:cs typeface="Calibri" pitchFamily="34" charset="-120"/>
              </a:rPr>
              <a:t>Tự động chọn pipeline Fact / Summary phù hợp</a:t>
            </a:r>
            <a:endParaRPr lang="en-US" sz="1150" dirty="0"/>
          </a:p>
        </p:txBody>
      </p:sp>
      <p:sp>
        <p:nvSpPr>
          <p:cNvPr id="29" name="Shape 22"/>
          <p:cNvSpPr/>
          <p:nvPr/>
        </p:nvSpPr>
        <p:spPr>
          <a:xfrm>
            <a:off x="8156448" y="3931920"/>
            <a:ext cx="3483864" cy="1828800"/>
          </a:xfrm>
          <a:prstGeom prst="roundRect">
            <a:avLst>
              <a:gd name="adj" fmla="val 4000"/>
            </a:avLst>
          </a:prstGeom>
          <a:solidFill>
            <a:srgbClr val="EAF0F5"/>
          </a:solidFill>
          <a:ln/>
          <a:effectLst>
            <a:outerShdw sx="100000" sy="100000" kx="0" ky="0" algn="bl" rotWithShape="0" blurRad="88900" dist="25400" dir="5400000">
              <a:srgbClr val="1F3A5F">
                <a:alpha val="10000"/>
              </a:srgbClr>
            </a:outerShdw>
          </a:effectLst>
        </p:spPr>
      </p:sp>
      <p:sp>
        <p:nvSpPr>
          <p:cNvPr id="30" name="Shape 23"/>
          <p:cNvSpPr/>
          <p:nvPr/>
        </p:nvSpPr>
        <p:spPr>
          <a:xfrm>
            <a:off x="8430768" y="4206240"/>
            <a:ext cx="548640" cy="548640"/>
          </a:xfrm>
          <a:prstGeom prst="ellipse">
            <a:avLst/>
          </a:prstGeom>
          <a:solidFill>
            <a:srgbClr val="FFFFFF"/>
          </a:solidFill>
          <a:ln/>
        </p:spPr>
      </p:sp>
      <p:pic>
        <p:nvPicPr>
          <p:cNvPr id="31" name="Image 5" descr="/home/claude/insightai/assets/docker_primary.png">    </p:cNvPr>
          <p:cNvPicPr>
            <a:picLocks noChangeAspect="1"/>
          </p:cNvPicPr>
          <p:nvPr/>
        </p:nvPicPr>
        <p:blipFill>
          <a:blip r:embed="rId6"/>
          <a:stretch>
            <a:fillRect/>
          </a:stretch>
        </p:blipFill>
        <p:spPr>
          <a:xfrm>
            <a:off x="8513064" y="4288536"/>
            <a:ext cx="384048" cy="384048"/>
          </a:xfrm>
          <a:prstGeom prst="rect">
            <a:avLst/>
          </a:prstGeom>
        </p:spPr>
      </p:pic>
      <p:sp>
        <p:nvSpPr>
          <p:cNvPr id="32" name="Text 24"/>
          <p:cNvSpPr/>
          <p:nvPr/>
        </p:nvSpPr>
        <p:spPr>
          <a:xfrm>
            <a:off x="9116568" y="4160520"/>
            <a:ext cx="2295144" cy="594360"/>
          </a:xfrm>
          <a:prstGeom prst="rect">
            <a:avLst/>
          </a:prstGeom>
          <a:noFill/>
          <a:ln/>
        </p:spPr>
        <p:txBody>
          <a:bodyPr wrap="square" lIns="0" tIns="0" rIns="0" bIns="0" rtlCol="0" anchor="t"/>
          <a:lstStyle/>
          <a:p>
            <a:pPr indent="0" marL="0">
              <a:buNone/>
            </a:pPr>
            <a:r>
              <a:rPr lang="en-US" sz="1400" b="1" dirty="0">
                <a:solidFill>
                  <a:srgbClr val="1F3A5F"/>
                </a:solidFill>
                <a:latin typeface="Cambria" pitchFamily="34" charset="0"/>
                <a:ea typeface="Cambria" pitchFamily="34" charset="-122"/>
                <a:cs typeface="Cambria" pitchFamily="34" charset="-120"/>
              </a:rPr>
              <a:t>Đóng gói Docker</a:t>
            </a:r>
            <a:endParaRPr lang="en-US" sz="1400" dirty="0"/>
          </a:p>
        </p:txBody>
      </p:sp>
      <p:sp>
        <p:nvSpPr>
          <p:cNvPr id="33" name="Text 25"/>
          <p:cNvSpPr/>
          <p:nvPr/>
        </p:nvSpPr>
        <p:spPr>
          <a:xfrm>
            <a:off x="8430768" y="4828032"/>
            <a:ext cx="2935224" cy="822960"/>
          </a:xfrm>
          <a:prstGeom prst="rect">
            <a:avLst/>
          </a:prstGeom>
          <a:noFill/>
          <a:ln/>
        </p:spPr>
        <p:txBody>
          <a:bodyPr wrap="square" lIns="0" tIns="0" rIns="0" bIns="0" rtlCol="0" anchor="ctr"/>
          <a:lstStyle/>
          <a:p>
            <a:pPr indent="0" marL="0">
              <a:lnSpc>
                <a:spcPct val="120000"/>
              </a:lnSpc>
              <a:buNone/>
            </a:pPr>
            <a:r>
              <a:rPr lang="en-US" sz="1150" dirty="0">
                <a:solidFill>
                  <a:srgbClr val="1C2530"/>
                </a:solidFill>
                <a:latin typeface="Calibri" pitchFamily="34" charset="0"/>
                <a:ea typeface="Calibri" pitchFamily="34" charset="-122"/>
                <a:cs typeface="Calibri" pitchFamily="34" charset="-120"/>
              </a:rPr>
              <a:t>Triển khai nhất quán qua Docker Compose</a:t>
            </a:r>
            <a:endParaRPr lang="en-US" sz="1150" dirty="0"/>
          </a:p>
        </p:txBody>
      </p:sp>
      <p:sp>
        <p:nvSpPr>
          <p:cNvPr id="34" name="Text 26"/>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10</a:t>
            </a:r>
            <a:endParaRPr lang="en-US" sz="1000" dirty="0"/>
          </a:p>
        </p:txBody>
      </p:sp>
      <p:sp>
        <p:nvSpPr>
          <p:cNvPr id="35" name="Text 27"/>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InsightAI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2E6F95"/>
                </a:solidFill>
                <a:latin typeface="Calibri" pitchFamily="34" charset="0"/>
                <a:ea typeface="Calibri" pitchFamily="34" charset="-122"/>
                <a:cs typeface="Calibri" pitchFamily="34" charset="-120"/>
              </a:rPr>
              <a:t>10 — BÀI HỌC</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Bài học kỹ thuật</a:t>
            </a:r>
            <a:endParaRPr lang="en-US" sz="3200" dirty="0"/>
          </a:p>
        </p:txBody>
      </p:sp>
      <p:sp>
        <p:nvSpPr>
          <p:cNvPr id="4" name="Shape 2"/>
          <p:cNvSpPr/>
          <p:nvPr/>
        </p:nvSpPr>
        <p:spPr>
          <a:xfrm>
            <a:off x="548640" y="1828800"/>
            <a:ext cx="2542032" cy="4206240"/>
          </a:xfrm>
          <a:prstGeom prst="roundRect">
            <a:avLst>
              <a:gd name="adj" fmla="val 2878"/>
            </a:avLst>
          </a:prstGeom>
          <a:solidFill>
            <a:srgbClr val="EAF0F5"/>
          </a:solidFill>
          <a:ln/>
          <a:effectLst>
            <a:outerShdw sx="100000" sy="100000" kx="0" ky="0" algn="bl" rotWithShape="0" blurRad="88900" dist="25400" dir="5400000">
              <a:srgbClr val="1F3A5F">
                <a:alpha val="10000"/>
              </a:srgbClr>
            </a:outerShdw>
          </a:effectLst>
        </p:spPr>
      </p:sp>
      <p:sp>
        <p:nvSpPr>
          <p:cNvPr id="5" name="Shape 3"/>
          <p:cNvSpPr/>
          <p:nvPr/>
        </p:nvSpPr>
        <p:spPr>
          <a:xfrm>
            <a:off x="868680" y="2148840"/>
            <a:ext cx="594360" cy="594360"/>
          </a:xfrm>
          <a:prstGeom prst="ellipse">
            <a:avLst/>
          </a:prstGeom>
          <a:solidFill>
            <a:srgbClr val="FFFFFF"/>
          </a:solidFill>
          <a:ln/>
        </p:spPr>
      </p:sp>
      <p:pic>
        <p:nvPicPr>
          <p:cNvPr id="6" name="Image 0" descr="/home/claude/insightai/assets/layers_primary.png">    </p:cNvPr>
          <p:cNvPicPr>
            <a:picLocks noChangeAspect="1"/>
          </p:cNvPicPr>
          <p:nvPr/>
        </p:nvPicPr>
        <p:blipFill>
          <a:blip r:embed="rId1"/>
          <a:stretch>
            <a:fillRect/>
          </a:stretch>
        </p:blipFill>
        <p:spPr>
          <a:xfrm>
            <a:off x="957834" y="2237994"/>
            <a:ext cx="416052" cy="416052"/>
          </a:xfrm>
          <a:prstGeom prst="rect">
            <a:avLst/>
          </a:prstGeom>
        </p:spPr>
      </p:pic>
      <p:sp>
        <p:nvSpPr>
          <p:cNvPr id="7" name="Text 4"/>
          <p:cNvSpPr/>
          <p:nvPr/>
        </p:nvSpPr>
        <p:spPr>
          <a:xfrm>
            <a:off x="841248" y="2971800"/>
            <a:ext cx="1956816" cy="685800"/>
          </a:xfrm>
          <a:prstGeom prst="rect">
            <a:avLst/>
          </a:prstGeom>
          <a:noFill/>
          <a:ln/>
        </p:spPr>
        <p:txBody>
          <a:bodyPr wrap="square" lIns="0" tIns="0" rIns="0" bIns="0" rtlCol="0" anchor="ctr"/>
          <a:lstStyle/>
          <a:p>
            <a:pPr indent="0" marL="0">
              <a:lnSpc>
                <a:spcPct val="105000"/>
              </a:lnSpc>
              <a:buNone/>
            </a:pPr>
            <a:r>
              <a:rPr lang="en-US" sz="1450" b="1" dirty="0">
                <a:solidFill>
                  <a:srgbClr val="1F3A5F"/>
                </a:solidFill>
                <a:latin typeface="Cambria" pitchFamily="34" charset="0"/>
                <a:ea typeface="Cambria" pitchFamily="34" charset="-122"/>
                <a:cs typeface="Cambria" pitchFamily="34" charset="-120"/>
              </a:rPr>
              <a:t>Thiết kế RAG hiệu quả</a:t>
            </a:r>
            <a:endParaRPr lang="en-US" sz="1450" dirty="0"/>
          </a:p>
        </p:txBody>
      </p:sp>
      <p:sp>
        <p:nvSpPr>
          <p:cNvPr id="8" name="Text 5"/>
          <p:cNvSpPr/>
          <p:nvPr/>
        </p:nvSpPr>
        <p:spPr>
          <a:xfrm>
            <a:off x="841248" y="3703320"/>
            <a:ext cx="1956816" cy="2148840"/>
          </a:xfrm>
          <a:prstGeom prst="rect">
            <a:avLst/>
          </a:prstGeom>
          <a:noFill/>
          <a:ln/>
        </p:spPr>
        <p:txBody>
          <a:bodyPr wrap="square" lIns="0" tIns="0" rIns="0" bIns="0" rtlCol="0" anchor="ctr"/>
          <a:lstStyle/>
          <a:p>
            <a:pPr indent="0" marL="0">
              <a:lnSpc>
                <a:spcPct val="125000"/>
              </a:lnSpc>
              <a:buNone/>
            </a:pPr>
            <a:r>
              <a:rPr lang="en-US" sz="1150" dirty="0">
                <a:solidFill>
                  <a:srgbClr val="1C2530"/>
                </a:solidFill>
                <a:latin typeface="Calibri" pitchFamily="34" charset="0"/>
                <a:ea typeface="Calibri" pitchFamily="34" charset="-122"/>
                <a:cs typeface="Calibri" pitchFamily="34" charset="-120"/>
              </a:rPr>
              <a:t>Một chiến lược truy xuất duy nhất không tối ưu cho mọi loại câu hỏi — cần định tuyến theo ý định người dùng.</a:t>
            </a:r>
            <a:endParaRPr lang="en-US" sz="1150" dirty="0"/>
          </a:p>
        </p:txBody>
      </p:sp>
      <p:sp>
        <p:nvSpPr>
          <p:cNvPr id="9" name="Shape 6"/>
          <p:cNvSpPr/>
          <p:nvPr/>
        </p:nvSpPr>
        <p:spPr>
          <a:xfrm>
            <a:off x="3346704" y="1828800"/>
            <a:ext cx="2542032" cy="4206240"/>
          </a:xfrm>
          <a:prstGeom prst="roundRect">
            <a:avLst>
              <a:gd name="adj" fmla="val 2878"/>
            </a:avLst>
          </a:prstGeom>
          <a:solidFill>
            <a:srgbClr val="EAF0F5"/>
          </a:solidFill>
          <a:ln/>
          <a:effectLst>
            <a:outerShdw sx="100000" sy="100000" kx="0" ky="0" algn="bl" rotWithShape="0" blurRad="88900" dist="25400" dir="5400000">
              <a:srgbClr val="1F3A5F">
                <a:alpha val="10000"/>
              </a:srgbClr>
            </a:outerShdw>
          </a:effectLst>
        </p:spPr>
      </p:sp>
      <p:sp>
        <p:nvSpPr>
          <p:cNvPr id="10" name="Shape 7"/>
          <p:cNvSpPr/>
          <p:nvPr/>
        </p:nvSpPr>
        <p:spPr>
          <a:xfrm>
            <a:off x="3666744" y="2148840"/>
            <a:ext cx="594360" cy="594360"/>
          </a:xfrm>
          <a:prstGeom prst="ellipse">
            <a:avLst/>
          </a:prstGeom>
          <a:solidFill>
            <a:srgbClr val="FFFFFF"/>
          </a:solidFill>
          <a:ln/>
        </p:spPr>
      </p:sp>
      <p:pic>
        <p:nvPicPr>
          <p:cNvPr id="11" name="Image 1" descr="/home/claude/insightai/assets/sitemap_primary.png">    </p:cNvPr>
          <p:cNvPicPr>
            <a:picLocks noChangeAspect="1"/>
          </p:cNvPicPr>
          <p:nvPr/>
        </p:nvPicPr>
        <p:blipFill>
          <a:blip r:embed="rId2"/>
          <a:stretch>
            <a:fillRect/>
          </a:stretch>
        </p:blipFill>
        <p:spPr>
          <a:xfrm>
            <a:off x="3755898" y="2237994"/>
            <a:ext cx="416052" cy="416052"/>
          </a:xfrm>
          <a:prstGeom prst="rect">
            <a:avLst/>
          </a:prstGeom>
        </p:spPr>
      </p:pic>
      <p:sp>
        <p:nvSpPr>
          <p:cNvPr id="12" name="Text 8"/>
          <p:cNvSpPr/>
          <p:nvPr/>
        </p:nvSpPr>
        <p:spPr>
          <a:xfrm>
            <a:off x="3639312" y="2971800"/>
            <a:ext cx="1956816" cy="685800"/>
          </a:xfrm>
          <a:prstGeom prst="rect">
            <a:avLst/>
          </a:prstGeom>
          <a:noFill/>
          <a:ln/>
        </p:spPr>
        <p:txBody>
          <a:bodyPr wrap="square" lIns="0" tIns="0" rIns="0" bIns="0" rtlCol="0" anchor="ctr"/>
          <a:lstStyle/>
          <a:p>
            <a:pPr indent="0" marL="0">
              <a:lnSpc>
                <a:spcPct val="105000"/>
              </a:lnSpc>
              <a:buNone/>
            </a:pPr>
            <a:r>
              <a:rPr lang="en-US" sz="1450" b="1" dirty="0">
                <a:solidFill>
                  <a:srgbClr val="1F3A5F"/>
                </a:solidFill>
                <a:latin typeface="Cambria" pitchFamily="34" charset="0"/>
                <a:ea typeface="Cambria" pitchFamily="34" charset="-122"/>
                <a:cs typeface="Cambria" pitchFamily="34" charset="-120"/>
              </a:rPr>
              <a:t>Chunking ảnh hưởng lớn</a:t>
            </a:r>
            <a:endParaRPr lang="en-US" sz="1450" dirty="0"/>
          </a:p>
        </p:txBody>
      </p:sp>
      <p:sp>
        <p:nvSpPr>
          <p:cNvPr id="13" name="Text 9"/>
          <p:cNvSpPr/>
          <p:nvPr/>
        </p:nvSpPr>
        <p:spPr>
          <a:xfrm>
            <a:off x="3639312" y="3703320"/>
            <a:ext cx="1956816" cy="2148840"/>
          </a:xfrm>
          <a:prstGeom prst="rect">
            <a:avLst/>
          </a:prstGeom>
          <a:noFill/>
          <a:ln/>
        </p:spPr>
        <p:txBody>
          <a:bodyPr wrap="square" lIns="0" tIns="0" rIns="0" bIns="0" rtlCol="0" anchor="ctr"/>
          <a:lstStyle/>
          <a:p>
            <a:pPr indent="0" marL="0">
              <a:lnSpc>
                <a:spcPct val="125000"/>
              </a:lnSpc>
              <a:buNone/>
            </a:pPr>
            <a:r>
              <a:rPr lang="en-US" sz="1150" dirty="0">
                <a:solidFill>
                  <a:srgbClr val="1C2530"/>
                </a:solidFill>
                <a:latin typeface="Calibri" pitchFamily="34" charset="0"/>
                <a:ea typeface="Calibri" pitchFamily="34" charset="-122"/>
                <a:cs typeface="Calibri" pitchFamily="34" charset="-120"/>
              </a:rPr>
              <a:t>Cách chia nhỏ tài liệu quyết định trực tiếp chất lượng truy xuất; mỗi loại tài liệu cần chiến lược riêng.</a:t>
            </a:r>
            <a:endParaRPr lang="en-US" sz="1150" dirty="0"/>
          </a:p>
        </p:txBody>
      </p:sp>
      <p:sp>
        <p:nvSpPr>
          <p:cNvPr id="14" name="Shape 10"/>
          <p:cNvSpPr/>
          <p:nvPr/>
        </p:nvSpPr>
        <p:spPr>
          <a:xfrm>
            <a:off x="6144768" y="1828800"/>
            <a:ext cx="2542032" cy="4206240"/>
          </a:xfrm>
          <a:prstGeom prst="roundRect">
            <a:avLst>
              <a:gd name="adj" fmla="val 2878"/>
            </a:avLst>
          </a:prstGeom>
          <a:solidFill>
            <a:srgbClr val="EAF0F5"/>
          </a:solidFill>
          <a:ln/>
          <a:effectLst>
            <a:outerShdw sx="100000" sy="100000" kx="0" ky="0" algn="bl" rotWithShape="0" blurRad="88900" dist="25400" dir="5400000">
              <a:srgbClr val="1F3A5F">
                <a:alpha val="10000"/>
              </a:srgbClr>
            </a:outerShdw>
          </a:effectLst>
        </p:spPr>
      </p:sp>
      <p:sp>
        <p:nvSpPr>
          <p:cNvPr id="15" name="Shape 11"/>
          <p:cNvSpPr/>
          <p:nvPr/>
        </p:nvSpPr>
        <p:spPr>
          <a:xfrm>
            <a:off x="6464808" y="2148840"/>
            <a:ext cx="594360" cy="594360"/>
          </a:xfrm>
          <a:prstGeom prst="ellipse">
            <a:avLst/>
          </a:prstGeom>
          <a:solidFill>
            <a:srgbClr val="FFFFFF"/>
          </a:solidFill>
          <a:ln/>
        </p:spPr>
      </p:sp>
      <p:pic>
        <p:nvPicPr>
          <p:cNvPr id="16" name="Image 2" descr="/home/claude/insightai/assets/bolt_primary.png">    </p:cNvPr>
          <p:cNvPicPr>
            <a:picLocks noChangeAspect="1"/>
          </p:cNvPicPr>
          <p:nvPr/>
        </p:nvPicPr>
        <p:blipFill>
          <a:blip r:embed="rId3"/>
          <a:stretch>
            <a:fillRect/>
          </a:stretch>
        </p:blipFill>
        <p:spPr>
          <a:xfrm>
            <a:off x="6553962" y="2237994"/>
            <a:ext cx="416052" cy="416052"/>
          </a:xfrm>
          <a:prstGeom prst="rect">
            <a:avLst/>
          </a:prstGeom>
        </p:spPr>
      </p:pic>
      <p:sp>
        <p:nvSpPr>
          <p:cNvPr id="17" name="Text 12"/>
          <p:cNvSpPr/>
          <p:nvPr/>
        </p:nvSpPr>
        <p:spPr>
          <a:xfrm>
            <a:off x="6437376" y="2971800"/>
            <a:ext cx="1956816" cy="685800"/>
          </a:xfrm>
          <a:prstGeom prst="rect">
            <a:avLst/>
          </a:prstGeom>
          <a:noFill/>
          <a:ln/>
        </p:spPr>
        <p:txBody>
          <a:bodyPr wrap="square" lIns="0" tIns="0" rIns="0" bIns="0" rtlCol="0" anchor="ctr"/>
          <a:lstStyle/>
          <a:p>
            <a:pPr indent="0" marL="0">
              <a:lnSpc>
                <a:spcPct val="105000"/>
              </a:lnSpc>
              <a:buNone/>
            </a:pPr>
            <a:r>
              <a:rPr lang="en-US" sz="1450" b="1" dirty="0">
                <a:solidFill>
                  <a:srgbClr val="1F3A5F"/>
                </a:solidFill>
                <a:latin typeface="Cambria" pitchFamily="34" charset="0"/>
                <a:ea typeface="Cambria" pitchFamily="34" charset="-122"/>
                <a:cs typeface="Cambria" pitchFamily="34" charset="-120"/>
              </a:rPr>
              <a:t>Lập trình bất đồng bộ</a:t>
            </a:r>
            <a:endParaRPr lang="en-US" sz="1450" dirty="0"/>
          </a:p>
        </p:txBody>
      </p:sp>
      <p:sp>
        <p:nvSpPr>
          <p:cNvPr id="18" name="Text 13"/>
          <p:cNvSpPr/>
          <p:nvPr/>
        </p:nvSpPr>
        <p:spPr>
          <a:xfrm>
            <a:off x="6437376" y="3703320"/>
            <a:ext cx="1956816" cy="2148840"/>
          </a:xfrm>
          <a:prstGeom prst="rect">
            <a:avLst/>
          </a:prstGeom>
          <a:noFill/>
          <a:ln/>
        </p:spPr>
        <p:txBody>
          <a:bodyPr wrap="square" lIns="0" tIns="0" rIns="0" bIns="0" rtlCol="0" anchor="ctr"/>
          <a:lstStyle/>
          <a:p>
            <a:pPr indent="0" marL="0">
              <a:lnSpc>
                <a:spcPct val="125000"/>
              </a:lnSpc>
              <a:buNone/>
            </a:pPr>
            <a:r>
              <a:rPr lang="en-US" sz="1150" dirty="0">
                <a:solidFill>
                  <a:srgbClr val="1C2530"/>
                </a:solidFill>
                <a:latin typeface="Calibri" pitchFamily="34" charset="0"/>
                <a:ea typeface="Calibri" pitchFamily="34" charset="-122"/>
                <a:cs typeface="Calibri" pitchFamily="34" charset="-120"/>
              </a:rPr>
              <a:t>FastAPI async giúp xử lý đồng thời nhiều tác vụ I/O nặng (gọi LLM, đọc file) hiệu quả hơn nhiều.</a:t>
            </a:r>
            <a:endParaRPr lang="en-US" sz="1150" dirty="0"/>
          </a:p>
        </p:txBody>
      </p:sp>
      <p:sp>
        <p:nvSpPr>
          <p:cNvPr id="19" name="Shape 14"/>
          <p:cNvSpPr/>
          <p:nvPr/>
        </p:nvSpPr>
        <p:spPr>
          <a:xfrm>
            <a:off x="8942832" y="1828800"/>
            <a:ext cx="2542032" cy="4206240"/>
          </a:xfrm>
          <a:prstGeom prst="roundRect">
            <a:avLst>
              <a:gd name="adj" fmla="val 2878"/>
            </a:avLst>
          </a:prstGeom>
          <a:solidFill>
            <a:srgbClr val="EAF0F5"/>
          </a:solidFill>
          <a:ln/>
          <a:effectLst>
            <a:outerShdw sx="100000" sy="100000" kx="0" ky="0" algn="bl" rotWithShape="0" blurRad="88900" dist="25400" dir="5400000">
              <a:srgbClr val="1F3A5F">
                <a:alpha val="10000"/>
              </a:srgbClr>
            </a:outerShdw>
          </a:effectLst>
        </p:spPr>
      </p:sp>
      <p:sp>
        <p:nvSpPr>
          <p:cNvPr id="20" name="Shape 15"/>
          <p:cNvSpPr/>
          <p:nvPr/>
        </p:nvSpPr>
        <p:spPr>
          <a:xfrm>
            <a:off x="9262872" y="2148840"/>
            <a:ext cx="594360" cy="594360"/>
          </a:xfrm>
          <a:prstGeom prst="ellipse">
            <a:avLst/>
          </a:prstGeom>
          <a:solidFill>
            <a:srgbClr val="FFFFFF"/>
          </a:solidFill>
          <a:ln/>
        </p:spPr>
      </p:sp>
      <p:pic>
        <p:nvPicPr>
          <p:cNvPr id="21" name="Image 3" descr="/home/claude/insightai/assets/quote_primary.png">    </p:cNvPr>
          <p:cNvPicPr>
            <a:picLocks noChangeAspect="1"/>
          </p:cNvPicPr>
          <p:nvPr/>
        </p:nvPicPr>
        <p:blipFill>
          <a:blip r:embed="rId4"/>
          <a:stretch>
            <a:fillRect/>
          </a:stretch>
        </p:blipFill>
        <p:spPr>
          <a:xfrm>
            <a:off x="9352026" y="2237994"/>
            <a:ext cx="416052" cy="416052"/>
          </a:xfrm>
          <a:prstGeom prst="rect">
            <a:avLst/>
          </a:prstGeom>
        </p:spPr>
      </p:pic>
      <p:sp>
        <p:nvSpPr>
          <p:cNvPr id="22" name="Text 16"/>
          <p:cNvSpPr/>
          <p:nvPr/>
        </p:nvSpPr>
        <p:spPr>
          <a:xfrm>
            <a:off x="9235440" y="2971800"/>
            <a:ext cx="1956816" cy="685800"/>
          </a:xfrm>
          <a:prstGeom prst="rect">
            <a:avLst/>
          </a:prstGeom>
          <a:noFill/>
          <a:ln/>
        </p:spPr>
        <p:txBody>
          <a:bodyPr wrap="square" lIns="0" tIns="0" rIns="0" bIns="0" rtlCol="0" anchor="ctr"/>
          <a:lstStyle/>
          <a:p>
            <a:pPr indent="0" marL="0">
              <a:lnSpc>
                <a:spcPct val="105000"/>
              </a:lnSpc>
              <a:buNone/>
            </a:pPr>
            <a:r>
              <a:rPr lang="en-US" sz="1450" b="1" dirty="0">
                <a:solidFill>
                  <a:srgbClr val="1F3A5F"/>
                </a:solidFill>
                <a:latin typeface="Cambria" pitchFamily="34" charset="0"/>
                <a:ea typeface="Cambria" pitchFamily="34" charset="-122"/>
                <a:cs typeface="Cambria" pitchFamily="34" charset="-120"/>
              </a:rPr>
              <a:t>Thiết kế prompt</a:t>
            </a:r>
            <a:endParaRPr lang="en-US" sz="1450" dirty="0"/>
          </a:p>
        </p:txBody>
      </p:sp>
      <p:sp>
        <p:nvSpPr>
          <p:cNvPr id="23" name="Text 17"/>
          <p:cNvSpPr/>
          <p:nvPr/>
        </p:nvSpPr>
        <p:spPr>
          <a:xfrm>
            <a:off x="9235440" y="3703320"/>
            <a:ext cx="1956816" cy="2148840"/>
          </a:xfrm>
          <a:prstGeom prst="rect">
            <a:avLst/>
          </a:prstGeom>
          <a:noFill/>
          <a:ln/>
        </p:spPr>
        <p:txBody>
          <a:bodyPr wrap="square" lIns="0" tIns="0" rIns="0" bIns="0" rtlCol="0" anchor="ctr"/>
          <a:lstStyle/>
          <a:p>
            <a:pPr indent="0" marL="0">
              <a:lnSpc>
                <a:spcPct val="125000"/>
              </a:lnSpc>
              <a:buNone/>
            </a:pPr>
            <a:r>
              <a:rPr lang="en-US" sz="1150" dirty="0">
                <a:solidFill>
                  <a:srgbClr val="1C2530"/>
                </a:solidFill>
                <a:latin typeface="Calibri" pitchFamily="34" charset="0"/>
                <a:ea typeface="Calibri" pitchFamily="34" charset="-122"/>
                <a:cs typeface="Calibri" pitchFamily="34" charset="-120"/>
              </a:rPr>
              <a:t>Prompt rõ ràng, yêu cầu trích dẫn nguồn là yếu tố then chốt giảm hallucination và tăng tin cậy.</a:t>
            </a:r>
            <a:endParaRPr lang="en-US" sz="1150" dirty="0"/>
          </a:p>
        </p:txBody>
      </p:sp>
      <p:sp>
        <p:nvSpPr>
          <p:cNvPr id="24" name="Text 18"/>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11</a:t>
            </a:r>
            <a:endParaRPr lang="en-US" sz="1000" dirty="0"/>
          </a:p>
        </p:txBody>
      </p:sp>
      <p:sp>
        <p:nvSpPr>
          <p:cNvPr id="25" name="Text 19"/>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InsightAI</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2E6F95"/>
                </a:solidFill>
                <a:latin typeface="Calibri" pitchFamily="34" charset="0"/>
                <a:ea typeface="Calibri" pitchFamily="34" charset="-122"/>
                <a:cs typeface="Calibri" pitchFamily="34" charset="-120"/>
              </a:rPr>
              <a:t>11 — ĐỊNH HƯỚNG</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Hạn chế &amp; hướng phát triển</a:t>
            </a:r>
            <a:endParaRPr lang="en-US" sz="3200" dirty="0"/>
          </a:p>
        </p:txBody>
      </p:sp>
      <p:sp>
        <p:nvSpPr>
          <p:cNvPr id="4" name="Shape 2"/>
          <p:cNvSpPr/>
          <p:nvPr/>
        </p:nvSpPr>
        <p:spPr>
          <a:xfrm>
            <a:off x="548640" y="1737360"/>
            <a:ext cx="5317236" cy="4023360"/>
          </a:xfrm>
          <a:prstGeom prst="roundRect">
            <a:avLst>
              <a:gd name="adj" fmla="val 1818"/>
            </a:avLst>
          </a:prstGeom>
          <a:solidFill>
            <a:srgbClr val="FBF1EA"/>
          </a:solidFill>
          <a:ln/>
          <a:effectLst>
            <a:outerShdw sx="100000" sy="100000" kx="0" ky="0" algn="bl" rotWithShape="0" blurRad="88900" dist="25400" dir="5400000">
              <a:srgbClr val="1F3A5F">
                <a:alpha val="10000"/>
              </a:srgbClr>
            </a:outerShdw>
          </a:effectLst>
        </p:spPr>
      </p:sp>
      <p:sp>
        <p:nvSpPr>
          <p:cNvPr id="5" name="Shape 3"/>
          <p:cNvSpPr/>
          <p:nvPr/>
        </p:nvSpPr>
        <p:spPr>
          <a:xfrm>
            <a:off x="914400" y="2103120"/>
            <a:ext cx="594360" cy="594360"/>
          </a:xfrm>
          <a:prstGeom prst="ellipse">
            <a:avLst/>
          </a:prstGeom>
          <a:solidFill>
            <a:srgbClr val="FFFFFF"/>
          </a:solidFill>
          <a:ln/>
        </p:spPr>
      </p:sp>
      <p:pic>
        <p:nvPicPr>
          <p:cNvPr id="6" name="Image 0" descr="/home/claude/insightai/assets/warning_primary.png">    </p:cNvPr>
          <p:cNvPicPr>
            <a:picLocks noChangeAspect="1"/>
          </p:cNvPicPr>
          <p:nvPr/>
        </p:nvPicPr>
        <p:blipFill>
          <a:blip r:embed="rId1"/>
          <a:stretch>
            <a:fillRect/>
          </a:stretch>
        </p:blipFill>
        <p:spPr>
          <a:xfrm>
            <a:off x="997610" y="2186330"/>
            <a:ext cx="427939" cy="427939"/>
          </a:xfrm>
          <a:prstGeom prst="rect">
            <a:avLst/>
          </a:prstGeom>
        </p:spPr>
      </p:pic>
      <p:sp>
        <p:nvSpPr>
          <p:cNvPr id="7" name="Text 4"/>
          <p:cNvSpPr/>
          <p:nvPr/>
        </p:nvSpPr>
        <p:spPr>
          <a:xfrm>
            <a:off x="1645920" y="2148840"/>
            <a:ext cx="3945636" cy="502920"/>
          </a:xfrm>
          <a:prstGeom prst="rect">
            <a:avLst/>
          </a:prstGeom>
          <a:noFill/>
          <a:ln/>
        </p:spPr>
        <p:txBody>
          <a:bodyPr wrap="square" lIns="0" tIns="0" rIns="0" bIns="0" rtlCol="0" anchor="ctr"/>
          <a:lstStyle/>
          <a:p>
            <a:pPr indent="0" marL="0">
              <a:buNone/>
            </a:pPr>
            <a:r>
              <a:rPr lang="en-US" sz="1700" b="1" dirty="0">
                <a:solidFill>
                  <a:srgbClr val="B05A2B"/>
                </a:solidFill>
                <a:latin typeface="Cambria" pitchFamily="34" charset="0"/>
                <a:ea typeface="Cambria" pitchFamily="34" charset="-122"/>
                <a:cs typeface="Cambria" pitchFamily="34" charset="-120"/>
              </a:rPr>
              <a:t>Hạn chế hiện tại</a:t>
            </a:r>
            <a:endParaRPr lang="en-US" sz="1700" dirty="0"/>
          </a:p>
        </p:txBody>
      </p:sp>
      <p:sp>
        <p:nvSpPr>
          <p:cNvPr id="8" name="Shape 5"/>
          <p:cNvSpPr/>
          <p:nvPr/>
        </p:nvSpPr>
        <p:spPr>
          <a:xfrm>
            <a:off x="914400" y="3017520"/>
            <a:ext cx="109728" cy="109728"/>
          </a:xfrm>
          <a:prstGeom prst="ellipse">
            <a:avLst/>
          </a:prstGeom>
          <a:solidFill>
            <a:srgbClr val="B05A2B"/>
          </a:solidFill>
          <a:ln/>
        </p:spPr>
      </p:sp>
      <p:sp>
        <p:nvSpPr>
          <p:cNvPr id="9" name="Text 6"/>
          <p:cNvSpPr/>
          <p:nvPr/>
        </p:nvSpPr>
        <p:spPr>
          <a:xfrm>
            <a:off x="1188720" y="2862072"/>
            <a:ext cx="4357116" cy="594360"/>
          </a:xfrm>
          <a:prstGeom prst="rect">
            <a:avLst/>
          </a:prstGeom>
          <a:noFill/>
          <a:ln/>
        </p:spPr>
        <p:txBody>
          <a:bodyPr wrap="square" lIns="0" tIns="0" rIns="0" bIns="0" rtlCol="0" anchor="ctr"/>
          <a:lstStyle/>
          <a:p>
            <a:pPr indent="0" marL="0">
              <a:lnSpc>
                <a:spcPct val="120000"/>
              </a:lnSpc>
              <a:buNone/>
            </a:pPr>
            <a:r>
              <a:rPr lang="en-US" sz="1200" dirty="0">
                <a:solidFill>
                  <a:srgbClr val="1C2530"/>
                </a:solidFill>
                <a:latin typeface="Calibri" pitchFamily="34" charset="0"/>
                <a:ea typeface="Calibri" pitchFamily="34" charset="-122"/>
                <a:cs typeface="Calibri" pitchFamily="34" charset="-120"/>
              </a:rPr>
              <a:t>Chưa hỗ trợ truy vấn đa tài liệu phức tạp (cross-document reasoning)</a:t>
            </a:r>
            <a:endParaRPr lang="en-US" sz="1200" dirty="0"/>
          </a:p>
        </p:txBody>
      </p:sp>
      <p:sp>
        <p:nvSpPr>
          <p:cNvPr id="10" name="Shape 7"/>
          <p:cNvSpPr/>
          <p:nvPr/>
        </p:nvSpPr>
        <p:spPr>
          <a:xfrm>
            <a:off x="914400" y="3675888"/>
            <a:ext cx="109728" cy="109728"/>
          </a:xfrm>
          <a:prstGeom prst="ellipse">
            <a:avLst/>
          </a:prstGeom>
          <a:solidFill>
            <a:srgbClr val="B05A2B"/>
          </a:solidFill>
          <a:ln/>
        </p:spPr>
      </p:sp>
      <p:sp>
        <p:nvSpPr>
          <p:cNvPr id="11" name="Text 8"/>
          <p:cNvSpPr/>
          <p:nvPr/>
        </p:nvSpPr>
        <p:spPr>
          <a:xfrm>
            <a:off x="1188720" y="3520440"/>
            <a:ext cx="4357116" cy="594360"/>
          </a:xfrm>
          <a:prstGeom prst="rect">
            <a:avLst/>
          </a:prstGeom>
          <a:noFill/>
          <a:ln/>
        </p:spPr>
        <p:txBody>
          <a:bodyPr wrap="square" lIns="0" tIns="0" rIns="0" bIns="0" rtlCol="0" anchor="ctr"/>
          <a:lstStyle/>
          <a:p>
            <a:pPr indent="0" marL="0">
              <a:lnSpc>
                <a:spcPct val="120000"/>
              </a:lnSpc>
              <a:buNone/>
            </a:pPr>
            <a:r>
              <a:rPr lang="en-US" sz="1200" dirty="0">
                <a:solidFill>
                  <a:srgbClr val="1C2530"/>
                </a:solidFill>
                <a:latin typeface="Calibri" pitchFamily="34" charset="0"/>
                <a:ea typeface="Calibri" pitchFamily="34" charset="-122"/>
                <a:cs typeface="Calibri" pitchFamily="34" charset="-120"/>
              </a:rPr>
              <a:t>Độ trễ tăng khi dùng Cross-Encoder rerank với corpus lớn</a:t>
            </a:r>
            <a:endParaRPr lang="en-US" sz="1200" dirty="0"/>
          </a:p>
        </p:txBody>
      </p:sp>
      <p:sp>
        <p:nvSpPr>
          <p:cNvPr id="12" name="Shape 9"/>
          <p:cNvSpPr/>
          <p:nvPr/>
        </p:nvSpPr>
        <p:spPr>
          <a:xfrm>
            <a:off x="914400" y="4334256"/>
            <a:ext cx="109728" cy="109728"/>
          </a:xfrm>
          <a:prstGeom prst="ellipse">
            <a:avLst/>
          </a:prstGeom>
          <a:solidFill>
            <a:srgbClr val="B05A2B"/>
          </a:solidFill>
          <a:ln/>
        </p:spPr>
      </p:sp>
      <p:sp>
        <p:nvSpPr>
          <p:cNvPr id="13" name="Text 10"/>
          <p:cNvSpPr/>
          <p:nvPr/>
        </p:nvSpPr>
        <p:spPr>
          <a:xfrm>
            <a:off x="1188720" y="4178808"/>
            <a:ext cx="4357116" cy="594360"/>
          </a:xfrm>
          <a:prstGeom prst="rect">
            <a:avLst/>
          </a:prstGeom>
          <a:noFill/>
          <a:ln/>
        </p:spPr>
        <p:txBody>
          <a:bodyPr wrap="square" lIns="0" tIns="0" rIns="0" bIns="0" rtlCol="0" anchor="ctr"/>
          <a:lstStyle/>
          <a:p>
            <a:pPr indent="0" marL="0">
              <a:lnSpc>
                <a:spcPct val="120000"/>
              </a:lnSpc>
              <a:buNone/>
            </a:pPr>
            <a:r>
              <a:rPr lang="en-US" sz="1200" dirty="0">
                <a:solidFill>
                  <a:srgbClr val="1C2530"/>
                </a:solidFill>
                <a:latin typeface="Calibri" pitchFamily="34" charset="0"/>
                <a:ea typeface="Calibri" pitchFamily="34" charset="-122"/>
                <a:cs typeface="Calibri" pitchFamily="34" charset="-120"/>
              </a:rPr>
              <a:t>Chưa có cơ chế đánh giá tự động chất lượng câu trả lời (RAG eval)</a:t>
            </a:r>
            <a:endParaRPr lang="en-US" sz="1200" dirty="0"/>
          </a:p>
        </p:txBody>
      </p:sp>
      <p:sp>
        <p:nvSpPr>
          <p:cNvPr id="14" name="Shape 11"/>
          <p:cNvSpPr/>
          <p:nvPr/>
        </p:nvSpPr>
        <p:spPr>
          <a:xfrm>
            <a:off x="914400" y="4992624"/>
            <a:ext cx="109728" cy="109728"/>
          </a:xfrm>
          <a:prstGeom prst="ellipse">
            <a:avLst/>
          </a:prstGeom>
          <a:solidFill>
            <a:srgbClr val="B05A2B"/>
          </a:solidFill>
          <a:ln/>
        </p:spPr>
      </p:sp>
      <p:sp>
        <p:nvSpPr>
          <p:cNvPr id="15" name="Text 12"/>
          <p:cNvSpPr/>
          <p:nvPr/>
        </p:nvSpPr>
        <p:spPr>
          <a:xfrm>
            <a:off x="1188720" y="4837176"/>
            <a:ext cx="4357116" cy="594360"/>
          </a:xfrm>
          <a:prstGeom prst="rect">
            <a:avLst/>
          </a:prstGeom>
          <a:noFill/>
          <a:ln/>
        </p:spPr>
        <p:txBody>
          <a:bodyPr wrap="square" lIns="0" tIns="0" rIns="0" bIns="0" rtlCol="0" anchor="ctr"/>
          <a:lstStyle/>
          <a:p>
            <a:pPr indent="0" marL="0">
              <a:lnSpc>
                <a:spcPct val="120000"/>
              </a:lnSpc>
              <a:buNone/>
            </a:pPr>
            <a:r>
              <a:rPr lang="en-US" sz="1200" dirty="0">
                <a:solidFill>
                  <a:srgbClr val="1C2530"/>
                </a:solidFill>
                <a:latin typeface="Calibri" pitchFamily="34" charset="0"/>
                <a:ea typeface="Calibri" pitchFamily="34" charset="-122"/>
                <a:cs typeface="Calibri" pitchFamily="34" charset="-120"/>
              </a:rPr>
              <a:t>Phụ thuộc chất lượng OCR khi xử lý PDF dạng ảnh/scan</a:t>
            </a:r>
            <a:endParaRPr lang="en-US" sz="1200" dirty="0"/>
          </a:p>
        </p:txBody>
      </p:sp>
      <p:sp>
        <p:nvSpPr>
          <p:cNvPr id="16" name="Shape 13"/>
          <p:cNvSpPr/>
          <p:nvPr/>
        </p:nvSpPr>
        <p:spPr>
          <a:xfrm>
            <a:off x="6323076" y="1737360"/>
            <a:ext cx="5317236" cy="4023360"/>
          </a:xfrm>
          <a:prstGeom prst="roundRect">
            <a:avLst>
              <a:gd name="adj" fmla="val 1818"/>
            </a:avLst>
          </a:prstGeom>
          <a:solidFill>
            <a:srgbClr val="EAF0F5"/>
          </a:solidFill>
          <a:ln/>
          <a:effectLst>
            <a:outerShdw sx="100000" sy="100000" kx="0" ky="0" algn="bl" rotWithShape="0" blurRad="88900" dist="25400" dir="5400000">
              <a:srgbClr val="1F3A5F">
                <a:alpha val="10000"/>
              </a:srgbClr>
            </a:outerShdw>
          </a:effectLst>
        </p:spPr>
      </p:sp>
      <p:sp>
        <p:nvSpPr>
          <p:cNvPr id="17" name="Shape 14"/>
          <p:cNvSpPr/>
          <p:nvPr/>
        </p:nvSpPr>
        <p:spPr>
          <a:xfrm>
            <a:off x="6688836" y="2103120"/>
            <a:ext cx="594360" cy="594360"/>
          </a:xfrm>
          <a:prstGeom prst="ellipse">
            <a:avLst/>
          </a:prstGeom>
          <a:solidFill>
            <a:srgbClr val="FFFFFF"/>
          </a:solidFill>
          <a:ln/>
        </p:spPr>
      </p:sp>
      <p:pic>
        <p:nvPicPr>
          <p:cNvPr id="18" name="Image 1" descr="/home/claude/insightai/assets/rocket_primary.png">    </p:cNvPr>
          <p:cNvPicPr>
            <a:picLocks noChangeAspect="1"/>
          </p:cNvPicPr>
          <p:nvPr/>
        </p:nvPicPr>
        <p:blipFill>
          <a:blip r:embed="rId2"/>
          <a:stretch>
            <a:fillRect/>
          </a:stretch>
        </p:blipFill>
        <p:spPr>
          <a:xfrm>
            <a:off x="6772046" y="2186330"/>
            <a:ext cx="427939" cy="427939"/>
          </a:xfrm>
          <a:prstGeom prst="rect">
            <a:avLst/>
          </a:prstGeom>
        </p:spPr>
      </p:pic>
      <p:sp>
        <p:nvSpPr>
          <p:cNvPr id="19" name="Text 15"/>
          <p:cNvSpPr/>
          <p:nvPr/>
        </p:nvSpPr>
        <p:spPr>
          <a:xfrm>
            <a:off x="7420356" y="2148840"/>
            <a:ext cx="3945636" cy="502920"/>
          </a:xfrm>
          <a:prstGeom prst="rect">
            <a:avLst/>
          </a:prstGeom>
          <a:noFill/>
          <a:ln/>
        </p:spPr>
        <p:txBody>
          <a:bodyPr wrap="square" lIns="0" tIns="0" rIns="0" bIns="0" rtlCol="0" anchor="ctr"/>
          <a:lstStyle/>
          <a:p>
            <a:pPr indent="0" marL="0">
              <a:buNone/>
            </a:pPr>
            <a:r>
              <a:rPr lang="en-US" sz="1700" b="1" dirty="0">
                <a:solidFill>
                  <a:srgbClr val="1F3A5F"/>
                </a:solidFill>
                <a:latin typeface="Cambria" pitchFamily="34" charset="0"/>
                <a:ea typeface="Cambria" pitchFamily="34" charset="-122"/>
                <a:cs typeface="Cambria" pitchFamily="34" charset="-120"/>
              </a:rPr>
              <a:t>Hướng phát triển</a:t>
            </a:r>
            <a:endParaRPr lang="en-US" sz="1700" dirty="0"/>
          </a:p>
        </p:txBody>
      </p:sp>
      <p:sp>
        <p:nvSpPr>
          <p:cNvPr id="20" name="Shape 16"/>
          <p:cNvSpPr/>
          <p:nvPr/>
        </p:nvSpPr>
        <p:spPr>
          <a:xfrm>
            <a:off x="6688836" y="3017520"/>
            <a:ext cx="109728" cy="109728"/>
          </a:xfrm>
          <a:prstGeom prst="ellipse">
            <a:avLst/>
          </a:prstGeom>
          <a:solidFill>
            <a:srgbClr val="1F3A5F"/>
          </a:solidFill>
          <a:ln/>
        </p:spPr>
      </p:sp>
      <p:sp>
        <p:nvSpPr>
          <p:cNvPr id="21" name="Text 17"/>
          <p:cNvSpPr/>
          <p:nvPr/>
        </p:nvSpPr>
        <p:spPr>
          <a:xfrm>
            <a:off x="6963156" y="2862072"/>
            <a:ext cx="4357116" cy="594360"/>
          </a:xfrm>
          <a:prstGeom prst="rect">
            <a:avLst/>
          </a:prstGeom>
          <a:noFill/>
          <a:ln/>
        </p:spPr>
        <p:txBody>
          <a:bodyPr wrap="square" lIns="0" tIns="0" rIns="0" bIns="0" rtlCol="0" anchor="ctr"/>
          <a:lstStyle/>
          <a:p>
            <a:pPr indent="0" marL="0">
              <a:lnSpc>
                <a:spcPct val="120000"/>
              </a:lnSpc>
              <a:buNone/>
            </a:pPr>
            <a:r>
              <a:rPr lang="en-US" sz="1200" dirty="0">
                <a:solidFill>
                  <a:srgbClr val="1C2530"/>
                </a:solidFill>
                <a:latin typeface="Calibri" pitchFamily="34" charset="0"/>
                <a:ea typeface="Calibri" pitchFamily="34" charset="-122"/>
                <a:cs typeface="Calibri" pitchFamily="34" charset="-120"/>
              </a:rPr>
              <a:t>Bổ sung Graph-RAG để suy luận liên kết giữa nhiều tài liệu</a:t>
            </a:r>
            <a:endParaRPr lang="en-US" sz="1200" dirty="0"/>
          </a:p>
        </p:txBody>
      </p:sp>
      <p:sp>
        <p:nvSpPr>
          <p:cNvPr id="22" name="Shape 18"/>
          <p:cNvSpPr/>
          <p:nvPr/>
        </p:nvSpPr>
        <p:spPr>
          <a:xfrm>
            <a:off x="6688836" y="3675888"/>
            <a:ext cx="109728" cy="109728"/>
          </a:xfrm>
          <a:prstGeom prst="ellipse">
            <a:avLst/>
          </a:prstGeom>
          <a:solidFill>
            <a:srgbClr val="1F3A5F"/>
          </a:solidFill>
          <a:ln/>
        </p:spPr>
      </p:sp>
      <p:sp>
        <p:nvSpPr>
          <p:cNvPr id="23" name="Text 19"/>
          <p:cNvSpPr/>
          <p:nvPr/>
        </p:nvSpPr>
        <p:spPr>
          <a:xfrm>
            <a:off x="6963156" y="3520440"/>
            <a:ext cx="4357116" cy="594360"/>
          </a:xfrm>
          <a:prstGeom prst="rect">
            <a:avLst/>
          </a:prstGeom>
          <a:noFill/>
          <a:ln/>
        </p:spPr>
        <p:txBody>
          <a:bodyPr wrap="square" lIns="0" tIns="0" rIns="0" bIns="0" rtlCol="0" anchor="ctr"/>
          <a:lstStyle/>
          <a:p>
            <a:pPr indent="0" marL="0">
              <a:lnSpc>
                <a:spcPct val="120000"/>
              </a:lnSpc>
              <a:buNone/>
            </a:pPr>
            <a:r>
              <a:rPr lang="en-US" sz="1200" dirty="0">
                <a:solidFill>
                  <a:srgbClr val="1C2530"/>
                </a:solidFill>
                <a:latin typeface="Calibri" pitchFamily="34" charset="0"/>
                <a:ea typeface="Calibri" pitchFamily="34" charset="-122"/>
                <a:cs typeface="Calibri" pitchFamily="34" charset="-120"/>
              </a:rPr>
              <a:t>Tích hợp đánh giá tự động (RAGAS) để đo lường độ chính xác</a:t>
            </a:r>
            <a:endParaRPr lang="en-US" sz="1200" dirty="0"/>
          </a:p>
        </p:txBody>
      </p:sp>
      <p:sp>
        <p:nvSpPr>
          <p:cNvPr id="24" name="Shape 20"/>
          <p:cNvSpPr/>
          <p:nvPr/>
        </p:nvSpPr>
        <p:spPr>
          <a:xfrm>
            <a:off x="6688836" y="4334256"/>
            <a:ext cx="109728" cy="109728"/>
          </a:xfrm>
          <a:prstGeom prst="ellipse">
            <a:avLst/>
          </a:prstGeom>
          <a:solidFill>
            <a:srgbClr val="1F3A5F"/>
          </a:solidFill>
          <a:ln/>
        </p:spPr>
      </p:sp>
      <p:sp>
        <p:nvSpPr>
          <p:cNvPr id="25" name="Text 21"/>
          <p:cNvSpPr/>
          <p:nvPr/>
        </p:nvSpPr>
        <p:spPr>
          <a:xfrm>
            <a:off x="6963156" y="4178808"/>
            <a:ext cx="4357116" cy="594360"/>
          </a:xfrm>
          <a:prstGeom prst="rect">
            <a:avLst/>
          </a:prstGeom>
          <a:noFill/>
          <a:ln/>
        </p:spPr>
        <p:txBody>
          <a:bodyPr wrap="square" lIns="0" tIns="0" rIns="0" bIns="0" rtlCol="0" anchor="ctr"/>
          <a:lstStyle/>
          <a:p>
            <a:pPr indent="0" marL="0">
              <a:lnSpc>
                <a:spcPct val="120000"/>
              </a:lnSpc>
              <a:buNone/>
            </a:pPr>
            <a:r>
              <a:rPr lang="en-US" sz="1200" dirty="0">
                <a:solidFill>
                  <a:srgbClr val="1C2530"/>
                </a:solidFill>
                <a:latin typeface="Calibri" pitchFamily="34" charset="0"/>
                <a:ea typeface="Calibri" pitchFamily="34" charset="-122"/>
                <a:cs typeface="Calibri" pitchFamily="34" charset="-120"/>
              </a:rPr>
              <a:t>Hỗ trợ giọng nói (voice input/output) cho trải nghiệm đa phương thức</a:t>
            </a:r>
            <a:endParaRPr lang="en-US" sz="1200" dirty="0"/>
          </a:p>
        </p:txBody>
      </p:sp>
      <p:sp>
        <p:nvSpPr>
          <p:cNvPr id="26" name="Shape 22"/>
          <p:cNvSpPr/>
          <p:nvPr/>
        </p:nvSpPr>
        <p:spPr>
          <a:xfrm>
            <a:off x="6688836" y="4992624"/>
            <a:ext cx="109728" cy="109728"/>
          </a:xfrm>
          <a:prstGeom prst="ellipse">
            <a:avLst/>
          </a:prstGeom>
          <a:solidFill>
            <a:srgbClr val="1F3A5F"/>
          </a:solidFill>
          <a:ln/>
        </p:spPr>
      </p:sp>
      <p:sp>
        <p:nvSpPr>
          <p:cNvPr id="27" name="Text 23"/>
          <p:cNvSpPr/>
          <p:nvPr/>
        </p:nvSpPr>
        <p:spPr>
          <a:xfrm>
            <a:off x="6963156" y="4837176"/>
            <a:ext cx="4357116" cy="594360"/>
          </a:xfrm>
          <a:prstGeom prst="rect">
            <a:avLst/>
          </a:prstGeom>
          <a:noFill/>
          <a:ln/>
        </p:spPr>
        <p:txBody>
          <a:bodyPr wrap="square" lIns="0" tIns="0" rIns="0" bIns="0" rtlCol="0" anchor="ctr"/>
          <a:lstStyle/>
          <a:p>
            <a:pPr indent="0" marL="0">
              <a:lnSpc>
                <a:spcPct val="120000"/>
              </a:lnSpc>
              <a:buNone/>
            </a:pPr>
            <a:r>
              <a:rPr lang="en-US" sz="1200" dirty="0">
                <a:solidFill>
                  <a:srgbClr val="1C2530"/>
                </a:solidFill>
                <a:latin typeface="Calibri" pitchFamily="34" charset="0"/>
                <a:ea typeface="Calibri" pitchFamily="34" charset="-122"/>
                <a:cs typeface="Calibri" pitchFamily="34" charset="-120"/>
              </a:rPr>
              <a:t>Tối ưu tốc độ rerank bằng caching và mô hình nhẹ hơn</a:t>
            </a:r>
            <a:endParaRPr lang="en-US" sz="1200" dirty="0"/>
          </a:p>
        </p:txBody>
      </p:sp>
      <p:sp>
        <p:nvSpPr>
          <p:cNvPr id="28" name="Text 24"/>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12</a:t>
            </a:r>
            <a:endParaRPr lang="en-US" sz="1000" dirty="0"/>
          </a:p>
        </p:txBody>
      </p:sp>
      <p:sp>
        <p:nvSpPr>
          <p:cNvPr id="29" name="Text 25"/>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InsightAI</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1828800" y="4663440"/>
            <a:ext cx="4023360" cy="4023360"/>
          </a:xfrm>
          <a:prstGeom prst="ellipse">
            <a:avLst/>
          </a:prstGeom>
          <a:solidFill>
            <a:srgbClr val="162940"/>
          </a:solidFill>
          <a:ln/>
        </p:spPr>
      </p:sp>
      <p:sp>
        <p:nvSpPr>
          <p:cNvPr id="3" name="Text 1"/>
          <p:cNvSpPr/>
          <p:nvPr/>
        </p:nvSpPr>
        <p:spPr>
          <a:xfrm>
            <a:off x="548640" y="548640"/>
            <a:ext cx="7315200" cy="320040"/>
          </a:xfrm>
          <a:prstGeom prst="rect">
            <a:avLst/>
          </a:prstGeom>
          <a:noFill/>
          <a:ln/>
        </p:spPr>
        <p:txBody>
          <a:bodyPr wrap="square" lIns="0" tIns="0" rIns="0" bIns="0" rtlCol="0" anchor="ctr"/>
          <a:lstStyle/>
          <a:p>
            <a:pPr algn="l" indent="0" marL="0">
              <a:buNone/>
            </a:pPr>
            <a:r>
              <a:rPr lang="en-US" sz="1200" b="1" spc="200" kern="0" dirty="0">
                <a:solidFill>
                  <a:srgbClr val="2E6F95"/>
                </a:solidFill>
                <a:latin typeface="Calibri" pitchFamily="34" charset="0"/>
                <a:ea typeface="Calibri" pitchFamily="34" charset="-122"/>
                <a:cs typeface="Calibri" pitchFamily="34" charset="-120"/>
              </a:rPr>
              <a:t>12 — KẾT LUẬN</a:t>
            </a:r>
            <a:endParaRPr lang="en-US" sz="1200" dirty="0"/>
          </a:p>
        </p:txBody>
      </p:sp>
      <p:sp>
        <p:nvSpPr>
          <p:cNvPr id="4" name="Text 2"/>
          <p:cNvSpPr/>
          <p:nvPr/>
        </p:nvSpPr>
        <p:spPr>
          <a:xfrm>
            <a:off x="548640" y="914400"/>
            <a:ext cx="73152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Kết luận</a:t>
            </a:r>
            <a:endParaRPr lang="en-US" sz="3400" dirty="0"/>
          </a:p>
        </p:txBody>
      </p:sp>
      <p:sp>
        <p:nvSpPr>
          <p:cNvPr id="5" name="Shape 3"/>
          <p:cNvSpPr/>
          <p:nvPr/>
        </p:nvSpPr>
        <p:spPr>
          <a:xfrm>
            <a:off x="548640" y="1965960"/>
            <a:ext cx="457200" cy="457200"/>
          </a:xfrm>
          <a:prstGeom prst="ellipse">
            <a:avLst/>
          </a:prstGeom>
          <a:solidFill>
            <a:srgbClr val="2C4D70"/>
          </a:solidFill>
          <a:ln/>
        </p:spPr>
      </p:sp>
      <p:pic>
        <p:nvPicPr>
          <p:cNvPr id="6" name="Image 0" descr="/home/claude/insightai/assets/check_white.png">    </p:cNvPr>
          <p:cNvPicPr>
            <a:picLocks noChangeAspect="1"/>
          </p:cNvPicPr>
          <p:nvPr/>
        </p:nvPicPr>
        <p:blipFill>
          <a:blip r:embed="rId1"/>
          <a:stretch>
            <a:fillRect/>
          </a:stretch>
        </p:blipFill>
        <p:spPr>
          <a:xfrm>
            <a:off x="658368" y="2075688"/>
            <a:ext cx="237744" cy="237744"/>
          </a:xfrm>
          <a:prstGeom prst="rect">
            <a:avLst/>
          </a:prstGeom>
        </p:spPr>
      </p:pic>
      <p:sp>
        <p:nvSpPr>
          <p:cNvPr id="7" name="Text 4"/>
          <p:cNvSpPr/>
          <p:nvPr/>
        </p:nvSpPr>
        <p:spPr>
          <a:xfrm>
            <a:off x="1234440" y="1911096"/>
            <a:ext cx="9875520" cy="566928"/>
          </a:xfrm>
          <a:prstGeom prst="rect">
            <a:avLst/>
          </a:prstGeom>
          <a:noFill/>
          <a:ln/>
        </p:spPr>
        <p:txBody>
          <a:bodyPr wrap="square" lIns="0" tIns="0" rIns="0" bIns="0" rtlCol="0" anchor="ctr"/>
          <a:lstStyle/>
          <a:p>
            <a:pPr indent="0" marL="0">
              <a:lnSpc>
                <a:spcPct val="115000"/>
              </a:lnSpc>
              <a:buNone/>
            </a:pPr>
            <a:r>
              <a:rPr lang="en-US" sz="1450" dirty="0">
                <a:solidFill>
                  <a:srgbClr val="E4EBF1"/>
                </a:solidFill>
                <a:latin typeface="Calibri" pitchFamily="34" charset="0"/>
                <a:ea typeface="Calibri" pitchFamily="34" charset="-122"/>
                <a:cs typeface="Calibri" pitchFamily="34" charset="-120"/>
              </a:rPr>
              <a:t>Xây dựng thành công chatbot RAG lai full-stack, xử lý đa định dạng tài liệu.</a:t>
            </a:r>
            <a:endParaRPr lang="en-US" sz="1450" dirty="0"/>
          </a:p>
        </p:txBody>
      </p:sp>
      <p:sp>
        <p:nvSpPr>
          <p:cNvPr id="8" name="Shape 5"/>
          <p:cNvSpPr/>
          <p:nvPr/>
        </p:nvSpPr>
        <p:spPr>
          <a:xfrm>
            <a:off x="548640" y="2807208"/>
            <a:ext cx="457200" cy="457200"/>
          </a:xfrm>
          <a:prstGeom prst="ellipse">
            <a:avLst/>
          </a:prstGeom>
          <a:solidFill>
            <a:srgbClr val="2C4D70"/>
          </a:solidFill>
          <a:ln/>
        </p:spPr>
      </p:sp>
      <p:pic>
        <p:nvPicPr>
          <p:cNvPr id="9" name="Image 1" descr="/home/claude/insightai/assets/check_white.png">    </p:cNvPr>
          <p:cNvPicPr>
            <a:picLocks noChangeAspect="1"/>
          </p:cNvPicPr>
          <p:nvPr/>
        </p:nvPicPr>
        <p:blipFill>
          <a:blip r:embed="rId2"/>
          <a:stretch>
            <a:fillRect/>
          </a:stretch>
        </p:blipFill>
        <p:spPr>
          <a:xfrm>
            <a:off x="658368" y="2916936"/>
            <a:ext cx="237744" cy="237744"/>
          </a:xfrm>
          <a:prstGeom prst="rect">
            <a:avLst/>
          </a:prstGeom>
        </p:spPr>
      </p:pic>
      <p:sp>
        <p:nvSpPr>
          <p:cNvPr id="10" name="Text 6"/>
          <p:cNvSpPr/>
          <p:nvPr/>
        </p:nvSpPr>
        <p:spPr>
          <a:xfrm>
            <a:off x="1234440" y="2752344"/>
            <a:ext cx="9875520" cy="566928"/>
          </a:xfrm>
          <a:prstGeom prst="rect">
            <a:avLst/>
          </a:prstGeom>
          <a:noFill/>
          <a:ln/>
        </p:spPr>
        <p:txBody>
          <a:bodyPr wrap="square" lIns="0" tIns="0" rIns="0" bIns="0" rtlCol="0" anchor="ctr"/>
          <a:lstStyle/>
          <a:p>
            <a:pPr indent="0" marL="0">
              <a:lnSpc>
                <a:spcPct val="115000"/>
              </a:lnSpc>
              <a:buNone/>
            </a:pPr>
            <a:r>
              <a:rPr lang="en-US" sz="1450" dirty="0">
                <a:solidFill>
                  <a:srgbClr val="E4EBF1"/>
                </a:solidFill>
                <a:latin typeface="Calibri" pitchFamily="34" charset="0"/>
                <a:ea typeface="Calibri" pitchFamily="34" charset="-122"/>
                <a:cs typeface="Calibri" pitchFamily="34" charset="-120"/>
              </a:rPr>
              <a:t>Kết hợp truy xuất từ khoá, ngữ nghĩa và rerank — cân bằng độ chính xác &amp; ngữ cảnh.</a:t>
            </a:r>
            <a:endParaRPr lang="en-US" sz="1450" dirty="0"/>
          </a:p>
        </p:txBody>
      </p:sp>
      <p:sp>
        <p:nvSpPr>
          <p:cNvPr id="11" name="Shape 7"/>
          <p:cNvSpPr/>
          <p:nvPr/>
        </p:nvSpPr>
        <p:spPr>
          <a:xfrm>
            <a:off x="548640" y="3648456"/>
            <a:ext cx="457200" cy="457200"/>
          </a:xfrm>
          <a:prstGeom prst="ellipse">
            <a:avLst/>
          </a:prstGeom>
          <a:solidFill>
            <a:srgbClr val="2C4D70"/>
          </a:solidFill>
          <a:ln/>
        </p:spPr>
      </p:sp>
      <p:pic>
        <p:nvPicPr>
          <p:cNvPr id="12" name="Image 2" descr="/home/claude/insightai/assets/check_white.png">    </p:cNvPr>
          <p:cNvPicPr>
            <a:picLocks noChangeAspect="1"/>
          </p:cNvPicPr>
          <p:nvPr/>
        </p:nvPicPr>
        <p:blipFill>
          <a:blip r:embed="rId3"/>
          <a:stretch>
            <a:fillRect/>
          </a:stretch>
        </p:blipFill>
        <p:spPr>
          <a:xfrm>
            <a:off x="658368" y="3758184"/>
            <a:ext cx="237744" cy="237744"/>
          </a:xfrm>
          <a:prstGeom prst="rect">
            <a:avLst/>
          </a:prstGeom>
        </p:spPr>
      </p:pic>
      <p:sp>
        <p:nvSpPr>
          <p:cNvPr id="13" name="Text 8"/>
          <p:cNvSpPr/>
          <p:nvPr/>
        </p:nvSpPr>
        <p:spPr>
          <a:xfrm>
            <a:off x="1234440" y="3593592"/>
            <a:ext cx="9875520" cy="566928"/>
          </a:xfrm>
          <a:prstGeom prst="rect">
            <a:avLst/>
          </a:prstGeom>
          <a:noFill/>
          <a:ln/>
        </p:spPr>
        <p:txBody>
          <a:bodyPr wrap="square" lIns="0" tIns="0" rIns="0" bIns="0" rtlCol="0" anchor="ctr"/>
          <a:lstStyle/>
          <a:p>
            <a:pPr indent="0" marL="0">
              <a:lnSpc>
                <a:spcPct val="115000"/>
              </a:lnSpc>
              <a:buNone/>
            </a:pPr>
            <a:r>
              <a:rPr lang="en-US" sz="1450" dirty="0">
                <a:solidFill>
                  <a:srgbClr val="E4EBF1"/>
                </a:solidFill>
                <a:latin typeface="Calibri" pitchFamily="34" charset="0"/>
                <a:ea typeface="Calibri" pitchFamily="34" charset="-122"/>
                <a:cs typeface="Calibri" pitchFamily="34" charset="-120"/>
              </a:rPr>
              <a:t>Định tuyến động Fact/Summary giúp tối ưu chất lượng theo từng loại câu hỏi.</a:t>
            </a:r>
            <a:endParaRPr lang="en-US" sz="1450" dirty="0"/>
          </a:p>
        </p:txBody>
      </p:sp>
      <p:sp>
        <p:nvSpPr>
          <p:cNvPr id="14" name="Shape 9"/>
          <p:cNvSpPr/>
          <p:nvPr/>
        </p:nvSpPr>
        <p:spPr>
          <a:xfrm>
            <a:off x="548640" y="4489704"/>
            <a:ext cx="457200" cy="457200"/>
          </a:xfrm>
          <a:prstGeom prst="ellipse">
            <a:avLst/>
          </a:prstGeom>
          <a:solidFill>
            <a:srgbClr val="2C4D70"/>
          </a:solidFill>
          <a:ln/>
        </p:spPr>
      </p:sp>
      <p:pic>
        <p:nvPicPr>
          <p:cNvPr id="15" name="Image 3" descr="/home/claude/insightai/assets/check_white.png">    </p:cNvPr>
          <p:cNvPicPr>
            <a:picLocks noChangeAspect="1"/>
          </p:cNvPicPr>
          <p:nvPr/>
        </p:nvPicPr>
        <p:blipFill>
          <a:blip r:embed="rId4"/>
          <a:stretch>
            <a:fillRect/>
          </a:stretch>
        </p:blipFill>
        <p:spPr>
          <a:xfrm>
            <a:off x="658368" y="4599432"/>
            <a:ext cx="237744" cy="237744"/>
          </a:xfrm>
          <a:prstGeom prst="rect">
            <a:avLst/>
          </a:prstGeom>
        </p:spPr>
      </p:pic>
      <p:sp>
        <p:nvSpPr>
          <p:cNvPr id="16" name="Text 10"/>
          <p:cNvSpPr/>
          <p:nvPr/>
        </p:nvSpPr>
        <p:spPr>
          <a:xfrm>
            <a:off x="1234440" y="4434840"/>
            <a:ext cx="9875520" cy="566928"/>
          </a:xfrm>
          <a:prstGeom prst="rect">
            <a:avLst/>
          </a:prstGeom>
          <a:noFill/>
          <a:ln/>
        </p:spPr>
        <p:txBody>
          <a:bodyPr wrap="square" lIns="0" tIns="0" rIns="0" bIns="0" rtlCol="0" anchor="ctr"/>
          <a:lstStyle/>
          <a:p>
            <a:pPr indent="0" marL="0">
              <a:lnSpc>
                <a:spcPct val="115000"/>
              </a:lnSpc>
              <a:buNone/>
            </a:pPr>
            <a:r>
              <a:rPr lang="en-US" sz="1450" dirty="0">
                <a:solidFill>
                  <a:srgbClr val="E4EBF1"/>
                </a:solidFill>
                <a:latin typeface="Calibri" pitchFamily="34" charset="0"/>
                <a:ea typeface="Calibri" pitchFamily="34" charset="-122"/>
                <a:cs typeface="Calibri" pitchFamily="34" charset="-120"/>
              </a:rPr>
              <a:t>Nền tảng vững chắc để mở rộng theo hướng Graph-RAG và đánh giá tự động.</a:t>
            </a:r>
            <a:endParaRPr lang="en-US" sz="1450" dirty="0"/>
          </a:p>
        </p:txBody>
      </p:sp>
      <p:sp>
        <p:nvSpPr>
          <p:cNvPr id="17" name="Text 11"/>
          <p:cNvSpPr/>
          <p:nvPr/>
        </p:nvSpPr>
        <p:spPr>
          <a:xfrm>
            <a:off x="8897112" y="6263640"/>
            <a:ext cx="2743200" cy="320040"/>
          </a:xfrm>
          <a:prstGeom prst="rect">
            <a:avLst/>
          </a:prstGeom>
          <a:noFill/>
          <a:ln/>
        </p:spPr>
        <p:txBody>
          <a:bodyPr wrap="square" lIns="0" tIns="0" rIns="0" bIns="0" rtlCol="0" anchor="ctr"/>
          <a:lstStyle/>
          <a:p>
            <a:pPr algn="r" indent="0" marL="0">
              <a:buNone/>
            </a:pPr>
            <a:r>
              <a:rPr lang="en-US" sz="1400" b="1" dirty="0">
                <a:solidFill>
                  <a:srgbClr val="6F90AE"/>
                </a:solidFill>
                <a:latin typeface="Cambria" pitchFamily="34" charset="0"/>
                <a:ea typeface="Cambria" pitchFamily="34" charset="-122"/>
                <a:cs typeface="Cambria" pitchFamily="34" charset="-120"/>
              </a:rPr>
              <a:t>InsightAI</a:t>
            </a:r>
            <a:endParaRPr lang="en-US" sz="1400" dirty="0"/>
          </a:p>
        </p:txBody>
      </p:sp>
      <p:sp>
        <p:nvSpPr>
          <p:cNvPr id="18" name="Text 1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351276" y="914400"/>
            <a:ext cx="5486400" cy="5486400"/>
          </a:xfrm>
          <a:prstGeom prst="ellipse">
            <a:avLst/>
          </a:prstGeom>
          <a:solidFill>
            <a:srgbClr val="EAF0F5"/>
          </a:solidFill>
          <a:ln/>
        </p:spPr>
      </p:sp>
      <p:sp>
        <p:nvSpPr>
          <p:cNvPr id="3" name="Shape 1"/>
          <p:cNvSpPr/>
          <p:nvPr/>
        </p:nvSpPr>
        <p:spPr>
          <a:xfrm>
            <a:off x="5545836" y="1417320"/>
            <a:ext cx="1097280" cy="1097280"/>
          </a:xfrm>
          <a:prstGeom prst="ellipse">
            <a:avLst/>
          </a:prstGeom>
          <a:solidFill>
            <a:srgbClr val="FFFFFF"/>
          </a:solidFill>
          <a:ln/>
        </p:spPr>
      </p:sp>
      <p:pic>
        <p:nvPicPr>
          <p:cNvPr id="4" name="Image 0" descr="/home/claude/insightai/assets/question_primary.png">    </p:cNvPr>
          <p:cNvPicPr>
            <a:picLocks noChangeAspect="1"/>
          </p:cNvPicPr>
          <p:nvPr/>
        </p:nvPicPr>
        <p:blipFill>
          <a:blip r:embed="rId1"/>
          <a:stretch>
            <a:fillRect/>
          </a:stretch>
        </p:blipFill>
        <p:spPr>
          <a:xfrm>
            <a:off x="5732374" y="1603858"/>
            <a:ext cx="724205" cy="724205"/>
          </a:xfrm>
          <a:prstGeom prst="rect">
            <a:avLst/>
          </a:prstGeom>
        </p:spPr>
      </p:pic>
      <p:sp>
        <p:nvSpPr>
          <p:cNvPr id="5" name="Text 2"/>
          <p:cNvSpPr/>
          <p:nvPr/>
        </p:nvSpPr>
        <p:spPr>
          <a:xfrm>
            <a:off x="0" y="2743200"/>
            <a:ext cx="12188952" cy="822960"/>
          </a:xfrm>
          <a:prstGeom prst="rect">
            <a:avLst/>
          </a:prstGeom>
          <a:noFill/>
          <a:ln/>
        </p:spPr>
        <p:txBody>
          <a:bodyPr wrap="square" lIns="0" tIns="0" rIns="0" bIns="0" rtlCol="0" anchor="ctr"/>
          <a:lstStyle/>
          <a:p>
            <a:pPr algn="ctr" indent="0" marL="0">
              <a:buNone/>
            </a:pPr>
            <a:r>
              <a:rPr lang="en-US" sz="4000" b="1" dirty="0">
                <a:solidFill>
                  <a:srgbClr val="1F3A5F"/>
                </a:solidFill>
                <a:latin typeface="Cambria" pitchFamily="34" charset="0"/>
                <a:ea typeface="Cambria" pitchFamily="34" charset="-122"/>
                <a:cs typeface="Cambria" pitchFamily="34" charset="-120"/>
              </a:rPr>
              <a:t>Hỏi &amp; Đáp</a:t>
            </a:r>
            <a:endParaRPr lang="en-US" sz="4000" dirty="0"/>
          </a:p>
        </p:txBody>
      </p:sp>
      <p:sp>
        <p:nvSpPr>
          <p:cNvPr id="6" name="Text 3"/>
          <p:cNvSpPr/>
          <p:nvPr/>
        </p:nvSpPr>
        <p:spPr>
          <a:xfrm>
            <a:off x="0" y="3520440"/>
            <a:ext cx="12188952" cy="4572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Cảm ơn thầy/cô và các bạn đã theo dõi</a:t>
            </a:r>
            <a:endParaRPr lang="en-US" sz="1600" dirty="0"/>
          </a:p>
        </p:txBody>
      </p:sp>
      <p:sp>
        <p:nvSpPr>
          <p:cNvPr id="7" name="Text 4"/>
          <p:cNvSpPr/>
          <p:nvPr/>
        </p:nvSpPr>
        <p:spPr>
          <a:xfrm>
            <a:off x="0" y="5989320"/>
            <a:ext cx="12188952" cy="640080"/>
          </a:xfrm>
          <a:prstGeom prst="rect">
            <a:avLst/>
          </a:prstGeom>
          <a:noFill/>
          <a:ln/>
        </p:spPr>
        <p:txBody>
          <a:bodyPr wrap="square" lIns="0" tIns="0" rIns="0" bIns="0" rtlCol="0" anchor="ctr"/>
          <a:lstStyle/>
          <a:p>
            <a:pPr algn="ctr" indent="0" marL="0">
              <a:lnSpc>
                <a:spcPct val="130000"/>
              </a:lnSpc>
              <a:buNone/>
            </a:pPr>
            <a:r>
              <a:rPr lang="en-US" sz="1300" b="1" dirty="0">
                <a:solidFill>
                  <a:srgbClr val="1F3A5F"/>
                </a:solidFill>
                <a:latin typeface="Calibri" pitchFamily="34" charset="0"/>
                <a:ea typeface="Calibri" pitchFamily="34" charset="-122"/>
                <a:cs typeface="Calibri" pitchFamily="34" charset="-120"/>
              </a:rPr>
              <a:t>Trần Chí Vũ</a:t>
            </a:r>
            <a:endParaRPr lang="en-US" sz="1300" dirty="0"/>
          </a:p>
          <a:p>
            <a:pPr algn="ctr" indent="0" marL="0">
              <a:lnSpc>
                <a:spcPct val="130000"/>
              </a:lnSpc>
              <a:buNone/>
            </a:pPr>
            <a:r>
              <a:rPr lang="en-US" sz="1300" dirty="0">
                <a:solidFill>
                  <a:srgbClr val="5B6B7C"/>
                </a:solidFill>
                <a:latin typeface="Calibri" pitchFamily="34" charset="0"/>
                <a:ea typeface="Calibri" pitchFamily="34" charset="-122"/>
                <a:cs typeface="Calibri" pitchFamily="34" charset="-120"/>
              </a:rPr>
              <a:t>20236060 · CNTT Việt–Pháp K68</a:t>
            </a:r>
            <a:endParaRPr lang="en-US" sz="1300" dirty="0"/>
          </a:p>
        </p:txBody>
      </p:sp>
      <p:sp>
        <p:nvSpPr>
          <p:cNvPr id="8" name="Text 5"/>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InsightAI — Hybrid RAG Chatbot</dc:title>
  <dc:subject>PptxGenJS Presentation</dc:subject>
  <dc:creator>Trần Chí Vũ</dc:creator>
  <cp:lastModifiedBy>Trần Chí Vũ</cp:lastModifiedBy>
  <cp:revision>1</cp:revision>
  <dcterms:created xsi:type="dcterms:W3CDTF">2026-06-23T06:24:21Z</dcterms:created>
  <dcterms:modified xsi:type="dcterms:W3CDTF">2026-06-23T06:24:21Z</dcterms:modified>
</cp:coreProperties>
</file>